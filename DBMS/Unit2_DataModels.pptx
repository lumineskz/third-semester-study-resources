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6" r:id="rId50"/>
    <p:sldId id="304" r:id="rId51"/>
    <p:sldId id="305" r:id="rId52"/>
    <p:sldId id="307" r:id="rId53"/>
    <p:sldId id="308" r:id="rId54"/>
    <p:sldId id="309" r:id="rId55"/>
    <p:sldId id="310" r:id="rId56"/>
    <p:sldId id="311" r:id="rId57"/>
    <p:sldId id="312" r:id="rId58"/>
    <p:sldId id="313" r:id="rId59"/>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3D81CF-94F2-401A-BA57-92F5A7B2D0C5}">
  <a:tblStyle styleId="{793D81CF-94F2-401A-BA57-92F5A7B2D0C5}" styleName="Medium Style 1">
    <a:wholeTbl>
      <a:tcTxStyle>
        <a:fontRef idx="minor">
          <a:srgbClr val="000000"/>
        </a:fontRef>
        <a:schemeClr val="dk1"/>
      </a:tcTxStyle>
      <a:tcStyle>
        <a:tcBdr>
          <a:left>
            <a:ln w="12700">
              <a:solidFill>
                <a:schemeClr val="dk1"/>
              </a:solidFill>
            </a:ln>
          </a:left>
          <a:right>
            <a:ln w="12700">
              <a:solidFill>
                <a:schemeClr val="dk1"/>
              </a:solidFill>
            </a:ln>
          </a:right>
          <a:top>
            <a:ln w="12700">
              <a:solidFill>
                <a:schemeClr val="dk1"/>
              </a:solidFill>
            </a:ln>
          </a:top>
          <a:bottom>
            <a:ln w="12700">
              <a:solidFill>
                <a:schemeClr val="dk1"/>
              </a:solidFill>
            </a:ln>
          </a:bottom>
          <a:insideH>
            <a:ln w="12700">
              <a:solidFill>
                <a:schemeClr val="dk1"/>
              </a:solidFill>
            </a:ln>
          </a:insideH>
          <a:insideV>
            <a:ln w="12700">
              <a:noFill/>
            </a:ln>
          </a:insideV>
        </a:tcBdr>
        <a:fill>
          <a:solidFill>
            <a:schemeClr val="lt1"/>
          </a:solidFill>
        </a:fill>
      </a:tcStyle>
    </a:wholeTbl>
    <a:band1H>
      <a:tcStyle>
        <a:tcBdr/>
        <a:fill>
          <a:solidFill>
            <a:schemeClr val="dk1">
              <a:tint val="20000"/>
            </a:schemeClr>
          </a:solidFill>
        </a:fill>
      </a:tcStyle>
    </a:band1H>
    <a:band2H>
      <a:tcStyle>
        <a:tcBdr/>
      </a:tcStyle>
    </a:band2H>
    <a:band1V>
      <a:tcStyle>
        <a:tcBdr/>
        <a:fill>
          <a:solidFill>
            <a:schemeClr val="dk1">
              <a:tint val="20000"/>
            </a:schemeClr>
          </a:solidFill>
        </a:fill>
      </a:tcStyle>
    </a:band1V>
    <a:band2V>
      <a:tcStyle>
        <a:tcBdr/>
        <a:fill>
          <a:solidFill>
            <a:schemeClr val="dk1">
              <a:tint val="20000"/>
            </a:schemeClr>
          </a:solidFill>
        </a:fill>
      </a:tcStyle>
    </a:band2V>
    <a:lastCol>
      <a:tcStyle>
        <a:tcBdr/>
      </a:tcStyle>
    </a:lastCol>
    <a:firstCol>
      <a:tcStyle>
        <a:tcBdr/>
      </a:tcStyle>
    </a:firstCol>
    <a:lastRow>
      <a:tcStyle>
        <a:tcBdr>
          <a:top>
            <a:ln w="50800">
              <a:solidFill>
                <a:schemeClr val="dk1"/>
              </a:solidFill>
            </a:ln>
          </a:top>
        </a:tcBdr>
        <a:fill>
          <a:solidFill>
            <a:schemeClr val="lt1"/>
          </a:solidFill>
        </a:fill>
      </a:tcStyle>
    </a:lastRow>
    <a:seCell>
      <a:tcStyle>
        <a:tcBdr/>
      </a:tcStyle>
    </a:seCell>
    <a:swCell>
      <a:tcStyle>
        <a:tcBdr/>
      </a:tcStyle>
    </a:swCell>
    <a:firstRow>
      <a:tcTxStyle b="on">
        <a:fontRef idx="minor">
          <a:srgbClr val="000000"/>
        </a:fontRef>
        <a:schemeClr val="lt1"/>
      </a:tcTxStyle>
      <a:tcStyle>
        <a:tcBdr/>
        <a:fill>
          <a:solidFill>
            <a:schemeClr val="dk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CCDBED-275F-138F-6FA3-39556F696867}"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E1D1F7-8F77-9B95-6433-3470442BE81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1D5F1FC-0EA9-3670-E686-8390893ED47A}"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947BD6-53C1-34B2-6A1D-093CA7F2B8D8}"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DFA45B-A303-BC2F-7ADB-DE605115B36A}"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2648CB-292F-4EF7-3B2B-17B1AD635B2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365B11-F0A9-0C22-3009-7128E519242A}"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25B025-815D-E040-6292-C7098CD64314}"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59E643-107B-D6D3-7934-5377517DC70C}"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7EC575A-0794-5F28-EAA4-E2F6EB442836}"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0D4FC4C-D130-52F2-E70A-C5C23CA8B6A5}"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C2DCAA-C2A4-21FB-B502-47E0562D3A4F}"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534289-D882-3C3D-199E-7D72351B2DFD}"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630D86-C462-E499-91FC-D4B027ABD750}"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9DAB8C-88EA-89F5-0E4C-732EAB629AE5}"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0CA10E1-9E22-3310-7DD6-862DC5FE6657}"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4D914B-251A-8E87-F463-22B02635B2B7}"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BA7D51-ED6D-A4F3-65EE-B4DF9D225F0F}"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2221F70-8DA8-9143-1929-ECAA1F320041}"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ACB6B8D-C8ED-A44B-8346-6376EF40DB5B}"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CD0564-5F24-9364-D26D-3E107D2DEAC5}"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B979E39-1EA9-1328-086A-AB54FAAFD5D2}"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14607B8-D7BB-79E9-D75F-793694BB9E4C}"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C59FCB-8375-FD9F-FADE-82141C8AD743}"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5A469CD-EDBD-D50D-C762-49A78E48C3B0}"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DEDEBD-F285-7197-9828-9777F0CB6B61}"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030C6C3-A966-266D-F76A-990767F9623F}"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57CE09-68C8-26CE-A401-3EF2415D744C}"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6A11F3-839D-D65F-0613-6C65C06C6A84}"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D43753-D75C-5449-3D46-5B1B1566BC4E}" type="slidenum">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8CE476-EEA8-0DD4-8DAD-E0C7E5509A35}" type="slidenum">
              <a:rP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5B54330-53D4-D0A4-B452-663F650A1960}" type="slidenum">
              <a:r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FA1192-D215-AD1B-4FB5-DA00B5283E0F}" type="slidenum">
              <a:rP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C464EE-EE90-1417-73A3-0517F0949682}" type="slidenum">
              <a:rP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AE37151-6B5D-302B-C540-E562A01F05FF}" type="slidenum">
              <a:rP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84BC128-EAA6-2102-67B8-751BED44579E}" type="slidenum">
              <a:r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127B93E-CE22-ADB9-495E-8B2252F6F948}" type="slidenum">
              <a:rP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C0752F-36ED-F350-79C7-2D6418EF5BAB}" type="slidenum">
              <a:rP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94EC93B-5039-1566-834E-9D8527F7ECE3}" type="slidenum">
              <a:rP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81F230-438C-0B26-E25E-640179B811F9}" type="slidenum">
              <a:rP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2F375B7-EEE9-B20F-5A15-497E4F689E09}" type="slidenum">
              <a:rP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C90B605-3891-A036-7A81-490991B693EE}" type="slidenum">
              <a:rP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1EE27C-6F99-4637-F243-AA3814986DD2}" type="slidenum">
              <a:rP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DA0C11-6624-B208-5756-13C64AD5F964}" type="slidenum">
              <a:rP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2976ABC-0742-E614-C546-56B2E039756E}" type="slidenum">
              <a:rPr/>
              <a:t>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4" name="Date Placeholder 3"/>
          <p:cNvSpPr>
            <a:spLocks noGrp="1"/>
          </p:cNvSpPr>
          <p:nvPr>
            <p:ph type="dt" sz="half" idx="10"/>
          </p:nvPr>
        </p:nvSpPr>
        <p:spPr bwMode="auto"/>
        <p:txBody>
          <a:bodyPr/>
          <a:lstStyle/>
          <a:p>
            <a:pPr>
              <a:defRPr/>
            </a:pPr>
            <a:fld id="{0E8C4FDD-DE22-475B-B679-AF28E211E8D4}" type="datetime1">
              <a:rPr lang="en-US"/>
              <a:t>11/17/2025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F852ECBE-C365-4B34-9142-486C572C1595}" type="datetime1">
              <a:rPr lang="en-US"/>
              <a:t>11/17/2025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 name="Date Placeholder 4"/>
          <p:cNvSpPr>
            <a:spLocks noGrp="1"/>
          </p:cNvSpPr>
          <p:nvPr>
            <p:ph type="dt" sz="half" idx="10"/>
          </p:nvPr>
        </p:nvSpPr>
        <p:spPr bwMode="auto"/>
        <p:txBody>
          <a:bodyPr/>
          <a:lstStyle/>
          <a:p>
            <a:pPr>
              <a:defRPr/>
            </a:pPr>
            <a:fld id="{E731F704-C17D-48F6-86A1-AB522E8509AD}" type="datetime1">
              <a:rPr lang="en-US"/>
              <a:t>11/17/2025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 name="Date Placeholder 6"/>
          <p:cNvSpPr>
            <a:spLocks noGrp="1"/>
          </p:cNvSpPr>
          <p:nvPr>
            <p:ph type="dt" sz="half" idx="10"/>
          </p:nvPr>
        </p:nvSpPr>
        <p:spPr bwMode="auto"/>
        <p:txBody>
          <a:bodyPr/>
          <a:lstStyle/>
          <a:p>
            <a:pPr>
              <a:defRPr/>
            </a:pPr>
            <a:fld id="{A1C79CD5-3530-4AA3-993B-7C2D8011411E}" type="datetime1">
              <a:rPr lang="en-US"/>
              <a:t>11/17/2025</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Date Placeholder 2"/>
          <p:cNvSpPr>
            <a:spLocks noGrp="1"/>
          </p:cNvSpPr>
          <p:nvPr>
            <p:ph type="dt" sz="half" idx="10"/>
          </p:nvPr>
        </p:nvSpPr>
        <p:spPr bwMode="auto"/>
        <p:txBody>
          <a:bodyPr/>
          <a:lstStyle/>
          <a:p>
            <a:pPr>
              <a:defRPr/>
            </a:pPr>
            <a:fld id="{D3711ADC-0D09-4E8F-8133-98BD68FD2B4C}" type="datetime1">
              <a:rPr lang="en-US"/>
              <a:t>11/17/2025</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F1D74564-742C-4FA8-8BF9-8587B404E541}" type="datetime1">
              <a:rPr lang="en-US"/>
              <a:t>11/17/2025</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F56DE5B9-B2FC-4D77-BA2F-22F65242428C}" type="datetime1">
              <a:rPr lang="en-US"/>
              <a:t>11/17/2025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3"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086120F6-B784-44A0-929E-D2CE8FCB94D2}" type="datetime1">
              <a:rPr lang="en-US"/>
              <a:t>11/17/2025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8329E5FC-F5FF-4588-90B6-EC2ADAEB3EDB}" type="datetime1">
              <a:rPr lang="en-US"/>
              <a:t>11/17/2025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929F7199-3CB5-41CB-9E30-098120739BD4}" type="datetime1">
              <a:rPr lang="en-US"/>
              <a:t>11/17/2025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20311C7-9962-482A-B146-1DD99BDB456B}" type="datetime1">
              <a:rPr lang="en-US"/>
              <a:t>11/17/2025</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C4FE033-73EA-43BF-906B-54A8C44CA3A6}"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n-US"/>
              <a:t>Unit-2</a:t>
            </a:r>
            <a:endParaRPr/>
          </a:p>
        </p:txBody>
      </p:sp>
      <p:sp>
        <p:nvSpPr>
          <p:cNvPr id="3" name="Subtitle 2"/>
          <p:cNvSpPr>
            <a:spLocks noGrp="1"/>
          </p:cNvSpPr>
          <p:nvPr>
            <p:ph type="subTitle" idx="1"/>
          </p:nvPr>
        </p:nvSpPr>
        <p:spPr bwMode="auto"/>
        <p:txBody>
          <a:bodyPr/>
          <a:lstStyle/>
          <a:p>
            <a:pPr>
              <a:defRPr/>
            </a:pPr>
            <a:r>
              <a:rPr lang="en-US"/>
              <a:t>Data Models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Contents</a:t>
            </a:r>
            <a:endParaRPr/>
          </a:p>
        </p:txBody>
      </p:sp>
      <p:sp>
        <p:nvSpPr>
          <p:cNvPr id="3" name="Content Placeholder 2"/>
          <p:cNvSpPr>
            <a:spLocks noGrp="1"/>
          </p:cNvSpPr>
          <p:nvPr>
            <p:ph idx="1"/>
          </p:nvPr>
        </p:nvSpPr>
        <p:spPr bwMode="auto"/>
        <p:txBody>
          <a:bodyPr/>
          <a:lstStyle/>
          <a:p>
            <a:pPr marL="514350" indent="-514350">
              <a:buFont typeface="+mj-lt"/>
              <a:buAutoNum type="arabicPeriod"/>
              <a:defRPr/>
            </a:pPr>
            <a:r>
              <a:rPr lang="en-US" dirty="0"/>
              <a:t>Conceptual, Logical, and Physical Model</a:t>
            </a:r>
            <a:endParaRPr dirty="0"/>
          </a:p>
          <a:p>
            <a:pPr marL="514350" indent="-514350">
              <a:buFont typeface="+mj-lt"/>
              <a:buAutoNum type="arabicPeriod"/>
              <a:defRPr/>
            </a:pPr>
            <a:r>
              <a:rPr lang="en-US" dirty="0"/>
              <a:t>Introduction to Entity Relationship Model</a:t>
            </a:r>
            <a:endParaRPr dirty="0"/>
          </a:p>
          <a:p>
            <a:pPr marL="514350" indent="-514350">
              <a:buFont typeface="+mj-lt"/>
              <a:buAutoNum type="arabicPeriod"/>
              <a:defRPr/>
            </a:pPr>
            <a:r>
              <a:rPr lang="en-US" dirty="0"/>
              <a:t>Entities type</a:t>
            </a:r>
            <a:endParaRPr dirty="0"/>
          </a:p>
          <a:p>
            <a:pPr marL="514350" indent="-514350">
              <a:buFont typeface="+mj-lt"/>
              <a:buAutoNum type="arabicPeriod"/>
              <a:defRPr/>
            </a:pPr>
            <a:r>
              <a:rPr lang="en-US" dirty="0"/>
              <a:t>Entities set</a:t>
            </a:r>
            <a:endParaRPr dirty="0"/>
          </a:p>
          <a:p>
            <a:pPr marL="514350" indent="-514350">
              <a:buFont typeface="+mj-lt"/>
              <a:buAutoNum type="arabicPeriod"/>
              <a:defRPr/>
            </a:pPr>
            <a:r>
              <a:rPr lang="en-US" dirty="0"/>
              <a:t>Attributes and Keys</a:t>
            </a:r>
            <a:endParaRPr dirty="0"/>
          </a:p>
          <a:p>
            <a:pPr marL="514350" indent="-514350">
              <a:buFont typeface="+mj-lt"/>
              <a:buAutoNum type="arabicPeriod"/>
              <a:defRPr/>
            </a:pPr>
            <a:r>
              <a:rPr lang="en-US" dirty="0"/>
              <a:t>Relationship types and sets</a:t>
            </a:r>
            <a:endParaRPr dirty="0"/>
          </a:p>
          <a:p>
            <a:pPr marL="514350" indent="-514350">
              <a:buFont typeface="+mj-lt"/>
              <a:buAutoNum type="arabicPeriod"/>
              <a:defRPr/>
            </a:pPr>
            <a:r>
              <a:rPr lang="en-US" dirty="0"/>
              <a:t>E-R Diagrams</a:t>
            </a:r>
          </a:p>
          <a:p>
            <a:pPr marL="514350" indent="-514350">
              <a:buFont typeface="+mj-lt"/>
              <a:buAutoNum type="arabicPeriod"/>
              <a:defRPr/>
            </a:pPr>
            <a:r>
              <a:rPr lang="en-US" dirty="0"/>
              <a:t>E-R to Relational Model</a:t>
            </a:r>
            <a:endParaRPr dirty="0"/>
          </a:p>
        </p:txBody>
      </p:sp>
      <p:sp>
        <p:nvSpPr>
          <p:cNvPr id="4" name="Date Placeholder 3"/>
          <p:cNvSpPr>
            <a:spLocks noGrp="1"/>
          </p:cNvSpPr>
          <p:nvPr>
            <p:ph type="dt" sz="half" idx="10"/>
          </p:nvPr>
        </p:nvSpPr>
        <p:spPr bwMode="auto"/>
        <p:txBody>
          <a:bodyPr/>
          <a:lstStyle/>
          <a:p>
            <a:pPr>
              <a:defRPr/>
            </a:pPr>
            <a:fld id="{5ECEE80E-1855-45F2-B44C-5467058CEF91}"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Data Model</a:t>
            </a:r>
            <a:endParaRPr/>
          </a:p>
        </p:txBody>
      </p:sp>
      <p:sp>
        <p:nvSpPr>
          <p:cNvPr id="3" name="Content Placeholder 2"/>
          <p:cNvSpPr>
            <a:spLocks noGrp="1"/>
          </p:cNvSpPr>
          <p:nvPr>
            <p:ph idx="1"/>
          </p:nvPr>
        </p:nvSpPr>
        <p:spPr bwMode="auto"/>
        <p:txBody>
          <a:bodyPr/>
          <a:lstStyle/>
          <a:p>
            <a:pPr>
              <a:defRPr/>
            </a:pPr>
            <a:r>
              <a:rPr lang="en-US"/>
              <a:t> A Data Model is the collection of conceptual tools for describing </a:t>
            </a:r>
            <a:endParaRPr/>
          </a:p>
          <a:p>
            <a:pPr lvl="1">
              <a:defRPr/>
            </a:pPr>
            <a:r>
              <a:rPr lang="en-US"/>
              <a:t>Data</a:t>
            </a:r>
            <a:endParaRPr/>
          </a:p>
          <a:p>
            <a:pPr lvl="1">
              <a:defRPr/>
            </a:pPr>
            <a:r>
              <a:rPr lang="en-US"/>
              <a:t>Data Relationship</a:t>
            </a:r>
            <a:endParaRPr/>
          </a:p>
          <a:p>
            <a:pPr lvl="1">
              <a:defRPr/>
            </a:pPr>
            <a:r>
              <a:rPr lang="en-US"/>
              <a:t>Data Semantics</a:t>
            </a:r>
            <a:endParaRPr/>
          </a:p>
          <a:p>
            <a:pPr lvl="1">
              <a:defRPr/>
            </a:pPr>
            <a:r>
              <a:rPr lang="en-US"/>
              <a:t>Data Constraints</a:t>
            </a:r>
            <a:endParaRPr/>
          </a:p>
          <a:p>
            <a:pPr marL="457200" lvl="1" indent="0">
              <a:buNone/>
              <a:defRPr/>
            </a:pPr>
            <a:endParaRPr lang="en-US"/>
          </a:p>
          <a:p>
            <a:pPr marL="457200" lvl="1" indent="0">
              <a:buNone/>
              <a:defRPr/>
            </a:pPr>
            <a:r>
              <a:rPr lang="en-US"/>
              <a:t>A Data Model ensures that the </a:t>
            </a:r>
            <a:r>
              <a:rPr lang="en-US" b="1"/>
              <a:t>real-world meaning of data</a:t>
            </a:r>
            <a:r>
              <a:rPr lang="en-US"/>
              <a:t> is preserved while providing a clear path toward </a:t>
            </a:r>
            <a:r>
              <a:rPr lang="en-US" b="1"/>
              <a:t>efficient implementation</a:t>
            </a:r>
            <a:r>
              <a:rPr lang="en-US"/>
              <a:t> in a database system.</a:t>
            </a:r>
            <a:endParaRPr/>
          </a:p>
          <a:p>
            <a:pPr lvl="1">
              <a:defRPr/>
            </a:pPr>
            <a:endParaRPr lang="en-US"/>
          </a:p>
        </p:txBody>
      </p:sp>
      <p:sp>
        <p:nvSpPr>
          <p:cNvPr id="4" name="Date Placeholder 3"/>
          <p:cNvSpPr>
            <a:spLocks noGrp="1"/>
          </p:cNvSpPr>
          <p:nvPr>
            <p:ph type="dt" sz="half" idx="10"/>
          </p:nvPr>
        </p:nvSpPr>
        <p:spPr bwMode="auto"/>
        <p:txBody>
          <a:bodyPr/>
          <a:lstStyle/>
          <a:p>
            <a:pPr>
              <a:defRPr/>
            </a:pPr>
            <a:fld id="{D9353688-C6CF-4ABE-9470-F97C26020F2D}"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Three Levels of Data Modeling</a:t>
            </a:r>
            <a:endParaRPr/>
          </a:p>
        </p:txBody>
      </p:sp>
      <p:sp>
        <p:nvSpPr>
          <p:cNvPr id="3" name="Content Placeholder 2"/>
          <p:cNvSpPr>
            <a:spLocks noGrp="1"/>
          </p:cNvSpPr>
          <p:nvPr>
            <p:ph idx="1"/>
          </p:nvPr>
        </p:nvSpPr>
        <p:spPr bwMode="auto">
          <a:xfrm>
            <a:off x="838200" y="1805960"/>
            <a:ext cx="10515600" cy="760259"/>
          </a:xfrm>
        </p:spPr>
        <p:txBody>
          <a:bodyPr>
            <a:normAutofit fontScale="92500" lnSpcReduction="10000"/>
          </a:bodyPr>
          <a:lstStyle/>
          <a:p>
            <a:pPr>
              <a:defRPr/>
            </a:pPr>
            <a:r>
              <a:rPr lang="en-US"/>
              <a:t>A Data Model can be represented at three different levels of abstraction, each showing data from a different point of view.</a:t>
            </a:r>
            <a:endParaRPr/>
          </a:p>
          <a:p>
            <a:pPr>
              <a:defRPr/>
            </a:pPr>
            <a:endParaRPr lang="en-US"/>
          </a:p>
        </p:txBody>
      </p:sp>
      <p:graphicFrame>
        <p:nvGraphicFramePr>
          <p:cNvPr id="4" name="Table 3"/>
          <p:cNvGraphicFramePr>
            <a:graphicFrameLocks noGrp="1"/>
          </p:cNvGraphicFramePr>
          <p:nvPr/>
        </p:nvGraphicFramePr>
        <p:xfrm>
          <a:off x="838198" y="2721133"/>
          <a:ext cx="10714704" cy="3138894"/>
        </p:xfrm>
        <a:graphic>
          <a:graphicData uri="http://schemas.openxmlformats.org/drawingml/2006/table">
            <a:tbl>
              <a:tblPr>
                <a:tableStyleId>{793D81CF-94F2-401A-BA57-92F5A7B2D0C5}</a:tableStyleId>
              </a:tblPr>
              <a:tblGrid>
                <a:gridCol w="2678676">
                  <a:extLst>
                    <a:ext uri="{9D8B030D-6E8A-4147-A177-3AD203B41FA5}">
                      <a16:colId xmlns:a16="http://schemas.microsoft.com/office/drawing/2014/main" val="20000"/>
                    </a:ext>
                  </a:extLst>
                </a:gridCol>
                <a:gridCol w="2678676">
                  <a:extLst>
                    <a:ext uri="{9D8B030D-6E8A-4147-A177-3AD203B41FA5}">
                      <a16:colId xmlns:a16="http://schemas.microsoft.com/office/drawing/2014/main" val="20001"/>
                    </a:ext>
                  </a:extLst>
                </a:gridCol>
                <a:gridCol w="2678676">
                  <a:extLst>
                    <a:ext uri="{9D8B030D-6E8A-4147-A177-3AD203B41FA5}">
                      <a16:colId xmlns:a16="http://schemas.microsoft.com/office/drawing/2014/main" val="20002"/>
                    </a:ext>
                  </a:extLst>
                </a:gridCol>
                <a:gridCol w="2678676">
                  <a:extLst>
                    <a:ext uri="{9D8B030D-6E8A-4147-A177-3AD203B41FA5}">
                      <a16:colId xmlns:a16="http://schemas.microsoft.com/office/drawing/2014/main" val="20003"/>
                    </a:ext>
                  </a:extLst>
                </a:gridCol>
              </a:tblGrid>
              <a:tr h="448413">
                <a:tc>
                  <a:txBody>
                    <a:bodyPr/>
                    <a:lstStyle/>
                    <a:p>
                      <a:pPr algn="ctr">
                        <a:defRPr/>
                      </a:pPr>
                      <a:r>
                        <a:rPr lang="en-US" b="1"/>
                        <a:t>Level</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b="1"/>
                        <a:t>Focus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b="1"/>
                        <a:t>Audience</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b="1"/>
                        <a:t>Example Output</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0"/>
                  </a:ext>
                </a:extLst>
              </a:tr>
              <a:tr h="784724">
                <a:tc>
                  <a:txBody>
                    <a:bodyPr/>
                    <a:lstStyle/>
                    <a:p>
                      <a:pPr>
                        <a:defRPr/>
                      </a:pPr>
                      <a:r>
                        <a:rPr lang="en-US" b="1"/>
                        <a:t>Conceptual Model</a:t>
                      </a:r>
                      <a:endParaRPr lang="en-US"/>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High-level view of data and relationships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Business users, analysts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ER Diagram (entities, relationships)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1"/>
                  </a:ext>
                </a:extLst>
              </a:tr>
              <a:tr h="1121033">
                <a:tc>
                  <a:txBody>
                    <a:bodyPr/>
                    <a:lstStyle/>
                    <a:p>
                      <a:pPr>
                        <a:defRPr/>
                      </a:pPr>
                      <a:r>
                        <a:rPr lang="en-US" b="1"/>
                        <a:t>Logical Model</a:t>
                      </a:r>
                      <a:endParaRPr lang="en-US"/>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Detailed structure of data elements and relationships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Data architects, DB designers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Normalized tables with keys, attributes, and relationships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2"/>
                  </a:ext>
                </a:extLst>
              </a:tr>
              <a:tr h="784724">
                <a:tc>
                  <a:txBody>
                    <a:bodyPr/>
                    <a:lstStyle/>
                    <a:p>
                      <a:pPr>
                        <a:defRPr/>
                      </a:pPr>
                      <a:r>
                        <a:rPr lang="en-US" b="1"/>
                        <a:t>Physical Model</a:t>
                      </a:r>
                      <a:endParaRPr lang="en-US"/>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Actual implementation in the database</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DB developers, administrators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a:t>SQL DDL, indexes, storage settings</a:t>
                      </a:r>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3"/>
                  </a:ext>
                </a:extLst>
              </a:tr>
            </a:tbl>
          </a:graphicData>
        </a:graphic>
      </p:graphicFrame>
      <p:sp>
        <p:nvSpPr>
          <p:cNvPr id="5" name="Date Placeholder 4"/>
          <p:cNvSpPr>
            <a:spLocks noGrp="1"/>
          </p:cNvSpPr>
          <p:nvPr>
            <p:ph type="dt" sz="half" idx="10"/>
          </p:nvPr>
        </p:nvSpPr>
        <p:spPr bwMode="auto"/>
        <p:txBody>
          <a:bodyPr/>
          <a:lstStyle/>
          <a:p>
            <a:pPr>
              <a:defRPr/>
            </a:pPr>
            <a:fld id="{BB7BEAB8-91F1-486F-A732-BDBBD595FCB9}" type="datetime1">
              <a:rPr lang="en-US"/>
              <a:t>11/17/2025</a:t>
            </a:fld>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Conceptual Data Model</a:t>
            </a:r>
            <a:endParaRPr/>
          </a:p>
        </p:txBody>
      </p:sp>
      <p:sp>
        <p:nvSpPr>
          <p:cNvPr id="3" name="Content Placeholder 2"/>
          <p:cNvSpPr>
            <a:spLocks noGrp="1"/>
          </p:cNvSpPr>
          <p:nvPr>
            <p:ph idx="1"/>
          </p:nvPr>
        </p:nvSpPr>
        <p:spPr bwMode="auto"/>
        <p:txBody>
          <a:bodyPr>
            <a:normAutofit/>
          </a:bodyPr>
          <a:lstStyle/>
          <a:p>
            <a:pPr>
              <a:defRPr/>
            </a:pPr>
            <a:r>
              <a:rPr lang="en-US"/>
              <a:t>The Conceptual Data Model provides a </a:t>
            </a:r>
            <a:r>
              <a:rPr lang="en-US" b="1"/>
              <a:t>high-level description of the enterprise data</a:t>
            </a:r>
            <a:r>
              <a:rPr lang="en-US"/>
              <a:t> and captures the </a:t>
            </a:r>
            <a:r>
              <a:rPr lang="en-US" b="1"/>
              <a:t>semantics of the real-world domain being modeled</a:t>
            </a:r>
            <a:r>
              <a:rPr lang="en-US"/>
              <a:t>.</a:t>
            </a:r>
            <a:endParaRPr/>
          </a:p>
          <a:p>
            <a:pPr>
              <a:defRPr/>
            </a:pPr>
            <a:r>
              <a:rPr lang="en-US"/>
              <a:t>It is </a:t>
            </a:r>
            <a:r>
              <a:rPr lang="en-US" b="1"/>
              <a:t>independent of any database technology</a:t>
            </a:r>
            <a:r>
              <a:rPr lang="en-US"/>
              <a:t> or implementation detail.</a:t>
            </a:r>
            <a:endParaRPr/>
          </a:p>
          <a:p>
            <a:pPr>
              <a:defRPr/>
            </a:pPr>
            <a:r>
              <a:rPr lang="en-US"/>
              <a:t>Purpose</a:t>
            </a:r>
            <a:endParaRPr/>
          </a:p>
          <a:p>
            <a:pPr lvl="1">
              <a:defRPr/>
            </a:pPr>
            <a:r>
              <a:rPr lang="en-US"/>
              <a:t>Identify </a:t>
            </a:r>
            <a:r>
              <a:rPr lang="en-US" b="1"/>
              <a:t>main entities</a:t>
            </a:r>
            <a:r>
              <a:rPr lang="en-US"/>
              <a:t>, their </a:t>
            </a:r>
            <a:r>
              <a:rPr lang="en-US" b="1"/>
              <a:t>attributes</a:t>
            </a:r>
            <a:r>
              <a:rPr lang="en-US"/>
              <a:t>, and </a:t>
            </a:r>
            <a:r>
              <a:rPr lang="en-US" b="1"/>
              <a:t>relationships</a:t>
            </a:r>
            <a:r>
              <a:rPr lang="en-US"/>
              <a:t>.</a:t>
            </a:r>
            <a:endParaRPr/>
          </a:p>
          <a:p>
            <a:pPr lvl="1">
              <a:defRPr/>
            </a:pPr>
            <a:r>
              <a:rPr lang="en-US"/>
              <a:t>Communicate with </a:t>
            </a:r>
            <a:r>
              <a:rPr lang="en-US" b="1"/>
              <a:t>end-users and analysts</a:t>
            </a:r>
            <a:r>
              <a:rPr lang="en-US"/>
              <a:t> for requirement understanding.</a:t>
            </a:r>
            <a:endParaRPr/>
          </a:p>
          <a:p>
            <a:pPr lvl="1">
              <a:defRPr/>
            </a:pPr>
            <a:r>
              <a:rPr lang="en-US"/>
              <a:t>Define </a:t>
            </a:r>
            <a:r>
              <a:rPr lang="en-US" i="1"/>
              <a:t>what</a:t>
            </a:r>
            <a:r>
              <a:rPr lang="en-US"/>
              <a:t> data the system should contain, not </a:t>
            </a:r>
            <a:r>
              <a:rPr lang="en-US" i="1"/>
              <a:t>how</a:t>
            </a:r>
            <a:r>
              <a:rPr lang="en-US"/>
              <a:t> it will be stored.</a:t>
            </a:r>
            <a:endParaRPr/>
          </a:p>
          <a:p>
            <a:pPr>
              <a:defRPr/>
            </a:pPr>
            <a:endParaRPr lang="en-US"/>
          </a:p>
        </p:txBody>
      </p:sp>
      <p:sp>
        <p:nvSpPr>
          <p:cNvPr id="4" name="Date Placeholder 3"/>
          <p:cNvSpPr>
            <a:spLocks noGrp="1"/>
          </p:cNvSpPr>
          <p:nvPr>
            <p:ph type="dt" sz="half" idx="10"/>
          </p:nvPr>
        </p:nvSpPr>
        <p:spPr bwMode="auto"/>
        <p:txBody>
          <a:bodyPr/>
          <a:lstStyle/>
          <a:p>
            <a:pPr>
              <a:defRPr/>
            </a:pPr>
            <a:fld id="{6CACC20E-602B-4A30-9488-DA9B56670FD3}"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Logical Data Model</a:t>
            </a:r>
            <a:endParaRPr/>
          </a:p>
        </p:txBody>
      </p:sp>
      <p:sp>
        <p:nvSpPr>
          <p:cNvPr id="3" name="Content Placeholder 2"/>
          <p:cNvSpPr>
            <a:spLocks noGrp="1"/>
          </p:cNvSpPr>
          <p:nvPr>
            <p:ph idx="1"/>
          </p:nvPr>
        </p:nvSpPr>
        <p:spPr bwMode="auto"/>
        <p:txBody>
          <a:bodyPr/>
          <a:lstStyle/>
          <a:p>
            <a:pPr>
              <a:defRPr/>
            </a:pPr>
            <a:r>
              <a:rPr lang="en-US"/>
              <a:t>The </a:t>
            </a:r>
            <a:r>
              <a:rPr lang="en-US" b="1"/>
              <a:t>Logical Data Model</a:t>
            </a:r>
            <a:r>
              <a:rPr lang="en-US"/>
              <a:t> translates the conceptual design into a </a:t>
            </a:r>
            <a:r>
              <a:rPr lang="en-US" b="1"/>
              <a:t>detailed structure</a:t>
            </a:r>
            <a:r>
              <a:rPr lang="en-US"/>
              <a:t> that can be implemented in a specific type of database (usually the </a:t>
            </a:r>
            <a:r>
              <a:rPr lang="en-US" b="1"/>
              <a:t>relational model</a:t>
            </a:r>
            <a:r>
              <a:rPr lang="en-US"/>
              <a:t>).</a:t>
            </a:r>
            <a:endParaRPr/>
          </a:p>
          <a:p>
            <a:pPr>
              <a:defRPr/>
            </a:pPr>
            <a:r>
              <a:rPr lang="en-US"/>
              <a:t>It defines data in terms of </a:t>
            </a:r>
            <a:r>
              <a:rPr lang="en-US" b="1"/>
              <a:t>tables, attributes, and relationships</a:t>
            </a:r>
            <a:endParaRPr/>
          </a:p>
          <a:p>
            <a:pPr>
              <a:defRPr/>
            </a:pPr>
            <a:r>
              <a:rPr lang="en-US" b="1"/>
              <a:t>Purpose</a:t>
            </a:r>
            <a:endParaRPr/>
          </a:p>
          <a:p>
            <a:pPr lvl="1">
              <a:defRPr/>
            </a:pPr>
            <a:r>
              <a:rPr lang="en-US"/>
              <a:t>Specify all </a:t>
            </a:r>
            <a:r>
              <a:rPr lang="en-US" b="1"/>
              <a:t>entities and their attributes</a:t>
            </a:r>
            <a:r>
              <a:rPr lang="en-US"/>
              <a:t> clearly.</a:t>
            </a:r>
            <a:endParaRPr/>
          </a:p>
          <a:p>
            <a:pPr lvl="1">
              <a:defRPr/>
            </a:pPr>
            <a:r>
              <a:rPr lang="en-US"/>
              <a:t>Define </a:t>
            </a:r>
            <a:r>
              <a:rPr lang="en-US" b="1"/>
              <a:t>primary and foreign keys</a:t>
            </a:r>
            <a:r>
              <a:rPr lang="en-US"/>
              <a:t>.</a:t>
            </a:r>
            <a:endParaRPr/>
          </a:p>
          <a:p>
            <a:pPr lvl="1">
              <a:defRPr/>
            </a:pPr>
            <a:r>
              <a:rPr lang="en-US"/>
              <a:t>Identify </a:t>
            </a:r>
            <a:r>
              <a:rPr lang="en-US" b="1"/>
              <a:t>cardinalities</a:t>
            </a:r>
            <a:r>
              <a:rPr lang="en-US"/>
              <a:t> and </a:t>
            </a:r>
            <a:r>
              <a:rPr lang="en-US" b="1"/>
              <a:t>integrity constraints</a:t>
            </a:r>
            <a:r>
              <a:rPr lang="en-US"/>
              <a:t>.</a:t>
            </a:r>
            <a:endParaRPr/>
          </a:p>
          <a:p>
            <a:pPr lvl="1">
              <a:defRPr/>
            </a:pPr>
            <a:r>
              <a:rPr lang="en-US"/>
              <a:t>Remove redundancy through </a:t>
            </a:r>
            <a:r>
              <a:rPr lang="en-US" b="1"/>
              <a:t>normalization</a:t>
            </a:r>
            <a:r>
              <a:rPr lang="en-US"/>
              <a:t>.</a:t>
            </a:r>
            <a:endParaRPr/>
          </a:p>
          <a:p>
            <a:pPr>
              <a:defRPr/>
            </a:pPr>
            <a:endParaRPr lang="en-US"/>
          </a:p>
        </p:txBody>
      </p:sp>
      <p:sp>
        <p:nvSpPr>
          <p:cNvPr id="4" name="Date Placeholder 3"/>
          <p:cNvSpPr>
            <a:spLocks noGrp="1"/>
          </p:cNvSpPr>
          <p:nvPr>
            <p:ph type="dt" sz="half" idx="10"/>
          </p:nvPr>
        </p:nvSpPr>
        <p:spPr bwMode="auto"/>
        <p:txBody>
          <a:bodyPr/>
          <a:lstStyle/>
          <a:p>
            <a:pPr>
              <a:defRPr/>
            </a:pPr>
            <a:fld id="{C9D3228F-CD06-4784-ABC3-8EC977E55E06}"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Physical Data Model</a:t>
            </a:r>
            <a:endParaRPr/>
          </a:p>
        </p:txBody>
      </p:sp>
      <p:sp>
        <p:nvSpPr>
          <p:cNvPr id="3" name="Content Placeholder 2"/>
          <p:cNvSpPr>
            <a:spLocks noGrp="1"/>
          </p:cNvSpPr>
          <p:nvPr>
            <p:ph idx="1"/>
          </p:nvPr>
        </p:nvSpPr>
        <p:spPr bwMode="auto"/>
        <p:txBody>
          <a:bodyPr/>
          <a:lstStyle/>
          <a:p>
            <a:pPr>
              <a:defRPr/>
            </a:pPr>
            <a:r>
              <a:rPr lang="en-US"/>
              <a:t>The </a:t>
            </a:r>
            <a:r>
              <a:rPr lang="en-US" b="1"/>
              <a:t>Physical Data Model</a:t>
            </a:r>
            <a:r>
              <a:rPr lang="en-US"/>
              <a:t> represents </a:t>
            </a:r>
            <a:r>
              <a:rPr lang="en-US" b="1"/>
              <a:t>how the data will actually be stored and implemented</a:t>
            </a:r>
            <a:r>
              <a:rPr lang="en-US"/>
              <a:t> in a specific </a:t>
            </a:r>
            <a:r>
              <a:rPr lang="en-US" b="1"/>
              <a:t>database management system (DBMS)</a:t>
            </a:r>
            <a:r>
              <a:rPr lang="en-US"/>
              <a:t>.</a:t>
            </a:r>
            <a:endParaRPr/>
          </a:p>
          <a:p>
            <a:pPr>
              <a:defRPr/>
            </a:pPr>
            <a:r>
              <a:rPr lang="en-US"/>
              <a:t>It includes:</a:t>
            </a:r>
            <a:endParaRPr/>
          </a:p>
          <a:p>
            <a:pPr lvl="1">
              <a:defRPr/>
            </a:pPr>
            <a:r>
              <a:rPr lang="en-US" b="1"/>
              <a:t>SQL table definitions</a:t>
            </a:r>
            <a:endParaRPr lang="en-US"/>
          </a:p>
          <a:p>
            <a:pPr lvl="1">
              <a:defRPr/>
            </a:pPr>
            <a:r>
              <a:rPr lang="en-US" b="1"/>
              <a:t>Data types</a:t>
            </a:r>
            <a:r>
              <a:rPr lang="en-US"/>
              <a:t> for each column</a:t>
            </a:r>
            <a:endParaRPr/>
          </a:p>
          <a:p>
            <a:pPr lvl="1">
              <a:defRPr/>
            </a:pPr>
            <a:r>
              <a:rPr lang="en-US" b="1"/>
              <a:t>Indexes, partitions</a:t>
            </a:r>
            <a:endParaRPr lang="en-US"/>
          </a:p>
          <a:p>
            <a:pPr lvl="1">
              <a:defRPr/>
            </a:pPr>
            <a:r>
              <a:rPr lang="en-US" b="1"/>
              <a:t>Constraints</a:t>
            </a:r>
            <a:r>
              <a:rPr lang="en-US"/>
              <a:t> and </a:t>
            </a:r>
            <a:r>
              <a:rPr lang="en-US" b="1"/>
              <a:t>storage parameters</a:t>
            </a:r>
            <a:endParaRPr lang="en-US"/>
          </a:p>
          <a:p>
            <a:pPr>
              <a:defRPr/>
            </a:pPr>
            <a:r>
              <a:rPr lang="en-US"/>
              <a:t>This is specific to a particular Database Management System that we are using.</a:t>
            </a:r>
            <a:endParaRPr/>
          </a:p>
        </p:txBody>
      </p:sp>
      <p:sp>
        <p:nvSpPr>
          <p:cNvPr id="4" name="Date Placeholder 3"/>
          <p:cNvSpPr>
            <a:spLocks noGrp="1"/>
          </p:cNvSpPr>
          <p:nvPr>
            <p:ph type="dt" sz="half" idx="10"/>
          </p:nvPr>
        </p:nvSpPr>
        <p:spPr bwMode="auto"/>
        <p:txBody>
          <a:bodyPr/>
          <a:lstStyle/>
          <a:p>
            <a:pPr>
              <a:defRPr/>
            </a:pPr>
            <a:fld id="{93007DA3-7D6A-40B4-85F9-0FD65CB2C400}"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lgn="ctr">
              <a:defRPr/>
            </a:pPr>
            <a:r>
              <a:rPr lang="en-US" b="1" i="0" u="none" strike="noStrike">
                <a:latin typeface="Times New Roman"/>
              </a:rPr>
              <a:t>Entity Relationship Model</a:t>
            </a:r>
            <a:endParaRPr lang="en-US" b="1"/>
          </a:p>
        </p:txBody>
      </p:sp>
      <p:pic>
        <p:nvPicPr>
          <p:cNvPr id="5" name="Content Placeholder 4"/>
          <p:cNvPicPr>
            <a:picLocks noGrp="1" noChangeAspect="1"/>
          </p:cNvPicPr>
          <p:nvPr>
            <p:ph idx="1"/>
          </p:nvPr>
        </p:nvPicPr>
        <p:blipFill>
          <a:blip r:embed="rId3"/>
          <a:stretch/>
        </p:blipFill>
        <p:spPr bwMode="auto">
          <a:xfrm>
            <a:off x="3628309" y="1222852"/>
            <a:ext cx="5240387" cy="4752811"/>
          </a:xfrm>
        </p:spPr>
      </p:pic>
      <p:sp>
        <p:nvSpPr>
          <p:cNvPr id="6" name="TextBox 5"/>
          <p:cNvSpPr txBox="1"/>
          <p:nvPr/>
        </p:nvSpPr>
        <p:spPr bwMode="auto">
          <a:xfrm>
            <a:off x="462116" y="6492875"/>
            <a:ext cx="10343536" cy="230832"/>
          </a:xfrm>
          <a:prstGeom prst="rect">
            <a:avLst/>
          </a:prstGeom>
          <a:noFill/>
        </p:spPr>
        <p:txBody>
          <a:bodyPr wrap="square" rtlCol="0">
            <a:spAutoFit/>
          </a:bodyPr>
          <a:lstStyle/>
          <a:p>
            <a:pPr>
              <a:defRPr/>
            </a:pPr>
            <a:r>
              <a:rPr lang="en-US" sz="900"/>
              <a:t>Source: Ramez Elmasri and Shamkant B. Navathe, Fundamentals of Database Systems</a:t>
            </a:r>
            <a:endParaRPr/>
          </a:p>
        </p:txBody>
      </p:sp>
      <p:sp>
        <p:nvSpPr>
          <p:cNvPr id="8" name="TextBox 7"/>
          <p:cNvSpPr txBox="1"/>
          <p:nvPr/>
        </p:nvSpPr>
        <p:spPr bwMode="auto">
          <a:xfrm>
            <a:off x="5230761" y="5968181"/>
            <a:ext cx="5751871" cy="369332"/>
          </a:xfrm>
          <a:prstGeom prst="rect">
            <a:avLst/>
          </a:prstGeom>
          <a:noFill/>
        </p:spPr>
        <p:txBody>
          <a:bodyPr wrap="square" rtlCol="0">
            <a:spAutoFit/>
          </a:bodyPr>
          <a:lstStyle/>
          <a:p>
            <a:pPr algn="ctr">
              <a:defRPr/>
            </a:pPr>
            <a:r>
              <a:rPr lang="en-US" b="1"/>
              <a:t>Main Phases of Database Design</a:t>
            </a:r>
            <a:endParaRPr/>
          </a:p>
        </p:txBody>
      </p:sp>
      <p:sp>
        <p:nvSpPr>
          <p:cNvPr id="3" name="Date Placeholder 2"/>
          <p:cNvSpPr>
            <a:spLocks noGrp="1"/>
          </p:cNvSpPr>
          <p:nvPr>
            <p:ph type="dt" sz="half" idx="10"/>
          </p:nvPr>
        </p:nvSpPr>
        <p:spPr bwMode="auto"/>
        <p:txBody>
          <a:bodyPr/>
          <a:lstStyle/>
          <a:p>
            <a:pPr>
              <a:defRPr/>
            </a:pPr>
            <a:fld id="{80EB6998-D679-4166-BFFF-11A315C09AC4}" type="datetime1">
              <a:rPr lang="en-US"/>
              <a:t>11/17/2025</a:t>
            </a:fld>
            <a:endParaRPr lang="en-US"/>
          </a:p>
        </p:txBody>
      </p:sp>
      <p:sp>
        <p:nvSpPr>
          <p:cNvPr id="4" name="Slide Number Placeholder 3"/>
          <p:cNvSpPr>
            <a:spLocks noGrp="1"/>
          </p:cNvSpPr>
          <p:nvPr>
            <p:ph type="sldNum" sz="quarter" idx="12"/>
          </p:nvPr>
        </p:nvSpPr>
        <p:spPr bwMode="auto"/>
        <p:txBody>
          <a:bodyPr/>
          <a:lstStyle/>
          <a:p>
            <a:pPr>
              <a:defRPr/>
            </a:pPr>
            <a:fld id="{2C4FE033-73EA-43BF-906B-54A8C44CA3A6}" type="slidenum">
              <a:rPr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Entity Relationship Model</a:t>
            </a:r>
            <a:endParaRPr/>
          </a:p>
        </p:txBody>
      </p:sp>
      <p:sp>
        <p:nvSpPr>
          <p:cNvPr id="3" name="Content Placeholder 2"/>
          <p:cNvSpPr>
            <a:spLocks noGrp="1"/>
          </p:cNvSpPr>
          <p:nvPr>
            <p:ph idx="1"/>
          </p:nvPr>
        </p:nvSpPr>
        <p:spPr bwMode="auto"/>
        <p:txBody>
          <a:bodyPr/>
          <a:lstStyle/>
          <a:p>
            <a:pPr>
              <a:defRPr/>
            </a:pPr>
            <a:r>
              <a:rPr lang="en-US"/>
              <a:t>The ER Model is a high-level conceptual data model used to represent the structure of a database at the conceptual design phase</a:t>
            </a:r>
            <a:endParaRPr/>
          </a:p>
          <a:p>
            <a:pPr>
              <a:defRPr/>
            </a:pPr>
            <a:r>
              <a:rPr lang="en-US"/>
              <a:t>The ER model concepts are designed to be closer to the user’s perception of data and are not meant to describe the way in which data will be stored in the computer.</a:t>
            </a:r>
            <a:endParaRPr/>
          </a:p>
          <a:p>
            <a:pPr>
              <a:defRPr/>
            </a:pPr>
            <a:r>
              <a:rPr lang="en-US"/>
              <a:t>Key purpose: Identify </a:t>
            </a:r>
            <a:r>
              <a:rPr lang="en-US" b="1"/>
              <a:t>entities</a:t>
            </a:r>
            <a:r>
              <a:rPr lang="en-US"/>
              <a:t> (things of interest), </a:t>
            </a:r>
            <a:r>
              <a:rPr lang="en-US" b="1"/>
              <a:t>attributes</a:t>
            </a:r>
            <a:r>
              <a:rPr lang="en-US"/>
              <a:t> (properties of those entities), and </a:t>
            </a:r>
            <a:r>
              <a:rPr lang="en-US" b="1"/>
              <a:t>relationships</a:t>
            </a:r>
            <a:r>
              <a:rPr lang="en-US"/>
              <a:t> (associations among entities) along with </a:t>
            </a:r>
            <a:r>
              <a:rPr lang="en-US" b="1"/>
              <a:t>relevant constraints</a:t>
            </a:r>
            <a:r>
              <a:rPr lang="en-US"/>
              <a:t>. </a:t>
            </a:r>
            <a:endParaRPr/>
          </a:p>
          <a:p>
            <a:pPr>
              <a:defRPr/>
            </a:pPr>
            <a:r>
              <a:rPr lang="en-US"/>
              <a:t>The output is often an </a:t>
            </a:r>
            <a:r>
              <a:rPr lang="en-US" b="1"/>
              <a:t>ER diagram (ERD)</a:t>
            </a:r>
            <a:r>
              <a:rPr lang="en-US"/>
              <a:t> which visually depicts these. </a:t>
            </a:r>
            <a:endParaRPr/>
          </a:p>
        </p:txBody>
      </p:sp>
      <p:sp>
        <p:nvSpPr>
          <p:cNvPr id="4" name="Date Placeholder 3"/>
          <p:cNvSpPr>
            <a:spLocks noGrp="1"/>
          </p:cNvSpPr>
          <p:nvPr>
            <p:ph type="dt" sz="half" idx="10"/>
          </p:nvPr>
        </p:nvSpPr>
        <p:spPr bwMode="auto"/>
        <p:txBody>
          <a:bodyPr/>
          <a:lstStyle/>
          <a:p>
            <a:pPr>
              <a:defRPr/>
            </a:pPr>
            <a:fld id="{43C1A781-BCF3-4F16-AA19-53B17D3BC02F}"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Entities &amp; Entity Types / Entity Sets</a:t>
            </a:r>
            <a:endParaRPr/>
          </a:p>
        </p:txBody>
      </p:sp>
      <p:sp>
        <p:nvSpPr>
          <p:cNvPr id="3" name="Content Placeholder 2"/>
          <p:cNvSpPr>
            <a:spLocks noGrp="1"/>
          </p:cNvSpPr>
          <p:nvPr>
            <p:ph idx="1"/>
          </p:nvPr>
        </p:nvSpPr>
        <p:spPr bwMode="auto"/>
        <p:txBody>
          <a:bodyPr>
            <a:normAutofit fontScale="92500" lnSpcReduction="20000"/>
          </a:bodyPr>
          <a:lstStyle/>
          <a:p>
            <a:pPr>
              <a:defRPr/>
            </a:pPr>
            <a:r>
              <a:rPr lang="en-US"/>
              <a:t>Entity: an object in the real world that is distinguishable from other objects (physical or conceptual). </a:t>
            </a:r>
            <a:endParaRPr/>
          </a:p>
          <a:p>
            <a:pPr lvl="1">
              <a:defRPr/>
            </a:pPr>
            <a:r>
              <a:rPr lang="en-US"/>
              <a:t>For example: a particular student, a department, a car. </a:t>
            </a:r>
            <a:endParaRPr/>
          </a:p>
          <a:p>
            <a:pPr>
              <a:defRPr/>
            </a:pPr>
            <a:r>
              <a:rPr lang="en-US"/>
              <a:t>An entity is an object that exists and is distinguishable from other objects.</a:t>
            </a:r>
            <a:endParaRPr/>
          </a:p>
          <a:p>
            <a:pPr>
              <a:defRPr/>
            </a:pPr>
            <a:r>
              <a:rPr lang="en-US"/>
              <a:t>Each entity has </a:t>
            </a:r>
            <a:r>
              <a:rPr lang="en-US" b="1" u="sng"/>
              <a:t>attributes</a:t>
            </a:r>
            <a:r>
              <a:rPr lang="en-US"/>
              <a:t>—the particular properties that describe it. </a:t>
            </a:r>
            <a:endParaRPr/>
          </a:p>
          <a:p>
            <a:pPr lvl="1">
              <a:defRPr/>
            </a:pPr>
            <a:r>
              <a:rPr lang="en-US"/>
              <a:t>For example, an EMPLOYEE entity may be described by the employee’s name, age, address, salary, and job.</a:t>
            </a:r>
            <a:endParaRPr/>
          </a:p>
          <a:p>
            <a:pPr>
              <a:defRPr/>
            </a:pPr>
            <a:r>
              <a:rPr lang="en-US"/>
              <a:t>An entity has a set of properties, and the values for some set of properties must uniquely identify an entity. </a:t>
            </a:r>
            <a:endParaRPr/>
          </a:p>
          <a:p>
            <a:pPr>
              <a:defRPr/>
            </a:pPr>
            <a:r>
              <a:rPr lang="en-US"/>
              <a:t>For instance, a person may have a </a:t>
            </a:r>
            <a:r>
              <a:rPr lang="en-US" i="1"/>
              <a:t>person id</a:t>
            </a:r>
            <a:r>
              <a:rPr lang="en-US"/>
              <a:t> property whose value uniquely identifies that person. Thus, the value </a:t>
            </a:r>
            <a:r>
              <a:rPr lang="en-US" i="1"/>
              <a:t>677-89-9011</a:t>
            </a:r>
            <a:r>
              <a:rPr lang="en-US"/>
              <a:t> for person id would uniquely identify one particular person in the university.</a:t>
            </a:r>
            <a:endParaRPr/>
          </a:p>
        </p:txBody>
      </p:sp>
      <p:sp>
        <p:nvSpPr>
          <p:cNvPr id="4" name="Date Placeholder 3"/>
          <p:cNvSpPr>
            <a:spLocks noGrp="1"/>
          </p:cNvSpPr>
          <p:nvPr>
            <p:ph type="dt" sz="half" idx="10"/>
          </p:nvPr>
        </p:nvSpPr>
        <p:spPr bwMode="auto"/>
        <p:txBody>
          <a:bodyPr/>
          <a:lstStyle/>
          <a:p>
            <a:pPr>
              <a:defRPr/>
            </a:pPr>
            <a:fld id="{F95E309E-F3DC-4288-A56D-CA1D69883D46}"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sz="4400" b="1" i="0" u="none" strike="noStrike" cap="none" spc="0">
                <a:solidFill>
                  <a:schemeClr val="tx1"/>
                </a:solidFill>
                <a:latin typeface="+mj-lt"/>
                <a:ea typeface="+mj-ea"/>
                <a:cs typeface="+mj-cs"/>
              </a:rPr>
              <a:t>Entities &amp; Entity Types / Entity Sets</a:t>
            </a:r>
            <a:endParaRPr sz="4400"/>
          </a:p>
        </p:txBody>
      </p:sp>
      <p:sp>
        <p:nvSpPr>
          <p:cNvPr id="3"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a:bodyPr>
          <a:lstStyle/>
          <a:p>
            <a:pPr>
              <a:defRPr/>
            </a:pPr>
            <a:r>
              <a:rPr lang="en-US" sz="2800" b="0" i="0" u="none" strike="noStrike" cap="none" spc="0">
                <a:solidFill>
                  <a:schemeClr val="tx1"/>
                </a:solidFill>
                <a:latin typeface="Calibri"/>
                <a:ea typeface="Calibri"/>
                <a:cs typeface="Calibri"/>
              </a:rPr>
              <a:t>An entity set is a set of entities of the same type that share the same properties or attributes. </a:t>
            </a:r>
            <a:endParaRPr/>
          </a:p>
          <a:p>
            <a:pPr>
              <a:defRPr/>
            </a:pPr>
            <a:r>
              <a:rPr lang="en-US" sz="2800" b="0" i="0" u="none" strike="noStrike" cap="none" spc="0">
                <a:solidFill>
                  <a:schemeClr val="tx1"/>
                </a:solidFill>
                <a:latin typeface="Calibri"/>
                <a:ea typeface="Calibri"/>
                <a:cs typeface="Calibri"/>
              </a:rPr>
              <a:t>The set of all people who are instructors at a given university, for example, can be deﬁned as the entity set instructor. </a:t>
            </a:r>
            <a:endParaRPr/>
          </a:p>
          <a:p>
            <a:pPr>
              <a:defRPr/>
            </a:pPr>
            <a:r>
              <a:rPr lang="en-US" sz="2800" b="0" i="0" u="none" strike="noStrike" cap="none" spc="0">
                <a:solidFill>
                  <a:schemeClr val="tx1"/>
                </a:solidFill>
                <a:latin typeface="Calibri"/>
                <a:ea typeface="Calibri"/>
                <a:cs typeface="Calibri"/>
              </a:rPr>
              <a:t>Similarly, the entity set student might represent the set of all students in the university.</a:t>
            </a:r>
            <a:endParaRPr/>
          </a:p>
          <a:p>
            <a:pPr>
              <a:defRPr/>
            </a:pPr>
            <a:r>
              <a:rPr lang="en-US" sz="2800" b="0" i="0" u="none" strike="noStrike" cap="none" spc="0">
                <a:solidFill>
                  <a:schemeClr val="tx1"/>
                </a:solidFill>
                <a:latin typeface="Calibri"/>
                <a:ea typeface="Calibri"/>
                <a:cs typeface="Calibri"/>
              </a:rPr>
              <a:t>Entity sets do not need to be disjoint. </a:t>
            </a:r>
            <a:endParaRPr/>
          </a:p>
          <a:p>
            <a:pPr lvl="1">
              <a:defRPr/>
            </a:pPr>
            <a:r>
              <a:rPr lang="en-US" sz="2400" b="0" i="0" u="none" strike="noStrike" cap="none" spc="0">
                <a:solidFill>
                  <a:schemeClr val="tx1"/>
                </a:solidFill>
                <a:latin typeface="Calibri"/>
                <a:ea typeface="Calibri"/>
                <a:cs typeface="Calibri"/>
              </a:rPr>
              <a:t>For example, it is possible to deﬁne the entity set person consisting of all people in a university. A person entity may be an instructor </a:t>
            </a:r>
            <a:r>
              <a:rPr lang="en-US" b="0" i="0" u="none" strike="noStrike" cap="none" spc="0">
                <a:solidFill>
                  <a:schemeClr val="tx1"/>
                </a:solidFill>
                <a:latin typeface="Calibri"/>
                <a:ea typeface="Calibri"/>
                <a:cs typeface="Calibri"/>
              </a:rPr>
              <a:t>entity, a student entity, both, or neither.</a:t>
            </a:r>
            <a:endParaRPr lang="en-US" b="0" i="0" u="none" strike="noStrike" cap="none" spc="0">
              <a:solidFill>
                <a:schemeClr val="tx1"/>
              </a:solidFill>
              <a:latin typeface="Calibri"/>
              <a:cs typeface="Calibri"/>
            </a:endParaRPr>
          </a:p>
        </p:txBody>
      </p:sp>
      <p:sp>
        <p:nvSpPr>
          <p:cNvPr id="4" name="Date Placeholder 3"/>
          <p:cNvSpPr>
            <a:spLocks noGrp="1"/>
          </p:cNvSpPr>
          <p:nvPr>
            <p:ph type="dt" sz="half" idx="10"/>
          </p:nvPr>
        </p:nvSpPr>
        <p:spPr bwMode="auto"/>
        <p:txBody>
          <a:bodyPr/>
          <a:lstStyle/>
          <a:p>
            <a:pPr>
              <a:defRPr/>
            </a:pPr>
            <a:fld id="{A87E0943-F4A8-4F19-9E23-0268529CC6FF}"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Key Attributes of an Entity Type</a:t>
            </a:r>
            <a:endParaRPr/>
          </a:p>
        </p:txBody>
      </p:sp>
      <p:sp>
        <p:nvSpPr>
          <p:cNvPr id="3" name="Content Placeholder 2"/>
          <p:cNvSpPr>
            <a:spLocks noGrp="1"/>
          </p:cNvSpPr>
          <p:nvPr>
            <p:ph idx="1"/>
          </p:nvPr>
        </p:nvSpPr>
        <p:spPr bwMode="auto"/>
        <p:txBody>
          <a:bodyPr>
            <a:normAutofit/>
          </a:bodyPr>
          <a:lstStyle/>
          <a:p>
            <a:pPr>
              <a:defRPr/>
            </a:pPr>
            <a:r>
              <a:rPr lang="en-US"/>
              <a:t>A key attribute uniquely identifies each entity within an entity set.</a:t>
            </a:r>
            <a:endParaRPr/>
          </a:p>
          <a:p>
            <a:pPr>
              <a:defRPr/>
            </a:pPr>
            <a:r>
              <a:rPr lang="en-US"/>
              <a:t>It enforces a uniqueness constraint — no two entities can share the same key value.</a:t>
            </a:r>
            <a:endParaRPr/>
          </a:p>
          <a:p>
            <a:pPr>
              <a:defRPr/>
            </a:pPr>
            <a:r>
              <a:rPr lang="en-US"/>
              <a:t>Must be minimal — no extra attributes should be included. </a:t>
            </a:r>
            <a:endParaRPr/>
          </a:p>
          <a:p>
            <a:pPr>
              <a:defRPr/>
            </a:pPr>
            <a:r>
              <a:rPr lang="en-US"/>
              <a:t>Composite key: Formed when multiple attributes together uniquely identify an entity.</a:t>
            </a:r>
            <a:endParaRPr/>
          </a:p>
          <a:p>
            <a:pPr>
              <a:defRPr/>
            </a:pPr>
            <a:r>
              <a:rPr lang="en-US"/>
              <a:t>Example:</a:t>
            </a:r>
            <a:endParaRPr/>
          </a:p>
          <a:p>
            <a:pPr lvl="1">
              <a:defRPr/>
            </a:pPr>
            <a:r>
              <a:rPr lang="en-US"/>
              <a:t>Name is a key for COMPANY (no duplicate company names).</a:t>
            </a:r>
            <a:endParaRPr/>
          </a:p>
          <a:p>
            <a:pPr lvl="1">
              <a:defRPr/>
            </a:pPr>
            <a:r>
              <a:rPr lang="en-US"/>
              <a:t> SSN is a key for PERSON (unique Social Security number).</a:t>
            </a:r>
            <a:endParaRPr/>
          </a:p>
        </p:txBody>
      </p:sp>
      <p:sp>
        <p:nvSpPr>
          <p:cNvPr id="4" name="Date Placeholder 3"/>
          <p:cNvSpPr>
            <a:spLocks noGrp="1"/>
          </p:cNvSpPr>
          <p:nvPr>
            <p:ph type="dt" sz="half" idx="10"/>
          </p:nvPr>
        </p:nvSpPr>
        <p:spPr bwMode="auto"/>
        <p:txBody>
          <a:bodyPr/>
          <a:lstStyle/>
          <a:p>
            <a:pPr>
              <a:defRPr/>
            </a:pPr>
            <a:fld id="{3CC9FB57-B263-430F-8F97-DFBB812D9257}"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Types of Attributes in ER Model</a:t>
            </a:r>
            <a:endParaRPr/>
          </a:p>
        </p:txBody>
      </p:sp>
      <p:sp>
        <p:nvSpPr>
          <p:cNvPr id="3" name="Content Placeholder 2"/>
          <p:cNvSpPr>
            <a:spLocks noGrp="1"/>
          </p:cNvSpPr>
          <p:nvPr>
            <p:ph idx="1"/>
          </p:nvPr>
        </p:nvSpPr>
        <p:spPr bwMode="auto"/>
        <p:txBody>
          <a:bodyPr/>
          <a:lstStyle/>
          <a:p>
            <a:pPr>
              <a:defRPr/>
            </a:pPr>
            <a:r>
              <a:rPr lang="en-US"/>
              <a:t>Several Types of attributes occur in the ER Model</a:t>
            </a:r>
            <a:endParaRPr/>
          </a:p>
          <a:p>
            <a:pPr lvl="1">
              <a:defRPr/>
            </a:pPr>
            <a:r>
              <a:rPr lang="en-US"/>
              <a:t>Simple versus composite attributes</a:t>
            </a:r>
            <a:endParaRPr/>
          </a:p>
          <a:p>
            <a:pPr lvl="1">
              <a:defRPr/>
            </a:pPr>
            <a:r>
              <a:rPr lang="en-US"/>
              <a:t>Single valued versus multivalued attributes</a:t>
            </a:r>
            <a:endParaRPr/>
          </a:p>
          <a:p>
            <a:pPr lvl="1">
              <a:defRPr/>
            </a:pPr>
            <a:r>
              <a:rPr lang="en-US"/>
              <a:t>Stored versus derived attribute</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Simple (Atomic) vs. Composite Attributes</a:t>
            </a:r>
            <a:endParaRPr/>
          </a:p>
        </p:txBody>
      </p:sp>
      <p:sp>
        <p:nvSpPr>
          <p:cNvPr id="3" name="Content Placeholder 2"/>
          <p:cNvSpPr>
            <a:spLocks noGrp="1"/>
          </p:cNvSpPr>
          <p:nvPr>
            <p:ph idx="1"/>
          </p:nvPr>
        </p:nvSpPr>
        <p:spPr bwMode="auto"/>
        <p:txBody>
          <a:bodyPr>
            <a:normAutofit fontScale="92500"/>
          </a:bodyPr>
          <a:lstStyle/>
          <a:p>
            <a:pPr>
              <a:defRPr/>
            </a:pPr>
            <a:r>
              <a:rPr lang="en-US"/>
              <a:t>Composite attributes can be divided into smaller subparts that represent more basic attributes with independent meanings.</a:t>
            </a:r>
            <a:endParaRPr/>
          </a:p>
          <a:p>
            <a:pPr lvl="1">
              <a:defRPr/>
            </a:pPr>
            <a:r>
              <a:rPr lang="en-US"/>
              <a:t>Example: Address → Street_address, City, Province, Postal_Code</a:t>
            </a:r>
          </a:p>
          <a:p>
            <a:pPr lvl="1">
              <a:defRPr/>
            </a:pPr>
            <a:r>
              <a:rPr lang="en-US"/>
              <a:t>Values: ‘120 Tinkune Road’, ‘Kathmandu’, ‘Bagmati Province’, ‘44600’</a:t>
            </a:r>
            <a:endParaRPr/>
          </a:p>
          <a:p>
            <a:pPr>
              <a:defRPr/>
            </a:pPr>
            <a:r>
              <a:rPr lang="en-US"/>
              <a:t>Simple (Atomic) attributes cannot be divided further.</a:t>
            </a:r>
            <a:endParaRPr/>
          </a:p>
          <a:p>
            <a:pPr>
              <a:defRPr/>
            </a:pPr>
            <a:r>
              <a:rPr lang="en-US"/>
              <a:t>Example: Postal_Code is a simple attribute.</a:t>
            </a:r>
            <a:endParaRPr/>
          </a:p>
          <a:p>
            <a:pPr>
              <a:defRPr/>
            </a:pPr>
            <a:r>
              <a:rPr lang="en-US"/>
              <a:t>Composite attributes can form a hierarchy.</a:t>
            </a:r>
            <a:endParaRPr/>
          </a:p>
          <a:p>
            <a:pPr>
              <a:defRPr/>
            </a:pPr>
            <a:r>
              <a:rPr lang="en-US"/>
              <a:t>If the attribute is </a:t>
            </a:r>
            <a:r>
              <a:rPr lang="en-US" b="1"/>
              <a:t>only used as a whole</a:t>
            </a:r>
            <a:r>
              <a:rPr lang="en-US"/>
              <a:t>, there is </a:t>
            </a:r>
            <a:r>
              <a:rPr lang="en-US" b="1"/>
              <a:t>no need to subdivide</a:t>
            </a:r>
            <a:r>
              <a:rPr lang="en-US"/>
              <a:t> it.</a:t>
            </a:r>
            <a:endParaRPr/>
          </a:p>
          <a:p>
            <a:pPr lvl="1">
              <a:defRPr/>
            </a:pPr>
            <a:r>
              <a:rPr lang="en-US"/>
              <a:t>Example: Address can remain a simple attribute if its parts are not referenced separately.</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Single-Valued vs. Multivalued Attributes</a:t>
            </a:r>
            <a:endParaRPr/>
          </a:p>
        </p:txBody>
      </p:sp>
      <p:sp>
        <p:nvSpPr>
          <p:cNvPr id="3" name="Content Placeholder 2"/>
          <p:cNvSpPr>
            <a:spLocks noGrp="1"/>
          </p:cNvSpPr>
          <p:nvPr>
            <p:ph idx="1"/>
          </p:nvPr>
        </p:nvSpPr>
        <p:spPr bwMode="auto"/>
        <p:txBody>
          <a:bodyPr>
            <a:normAutofit fontScale="92500" lnSpcReduction="10000"/>
          </a:bodyPr>
          <a:lstStyle/>
          <a:p>
            <a:pPr>
              <a:defRPr/>
            </a:pPr>
            <a:r>
              <a:rPr lang="en-US"/>
              <a:t>Single-valued attributes have only one value for a particular entity.</a:t>
            </a:r>
            <a:endParaRPr/>
          </a:p>
          <a:p>
            <a:pPr lvl="1">
              <a:defRPr/>
            </a:pPr>
            <a:r>
              <a:rPr lang="en-US"/>
              <a:t>Example: Age of a person → one value only (e.g., 25 years).</a:t>
            </a:r>
            <a:endParaRPr/>
          </a:p>
          <a:p>
            <a:pPr marL="457200" lvl="1" indent="0">
              <a:buNone/>
              <a:defRPr/>
            </a:pPr>
            <a:endParaRPr lang="en-US"/>
          </a:p>
          <a:p>
            <a:pPr>
              <a:defRPr/>
            </a:pPr>
            <a:r>
              <a:rPr lang="en-US"/>
              <a:t>Multivalued attributes can have multiple values for the same entity.</a:t>
            </a:r>
            <a:endParaRPr/>
          </a:p>
          <a:p>
            <a:pPr lvl="1">
              <a:defRPr/>
            </a:pPr>
            <a:r>
              <a:rPr lang="en-US"/>
              <a:t>Examples: Colors attribute of a car → Red, White</a:t>
            </a:r>
            <a:endParaRPr/>
          </a:p>
          <a:p>
            <a:pPr lvl="1">
              <a:defRPr/>
            </a:pPr>
            <a:r>
              <a:rPr lang="en-US"/>
              <a:t>College_Degrees attribute of a person → BBA, MBA</a:t>
            </a:r>
            <a:endParaRPr/>
          </a:p>
          <a:p>
            <a:pPr>
              <a:defRPr/>
            </a:pPr>
            <a:r>
              <a:rPr lang="en-US"/>
              <a:t>Different entities may have different numbers of values for a multivalued attribute.</a:t>
            </a:r>
            <a:endParaRPr/>
          </a:p>
          <a:p>
            <a:pPr lvl="1">
              <a:defRPr/>
            </a:pPr>
            <a:r>
              <a:rPr lang="en-US"/>
              <a:t>Example:</a:t>
            </a:r>
            <a:endParaRPr/>
          </a:p>
          <a:p>
            <a:pPr lvl="2">
              <a:defRPr/>
            </a:pPr>
            <a:r>
              <a:rPr lang="en-US"/>
              <a:t>One person → no degree</a:t>
            </a:r>
            <a:endParaRPr/>
          </a:p>
          <a:p>
            <a:pPr lvl="2">
              <a:defRPr/>
            </a:pPr>
            <a:r>
              <a:rPr lang="en-US"/>
              <a:t>Another → one degree (BSc)</a:t>
            </a:r>
            <a:endParaRPr/>
          </a:p>
          <a:p>
            <a:pPr lvl="2">
              <a:defRPr/>
            </a:pPr>
            <a:r>
              <a:rPr lang="en-US"/>
              <a:t>Another → multiple degrees (BSc, MSc)</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Stored vs. Derived Attributes</a:t>
            </a:r>
            <a:endParaRPr/>
          </a:p>
        </p:txBody>
      </p:sp>
      <p:sp>
        <p:nvSpPr>
          <p:cNvPr id="3" name="Content Placeholder 2"/>
          <p:cNvSpPr>
            <a:spLocks noGrp="1"/>
          </p:cNvSpPr>
          <p:nvPr>
            <p:ph idx="1"/>
          </p:nvPr>
        </p:nvSpPr>
        <p:spPr bwMode="auto"/>
        <p:txBody>
          <a:bodyPr/>
          <a:lstStyle/>
          <a:p>
            <a:pPr>
              <a:defRPr/>
            </a:pPr>
            <a:r>
              <a:rPr lang="en-US"/>
              <a:t>Stored attributes are those whose values are physically saved in the database.</a:t>
            </a:r>
            <a:endParaRPr/>
          </a:p>
          <a:p>
            <a:pPr>
              <a:defRPr/>
            </a:pPr>
            <a:r>
              <a:rPr lang="en-US"/>
              <a:t>Example: </a:t>
            </a:r>
            <a:endParaRPr/>
          </a:p>
          <a:p>
            <a:pPr lvl="1">
              <a:defRPr/>
            </a:pPr>
            <a:r>
              <a:rPr lang="en-US"/>
              <a:t>Birth_Date of a person → stored directly.</a:t>
            </a:r>
            <a:endParaRPr/>
          </a:p>
          <a:p>
            <a:pPr marL="0" indent="0">
              <a:buNone/>
              <a:defRPr/>
            </a:pPr>
            <a:endParaRPr lang="en-US"/>
          </a:p>
          <a:p>
            <a:pPr>
              <a:defRPr/>
            </a:pPr>
            <a:r>
              <a:rPr lang="en-US"/>
              <a:t>Derived attributes are calculated or derived from other attributes or related entities.</a:t>
            </a:r>
            <a:endParaRPr/>
          </a:p>
          <a:p>
            <a:pPr>
              <a:defRPr/>
            </a:pPr>
            <a:r>
              <a:rPr lang="en-US"/>
              <a:t>Example: </a:t>
            </a:r>
            <a:endParaRPr/>
          </a:p>
          <a:p>
            <a:pPr lvl="1">
              <a:defRPr/>
            </a:pPr>
            <a:r>
              <a:rPr lang="en-US"/>
              <a:t>Age can be derived from the Birth_Date and the current date.</a:t>
            </a:r>
            <a:endParaRPr/>
          </a:p>
          <a:p>
            <a:pPr>
              <a:defRPr/>
            </a:pPr>
            <a:endParaRPr lang="en-US"/>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NULL Values</a:t>
            </a:r>
            <a:endParaRPr/>
          </a:p>
        </p:txBody>
      </p:sp>
      <p:sp>
        <p:nvSpPr>
          <p:cNvPr id="3" name="Content Placeholder 2"/>
          <p:cNvSpPr>
            <a:spLocks noGrp="1"/>
          </p:cNvSpPr>
          <p:nvPr>
            <p:ph idx="1"/>
          </p:nvPr>
        </p:nvSpPr>
        <p:spPr bwMode="auto"/>
        <p:txBody>
          <a:bodyPr/>
          <a:lstStyle/>
          <a:p>
            <a:pPr>
              <a:defRPr/>
            </a:pPr>
            <a:r>
              <a:rPr lang="en-US"/>
              <a:t>Sometimes an entity may not have an applicable value for an attribute.</a:t>
            </a:r>
            <a:endParaRPr/>
          </a:p>
          <a:p>
            <a:pPr lvl="1">
              <a:defRPr/>
            </a:pPr>
            <a:r>
              <a:rPr lang="en-US"/>
              <a:t>Example: Apartment_Number applies only to apartment addresses, not to single houses.</a:t>
            </a:r>
            <a:endParaRPr/>
          </a:p>
          <a:p>
            <a:pPr>
              <a:defRPr/>
            </a:pPr>
            <a:r>
              <a:rPr lang="en-US"/>
              <a:t>A special value called </a:t>
            </a:r>
            <a:r>
              <a:rPr lang="en-US" b="1"/>
              <a:t>NULL</a:t>
            </a:r>
            <a:r>
              <a:rPr lang="en-US"/>
              <a:t> is used in such cases.</a:t>
            </a:r>
            <a:endParaRPr/>
          </a:p>
          <a:p>
            <a:pPr lvl="1">
              <a:defRPr/>
            </a:pPr>
            <a:r>
              <a:rPr lang="en-US"/>
              <a:t>Example:</a:t>
            </a:r>
            <a:endParaRPr/>
          </a:p>
          <a:p>
            <a:pPr lvl="1">
              <a:defRPr/>
            </a:pPr>
            <a:r>
              <a:rPr lang="en-US"/>
              <a:t>A single-family house → Apartment_Number = NULL</a:t>
            </a:r>
            <a:endParaRPr/>
          </a:p>
          <a:p>
            <a:pPr lvl="1">
              <a:defRPr/>
            </a:pPr>
            <a:r>
              <a:rPr lang="en-US"/>
              <a:t>A person without a degree → College_Degrees = NULL</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Complex Attributes</a:t>
            </a:r>
            <a:endParaRPr/>
          </a:p>
        </p:txBody>
      </p:sp>
      <p:sp>
        <p:nvSpPr>
          <p:cNvPr id="3" name="Content Placeholder 2"/>
          <p:cNvSpPr>
            <a:spLocks noGrp="1"/>
          </p:cNvSpPr>
          <p:nvPr>
            <p:ph idx="1"/>
          </p:nvPr>
        </p:nvSpPr>
        <p:spPr bwMode="auto"/>
        <p:txBody>
          <a:bodyPr>
            <a:normAutofit fontScale="92500"/>
          </a:bodyPr>
          <a:lstStyle/>
          <a:p>
            <a:pPr>
              <a:defRPr/>
            </a:pPr>
            <a:r>
              <a:rPr lang="en-US"/>
              <a:t>Complex attributes are combinations of composite and multivalued attributes.</a:t>
            </a:r>
            <a:endParaRPr/>
          </a:p>
          <a:p>
            <a:pPr>
              <a:defRPr/>
            </a:pPr>
            <a:r>
              <a:rPr lang="en-US"/>
              <a:t>They can include multiple components and multiple values at the same time.</a:t>
            </a:r>
            <a:endParaRPr/>
          </a:p>
          <a:p>
            <a:pPr>
              <a:defRPr/>
            </a:pPr>
            <a:r>
              <a:rPr lang="en-US"/>
              <a:t>They are used when an attribute has several layers of structure or repeated groups of data.</a:t>
            </a:r>
            <a:endParaRPr/>
          </a:p>
          <a:p>
            <a:pPr>
              <a:defRPr/>
            </a:pPr>
            <a:r>
              <a:rPr lang="en-US"/>
              <a:t>Example:</a:t>
            </a:r>
            <a:endParaRPr/>
          </a:p>
          <a:p>
            <a:pPr lvl="1">
              <a:defRPr/>
            </a:pPr>
            <a:r>
              <a:rPr lang="en-US"/>
              <a:t>An Address attribute that stores multiple addresses (home, office) for a person. Each address can have components such as Street, City, Province, and Postal_Code.</a:t>
            </a:r>
            <a:endParaRPr/>
          </a:p>
          <a:p>
            <a:pPr lvl="1">
              <a:defRPr/>
            </a:pPr>
            <a:r>
              <a:rPr lang="en-US"/>
              <a:t>Thus, Address is both multivalued (many addresses) and composite (each address has subparts).</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Value Sets (Domains) of Attributes</a:t>
            </a:r>
            <a:endParaRPr/>
          </a:p>
        </p:txBody>
      </p:sp>
      <p:sp>
        <p:nvSpPr>
          <p:cNvPr id="3" name="Content Placeholder 2"/>
          <p:cNvSpPr>
            <a:spLocks noGrp="1"/>
          </p:cNvSpPr>
          <p:nvPr>
            <p:ph idx="1"/>
          </p:nvPr>
        </p:nvSpPr>
        <p:spPr bwMode="auto"/>
        <p:txBody>
          <a:bodyPr/>
          <a:lstStyle/>
          <a:p>
            <a:pPr>
              <a:defRPr/>
            </a:pPr>
            <a:r>
              <a:rPr lang="en-US"/>
              <a:t>Every simple attribute of an entity type is associated with a value set (domain).</a:t>
            </a:r>
            <a:endParaRPr/>
          </a:p>
          <a:p>
            <a:pPr>
              <a:defRPr/>
            </a:pPr>
            <a:r>
              <a:rPr lang="en-US"/>
              <a:t>A value set defines the range or type of values that can be assigned to an attribute.</a:t>
            </a:r>
            <a:endParaRPr/>
          </a:p>
          <a:p>
            <a:pPr>
              <a:defRPr/>
            </a:pPr>
            <a:r>
              <a:rPr lang="en-US"/>
              <a:t>Example:</a:t>
            </a:r>
            <a:endParaRPr/>
          </a:p>
          <a:p>
            <a:pPr lvl="1">
              <a:defRPr/>
            </a:pPr>
            <a:r>
              <a:rPr lang="en-US"/>
              <a:t>For EMPLOYEE.Age → integers between 16 and 70.</a:t>
            </a:r>
            <a:endParaRPr/>
          </a:p>
          <a:p>
            <a:pPr lvl="1">
              <a:defRPr/>
            </a:pPr>
            <a:r>
              <a:rPr lang="en-US"/>
              <a:t>For EMPLOYEE.Name → alphabetic strings separated by spaces (e.g., “Sita Sharma”).</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Relationships Among Entity Types</a:t>
            </a:r>
            <a:endParaRPr/>
          </a:p>
        </p:txBody>
      </p:sp>
      <p:sp>
        <p:nvSpPr>
          <p:cNvPr id="3" name="Content Placeholder 2"/>
          <p:cNvSpPr>
            <a:spLocks noGrp="1"/>
          </p:cNvSpPr>
          <p:nvPr>
            <p:ph idx="1"/>
          </p:nvPr>
        </p:nvSpPr>
        <p:spPr bwMode="auto"/>
        <p:txBody>
          <a:bodyPr/>
          <a:lstStyle/>
          <a:p>
            <a:pPr>
              <a:defRPr/>
            </a:pPr>
            <a:r>
              <a:rPr lang="en-US"/>
              <a:t>When an attribute of one entity type refers to another entity type, an implicit relationship exists.</a:t>
            </a:r>
            <a:endParaRPr/>
          </a:p>
          <a:p>
            <a:pPr>
              <a:defRPr/>
            </a:pPr>
            <a:r>
              <a:rPr lang="en-US"/>
              <a:t>In the ER Model, such references should be represented as relationships, not attributes.</a:t>
            </a:r>
            <a:endParaRPr/>
          </a:p>
          <a:p>
            <a:pPr>
              <a:defRPr/>
            </a:pPr>
            <a:r>
              <a:rPr lang="en-US"/>
              <a:t>For Example: An Employee works in a Department </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Relationship Types</a:t>
            </a:r>
            <a:endParaRPr/>
          </a:p>
        </p:txBody>
      </p:sp>
      <p:sp>
        <p:nvSpPr>
          <p:cNvPr id="3" name="Content Placeholder 2"/>
          <p:cNvSpPr>
            <a:spLocks noGrp="1"/>
          </p:cNvSpPr>
          <p:nvPr>
            <p:ph idx="1"/>
          </p:nvPr>
        </p:nvSpPr>
        <p:spPr bwMode="auto"/>
        <p:txBody>
          <a:bodyPr>
            <a:normAutofit fontScale="92500" lnSpcReduction="10000"/>
          </a:bodyPr>
          <a:lstStyle/>
          <a:p>
            <a:pPr>
              <a:defRPr/>
            </a:pPr>
            <a:r>
              <a:rPr lang="en-US"/>
              <a:t>A relationship type defines a set of associations among entity types in an Entity–Relationship (ER) model.</a:t>
            </a:r>
            <a:endParaRPr/>
          </a:p>
          <a:p>
            <a:pPr>
              <a:defRPr/>
            </a:pPr>
            <a:r>
              <a:rPr lang="en-US"/>
              <a:t>It describes how entities from one or more entity sets are related to each other.</a:t>
            </a:r>
            <a:endParaRPr/>
          </a:p>
          <a:p>
            <a:pPr>
              <a:defRPr/>
            </a:pPr>
            <a:r>
              <a:rPr lang="en-US"/>
              <a:t>Definition: </a:t>
            </a:r>
            <a:endParaRPr/>
          </a:p>
          <a:p>
            <a:pPr>
              <a:defRPr/>
            </a:pPr>
            <a:r>
              <a:rPr lang="en-US"/>
              <a:t>A relationship type R among n entity types E</a:t>
            </a:r>
            <a:r>
              <a:rPr lang="en-US" baseline="-25000"/>
              <a:t>1</a:t>
            </a:r>
            <a:r>
              <a:rPr lang="en-US"/>
              <a:t>,E</a:t>
            </a:r>
            <a:r>
              <a:rPr lang="en-US" baseline="-25000"/>
              <a:t>2</a:t>
            </a:r>
            <a:r>
              <a:rPr lang="en-US"/>
              <a:t>,…,E</a:t>
            </a:r>
            <a:r>
              <a:rPr lang="en-US" baseline="-25000"/>
              <a:t>n</a:t>
            </a:r>
            <a:r>
              <a:rPr lang="en-US"/>
              <a:t> defines a set of associations or relationships r</a:t>
            </a:r>
            <a:r>
              <a:rPr lang="en-US" baseline="-25000"/>
              <a:t>i </a:t>
            </a:r>
            <a:r>
              <a:rPr lang="en-US"/>
              <a:t>involving entities e</a:t>
            </a:r>
            <a:r>
              <a:rPr lang="en-US" baseline="-25000"/>
              <a:t>1</a:t>
            </a:r>
            <a:r>
              <a:rPr lang="en-US"/>
              <a:t>∈E</a:t>
            </a:r>
            <a:r>
              <a:rPr lang="en-US" baseline="-25000"/>
              <a:t>1</a:t>
            </a:r>
            <a:r>
              <a:rPr lang="en-US"/>
              <a:t>,e</a:t>
            </a:r>
            <a:r>
              <a:rPr lang="en-US" baseline="-25000"/>
              <a:t>2</a:t>
            </a:r>
            <a:r>
              <a:rPr lang="en-US"/>
              <a:t>∈E</a:t>
            </a:r>
            <a:r>
              <a:rPr lang="en-US" baseline="-25000"/>
              <a:t>2</a:t>
            </a:r>
            <a:r>
              <a:rPr lang="en-US"/>
              <a:t>,…,e</a:t>
            </a:r>
            <a:r>
              <a:rPr lang="en-US" baseline="-25000"/>
              <a:t>n</a:t>
            </a:r>
            <a:r>
              <a:rPr lang="en-US"/>
              <a:t>∈E</a:t>
            </a:r>
            <a:r>
              <a:rPr lang="en-US" baseline="-25000"/>
              <a:t>n</a:t>
            </a:r>
          </a:p>
          <a:p>
            <a:pPr>
              <a:defRPr/>
            </a:pPr>
            <a:r>
              <a:rPr lang="en-US"/>
              <a:t>Example Consider two entity types: </a:t>
            </a:r>
            <a:endParaRPr/>
          </a:p>
          <a:p>
            <a:pPr lvl="1">
              <a:defRPr/>
            </a:pPr>
            <a:r>
              <a:rPr lang="en-US"/>
              <a:t>STUDENT(Student_ID, Name, Major) </a:t>
            </a:r>
            <a:endParaRPr/>
          </a:p>
          <a:p>
            <a:pPr lvl="1">
              <a:defRPr/>
            </a:pPr>
            <a:r>
              <a:rPr lang="en-US"/>
              <a:t>COURSE(Course_ID, Title, Credits)</a:t>
            </a:r>
            <a:endParaRPr/>
          </a:p>
          <a:p>
            <a:pPr lvl="1">
              <a:defRPr/>
            </a:pPr>
            <a:r>
              <a:rPr lang="en-US"/>
              <a:t>We can define a relationship type: ENROLLS(Student, Course)</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Degree of Relationship</a:t>
            </a:r>
            <a:endParaRPr/>
          </a:p>
        </p:txBody>
      </p:sp>
      <p:sp>
        <p:nvSpPr>
          <p:cNvPr id="3" name="Content Placeholder 2"/>
          <p:cNvSpPr>
            <a:spLocks noGrp="1"/>
          </p:cNvSpPr>
          <p:nvPr>
            <p:ph idx="1"/>
          </p:nvPr>
        </p:nvSpPr>
        <p:spPr bwMode="auto"/>
        <p:txBody>
          <a:bodyPr>
            <a:normAutofit/>
          </a:bodyPr>
          <a:lstStyle/>
          <a:p>
            <a:pPr>
              <a:defRPr/>
            </a:pPr>
            <a:r>
              <a:rPr lang="en-US"/>
              <a:t>The degree of a relationship type refers to the number of entity types that participate in that relationship.</a:t>
            </a:r>
            <a:endParaRPr/>
          </a:p>
          <a:p>
            <a:pPr>
              <a:defRPr/>
            </a:pPr>
            <a:r>
              <a:rPr lang="en-US"/>
              <a:t>It indicates how many entity sets are connected by the relationship.</a:t>
            </a:r>
            <a:endParaRPr/>
          </a:p>
          <a:p>
            <a:pPr>
              <a:defRPr/>
            </a:pPr>
            <a:r>
              <a:rPr lang="en-US"/>
              <a:t>we have 4 degrees of relationships.</a:t>
            </a:r>
            <a:endParaRPr/>
          </a:p>
          <a:p>
            <a:pPr lvl="1">
              <a:defRPr/>
            </a:pPr>
            <a:r>
              <a:rPr lang="en-US"/>
              <a:t>Unary</a:t>
            </a:r>
            <a:endParaRPr/>
          </a:p>
          <a:p>
            <a:pPr lvl="1">
              <a:defRPr/>
            </a:pPr>
            <a:r>
              <a:rPr lang="en-US"/>
              <a:t>Binary</a:t>
            </a:r>
            <a:endParaRPr/>
          </a:p>
          <a:p>
            <a:pPr lvl="1">
              <a:defRPr/>
            </a:pPr>
            <a:r>
              <a:rPr lang="en-US"/>
              <a:t>Ternary</a:t>
            </a:r>
            <a:endParaRPr/>
          </a:p>
          <a:p>
            <a:pPr lvl="1">
              <a:defRPr/>
            </a:pPr>
            <a:r>
              <a:rPr lang="en-US"/>
              <a:t>N-ary</a:t>
            </a: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Unary Relationship</a:t>
            </a:r>
            <a:endParaRPr/>
          </a:p>
        </p:txBody>
      </p:sp>
      <p:pic>
        <p:nvPicPr>
          <p:cNvPr id="7" name="Content Placeholder 6"/>
          <p:cNvPicPr>
            <a:picLocks noGrp="1" noChangeAspect="1"/>
          </p:cNvPicPr>
          <p:nvPr>
            <p:ph sz="half" idx="1"/>
          </p:nvPr>
        </p:nvPicPr>
        <p:blipFill>
          <a:blip r:embed="rId3"/>
          <a:stretch/>
        </p:blipFill>
        <p:spPr bwMode="auto">
          <a:xfrm>
            <a:off x="838200" y="2431347"/>
            <a:ext cx="5181600" cy="3139894"/>
          </a:xfrm>
        </p:spPr>
      </p:pic>
      <p:sp>
        <p:nvSpPr>
          <p:cNvPr id="8" name="Content Placeholder 7"/>
          <p:cNvSpPr>
            <a:spLocks noGrp="1"/>
          </p:cNvSpPr>
          <p:nvPr>
            <p:ph sz="half" idx="2"/>
          </p:nvPr>
        </p:nvSpPr>
        <p:spPr bwMode="auto"/>
        <p:txBody>
          <a:bodyPr>
            <a:normAutofit/>
          </a:bodyPr>
          <a:lstStyle/>
          <a:p>
            <a:pPr>
              <a:defRPr/>
            </a:pPr>
            <a:r>
              <a:rPr lang="en-US"/>
              <a:t>A relationship involving only one entity type.</a:t>
            </a:r>
            <a:endParaRPr/>
          </a:p>
          <a:p>
            <a:pPr lvl="1">
              <a:defRPr/>
            </a:pPr>
            <a:r>
              <a:rPr lang="en-US"/>
              <a:t>Example: MANAGES(Employee, Employee)</a:t>
            </a:r>
            <a:endParaRPr/>
          </a:p>
          <a:p>
            <a:pPr lvl="1">
              <a:defRPr/>
            </a:pPr>
            <a:r>
              <a:rPr lang="en-US"/>
              <a:t>One employee manages another employee.</a:t>
            </a:r>
            <a:endParaRPr/>
          </a:p>
          <a:p>
            <a:pPr lvl="1">
              <a:defRPr/>
            </a:pPr>
            <a:r>
              <a:rPr lang="en-US"/>
              <a:t>Both entities belong to the Employee entity set.</a:t>
            </a:r>
            <a:endParaRPr/>
          </a:p>
          <a:p>
            <a:pPr>
              <a:defRPr/>
            </a:pPr>
            <a:r>
              <a:rPr lang="en-US"/>
              <a:t>It expresses a relationship within the same entity set.</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Binary Relationship</a:t>
            </a:r>
            <a:endParaRPr/>
          </a:p>
        </p:txBody>
      </p:sp>
      <p:pic>
        <p:nvPicPr>
          <p:cNvPr id="8" name="Content Placeholder 7"/>
          <p:cNvPicPr>
            <a:picLocks noGrp="1" noChangeAspect="1"/>
          </p:cNvPicPr>
          <p:nvPr>
            <p:ph sz="half" idx="1"/>
          </p:nvPr>
        </p:nvPicPr>
        <p:blipFill>
          <a:blip r:embed="rId3"/>
          <a:stretch/>
        </p:blipFill>
        <p:spPr bwMode="auto">
          <a:xfrm>
            <a:off x="838200" y="3470616"/>
            <a:ext cx="5181600" cy="1061356"/>
          </a:xfrm>
        </p:spPr>
      </p:pic>
      <p:sp>
        <p:nvSpPr>
          <p:cNvPr id="4" name="Content Placeholder 3"/>
          <p:cNvSpPr>
            <a:spLocks noGrp="1"/>
          </p:cNvSpPr>
          <p:nvPr>
            <p:ph sz="half" idx="2"/>
          </p:nvPr>
        </p:nvSpPr>
        <p:spPr bwMode="auto"/>
        <p:txBody>
          <a:bodyPr>
            <a:normAutofit fontScale="92500"/>
          </a:bodyPr>
          <a:lstStyle/>
          <a:p>
            <a:pPr>
              <a:defRPr/>
            </a:pPr>
            <a:r>
              <a:rPr lang="en-US"/>
              <a:t>A relationship between two entity types — the most common case in database modeling.</a:t>
            </a:r>
            <a:endParaRPr/>
          </a:p>
          <a:p>
            <a:pPr lvl="1">
              <a:defRPr/>
            </a:pPr>
            <a:r>
              <a:rPr lang="en-US"/>
              <a:t>Example WORKS_FOR(Employee, Department)</a:t>
            </a:r>
            <a:endParaRPr/>
          </a:p>
          <a:p>
            <a:pPr lvl="1">
              <a:defRPr/>
            </a:pPr>
            <a:r>
              <a:rPr lang="en-US"/>
              <a:t>Each employee works for one department.</a:t>
            </a:r>
            <a:endParaRPr/>
          </a:p>
          <a:p>
            <a:pPr lvl="1">
              <a:defRPr/>
            </a:pPr>
            <a:r>
              <a:rPr lang="en-US"/>
              <a:t>The relationship connects the Employee and Department entity sets.</a:t>
            </a:r>
            <a:endParaRPr/>
          </a:p>
          <a:p>
            <a:pPr>
              <a:defRPr/>
            </a:pPr>
            <a:r>
              <a:rPr lang="en-US"/>
              <a:t>Most relationships in real-world systems are binary.</a:t>
            </a:r>
            <a:endParaRPr/>
          </a:p>
        </p:txBody>
      </p:sp>
      <p:sp>
        <p:nvSpPr>
          <p:cNvPr id="5" name="Date Placeholder 4"/>
          <p:cNvSpPr>
            <a:spLocks noGrp="1"/>
          </p:cNvSpPr>
          <p:nvPr>
            <p:ph type="dt" sz="half" idx="10"/>
          </p:nvPr>
        </p:nvSpPr>
        <p:spPr bwMode="auto"/>
        <p:txBody>
          <a:bodyPr/>
          <a:lstStyle/>
          <a:p>
            <a:pPr>
              <a:defRPr/>
            </a:pPr>
            <a:fld id="{E731F704-C17D-48F6-86A1-AB522E8509AD}" type="datetime1">
              <a:rPr lang="en-US"/>
              <a:t>11/17/2025</a:t>
            </a:fld>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Ternary Relationship</a:t>
            </a:r>
            <a:endParaRPr/>
          </a:p>
        </p:txBody>
      </p:sp>
      <p:pic>
        <p:nvPicPr>
          <p:cNvPr id="8" name="Content Placeholder 7"/>
          <p:cNvPicPr>
            <a:picLocks noGrp="1" noChangeAspect="1"/>
          </p:cNvPicPr>
          <p:nvPr>
            <p:ph sz="half" idx="1"/>
          </p:nvPr>
        </p:nvPicPr>
        <p:blipFill>
          <a:blip r:embed="rId3"/>
          <a:stretch/>
        </p:blipFill>
        <p:spPr bwMode="auto">
          <a:xfrm>
            <a:off x="135110" y="2518966"/>
            <a:ext cx="6283150" cy="1943306"/>
          </a:xfrm>
        </p:spPr>
      </p:pic>
      <p:sp>
        <p:nvSpPr>
          <p:cNvPr id="4" name="Content Placeholder 3"/>
          <p:cNvSpPr>
            <a:spLocks noGrp="1"/>
          </p:cNvSpPr>
          <p:nvPr>
            <p:ph sz="half" idx="2"/>
          </p:nvPr>
        </p:nvSpPr>
        <p:spPr bwMode="auto"/>
        <p:txBody>
          <a:bodyPr/>
          <a:lstStyle/>
          <a:p>
            <a:pPr>
              <a:defRPr/>
            </a:pPr>
            <a:r>
              <a:rPr lang="en-US"/>
              <a:t>A relationship involving three entity types.</a:t>
            </a:r>
            <a:endParaRPr/>
          </a:p>
          <a:p>
            <a:pPr lvl="1">
              <a:defRPr/>
            </a:pPr>
            <a:r>
              <a:rPr lang="en-US"/>
              <a:t>Examples Works In(Employee, Department, Office)</a:t>
            </a:r>
            <a:endParaRPr/>
          </a:p>
          <a:p>
            <a:pPr lvl="1">
              <a:defRPr/>
            </a:pPr>
            <a:r>
              <a:rPr lang="en-US"/>
              <a:t>An employee works in an office, but the employee should be working in a specific department. </a:t>
            </a:r>
            <a:endParaRPr/>
          </a:p>
          <a:p>
            <a:pPr lvl="1">
              <a:defRPr/>
            </a:pPr>
            <a:r>
              <a:rPr lang="en-US"/>
              <a:t>So, the employee works in a department in an office.</a:t>
            </a:r>
            <a:endParaRPr/>
          </a:p>
        </p:txBody>
      </p:sp>
      <p:sp>
        <p:nvSpPr>
          <p:cNvPr id="5" name="Date Placeholder 4"/>
          <p:cNvSpPr>
            <a:spLocks noGrp="1"/>
          </p:cNvSpPr>
          <p:nvPr>
            <p:ph type="dt" sz="half" idx="10"/>
          </p:nvPr>
        </p:nvSpPr>
        <p:spPr bwMode="auto"/>
        <p:txBody>
          <a:bodyPr/>
          <a:lstStyle/>
          <a:p>
            <a:pPr>
              <a:defRPr/>
            </a:pPr>
            <a:fld id="{E731F704-C17D-48F6-86A1-AB522E8509AD}" type="datetime1">
              <a:rPr lang="en-US"/>
              <a:t>11/17/2025</a:t>
            </a:fld>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N-ary Relationship</a:t>
            </a:r>
            <a:endParaRPr/>
          </a:p>
        </p:txBody>
      </p:sp>
      <p:pic>
        <p:nvPicPr>
          <p:cNvPr id="8" name="Content Placeholder 7"/>
          <p:cNvPicPr>
            <a:picLocks noGrp="1" noChangeAspect="1"/>
          </p:cNvPicPr>
          <p:nvPr>
            <p:ph sz="half" idx="1"/>
          </p:nvPr>
        </p:nvPicPr>
        <p:blipFill>
          <a:blip r:embed="rId3"/>
          <a:stretch/>
        </p:blipFill>
        <p:spPr bwMode="auto">
          <a:xfrm>
            <a:off x="353568" y="2186320"/>
            <a:ext cx="5831656" cy="2797160"/>
          </a:xfrm>
        </p:spPr>
      </p:pic>
      <p:sp>
        <p:nvSpPr>
          <p:cNvPr id="4" name="Content Placeholder 3"/>
          <p:cNvSpPr>
            <a:spLocks noGrp="1"/>
          </p:cNvSpPr>
          <p:nvPr>
            <p:ph sz="half" idx="2"/>
          </p:nvPr>
        </p:nvSpPr>
        <p:spPr bwMode="auto"/>
        <p:txBody>
          <a:bodyPr>
            <a:normAutofit/>
          </a:bodyPr>
          <a:lstStyle/>
          <a:p>
            <a:pPr>
              <a:defRPr/>
            </a:pPr>
            <a:r>
              <a:rPr lang="en-US"/>
              <a:t>A general case where n entity sets participate.</a:t>
            </a:r>
            <a:endParaRPr/>
          </a:p>
          <a:p>
            <a:pPr>
              <a:defRPr/>
            </a:pPr>
            <a:r>
              <a:rPr lang="en-US"/>
              <a:t>Though possible, relationships beyond degree 3 are uncommon usually broken down into binary relationships for simplicity.</a:t>
            </a:r>
            <a:endParaRPr/>
          </a:p>
        </p:txBody>
      </p:sp>
      <p:sp>
        <p:nvSpPr>
          <p:cNvPr id="5" name="Date Placeholder 4"/>
          <p:cNvSpPr>
            <a:spLocks noGrp="1"/>
          </p:cNvSpPr>
          <p:nvPr>
            <p:ph type="dt" sz="half" idx="10"/>
          </p:nvPr>
        </p:nvSpPr>
        <p:spPr bwMode="auto"/>
        <p:txBody>
          <a:bodyPr/>
          <a:lstStyle/>
          <a:p>
            <a:pPr>
              <a:defRPr/>
            </a:pPr>
            <a:fld id="{E731F704-C17D-48F6-86A1-AB522E8509AD}" type="datetime1">
              <a:rPr lang="en-US"/>
              <a:t>11/17/2025</a:t>
            </a:fld>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Title 6"/>
          <p:cNvSpPr>
            <a:spLocks noGrp="1"/>
          </p:cNvSpPr>
          <p:nvPr>
            <p:ph type="title"/>
          </p:nvPr>
        </p:nvSpPr>
        <p:spPr bwMode="auto"/>
        <p:txBody>
          <a:bodyPr/>
          <a:lstStyle/>
          <a:p>
            <a:pPr algn="ctr">
              <a:defRPr/>
            </a:pPr>
            <a:r>
              <a:rPr lang="en-US" b="1"/>
              <a:t>Cardinality Ration in ER Model</a:t>
            </a:r>
            <a:endParaRPr/>
          </a:p>
        </p:txBody>
      </p:sp>
      <p:sp>
        <p:nvSpPr>
          <p:cNvPr id="8" name="Content Placeholder 7"/>
          <p:cNvSpPr>
            <a:spLocks noGrp="1"/>
          </p:cNvSpPr>
          <p:nvPr>
            <p:ph idx="1"/>
          </p:nvPr>
        </p:nvSpPr>
        <p:spPr bwMode="auto"/>
        <p:txBody>
          <a:bodyPr/>
          <a:lstStyle/>
          <a:p>
            <a:pPr>
              <a:defRPr/>
            </a:pPr>
            <a:r>
              <a:rPr lang="en-US"/>
              <a:t>Cardinality in an Entity-Relationship (ER) model refers to the numerical relationship between entities—specifically, it defines how many instances of one entity can be associated with instances of another.</a:t>
            </a:r>
            <a:endParaRPr/>
          </a:p>
          <a:p>
            <a:pPr>
              <a:defRPr/>
            </a:pPr>
            <a:r>
              <a:rPr lang="en-US"/>
              <a:t>For Example: </a:t>
            </a:r>
            <a:endParaRPr/>
          </a:p>
          <a:p>
            <a:pPr lvl="1">
              <a:defRPr/>
            </a:pPr>
            <a:r>
              <a:rPr lang="en-US"/>
              <a:t>1 Person can have only one NID and one NID is associated with only one person</a:t>
            </a:r>
            <a:endParaRPr/>
          </a:p>
          <a:p>
            <a:pPr lvl="1">
              <a:defRPr/>
            </a:pPr>
            <a:r>
              <a:rPr lang="en-US"/>
              <a:t>1 Book can have multiple authors</a:t>
            </a:r>
            <a:endParaRPr/>
          </a:p>
          <a:p>
            <a:pPr lvl="1">
              <a:defRPr/>
            </a:pPr>
            <a:r>
              <a:rPr lang="en-US"/>
              <a:t>Multiple Student Can Enroll in Multiple Classes</a:t>
            </a:r>
            <a:endParaRPr/>
          </a:p>
        </p:txBody>
      </p:sp>
      <p:sp>
        <p:nvSpPr>
          <p:cNvPr id="5" name="Date Placeholder 4"/>
          <p:cNvSpPr>
            <a:spLocks noGrp="1"/>
          </p:cNvSpPr>
          <p:nvPr>
            <p:ph type="dt" sz="half" idx="10"/>
          </p:nvPr>
        </p:nvSpPr>
        <p:spPr bwMode="auto"/>
        <p:txBody>
          <a:bodyPr/>
          <a:lstStyle/>
          <a:p>
            <a:pPr>
              <a:defRPr/>
            </a:pPr>
            <a:fld id="{E731F704-C17D-48F6-86A1-AB522E8509AD}" type="datetime1">
              <a:rPr lang="en-US"/>
              <a:t>11/17/2025</a:t>
            </a:fld>
            <a:endParaRPr lang="en-US"/>
          </a:p>
        </p:txBody>
      </p:sp>
      <p:sp>
        <p:nvSpPr>
          <p:cNvPr id="6" name="Slide Number Placeholder 5"/>
          <p:cNvSpPr>
            <a:spLocks noGrp="1"/>
          </p:cNvSpPr>
          <p:nvPr>
            <p:ph type="sldNum" sz="quarter" idx="12"/>
          </p:nvPr>
        </p:nvSpPr>
        <p:spPr bwMode="auto"/>
        <p:txBody>
          <a:bodyPr/>
          <a:lstStyle/>
          <a:p>
            <a:pPr>
              <a:defRPr/>
            </a:pPr>
            <a:fld id="{2C4FE033-73EA-43BF-906B-54A8C44CA3A6}" type="slidenum">
              <a:rPr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Types of Cardinality</a:t>
            </a:r>
            <a:endParaRPr/>
          </a:p>
        </p:txBody>
      </p:sp>
      <p:sp>
        <p:nvSpPr>
          <p:cNvPr id="3" name="Content Placeholder 2"/>
          <p:cNvSpPr>
            <a:spLocks noGrp="1"/>
          </p:cNvSpPr>
          <p:nvPr>
            <p:ph idx="1"/>
          </p:nvPr>
        </p:nvSpPr>
        <p:spPr bwMode="auto"/>
        <p:txBody>
          <a:bodyPr>
            <a:normAutofit fontScale="70000" lnSpcReduction="20000"/>
          </a:bodyPr>
          <a:lstStyle/>
          <a:p>
            <a:pPr marL="0" indent="0">
              <a:buNone/>
              <a:defRPr/>
            </a:pPr>
            <a:r>
              <a:rPr lang="en-US" b="1"/>
              <a:t>One-to-One (1:1)</a:t>
            </a:r>
            <a:endParaRPr/>
          </a:p>
          <a:p>
            <a:pPr>
              <a:defRPr/>
            </a:pPr>
            <a:r>
              <a:rPr lang="en-US"/>
              <a:t>Definition: Each entity in Entity A is related to at most one entity in Entity B, and vice versa.</a:t>
            </a:r>
            <a:endParaRPr/>
          </a:p>
          <a:p>
            <a:pPr lvl="1">
              <a:defRPr/>
            </a:pPr>
            <a:r>
              <a:rPr lang="en-US"/>
              <a:t>Example: President ↔ Country Each country has one president, and each president governs only one country.</a:t>
            </a:r>
            <a:endParaRPr/>
          </a:p>
          <a:p>
            <a:pPr lvl="1">
              <a:defRPr/>
            </a:pPr>
            <a:r>
              <a:rPr lang="en-US"/>
              <a:t>Example: NID ↔ Person Each person can only have one NID and vice versa</a:t>
            </a:r>
            <a:endParaRPr/>
          </a:p>
          <a:p>
            <a:pPr marL="0" indent="0">
              <a:buNone/>
              <a:defRPr/>
            </a:pPr>
            <a:r>
              <a:rPr lang="en-US" b="1"/>
              <a:t>One-to-Many (1:N)</a:t>
            </a:r>
            <a:endParaRPr/>
          </a:p>
          <a:p>
            <a:pPr>
              <a:defRPr/>
            </a:pPr>
            <a:r>
              <a:rPr lang="en-US"/>
              <a:t>Definition: Each entity in Entity A can be associated with many entities in Entity B, but each entity in B is related to at most one entity in A.</a:t>
            </a:r>
            <a:endParaRPr/>
          </a:p>
          <a:p>
            <a:pPr lvl="1">
              <a:defRPr/>
            </a:pPr>
            <a:r>
              <a:rPr lang="en-US"/>
              <a:t>Example (Nepal):Department → EmployeeEach department can have many employees, but each employee belongs to only one department.</a:t>
            </a:r>
            <a:endParaRPr/>
          </a:p>
          <a:p>
            <a:pPr marL="0" indent="0">
              <a:buNone/>
              <a:defRPr/>
            </a:pPr>
            <a:r>
              <a:rPr lang="en-US" b="1"/>
              <a:t>Many-to-Many (M:N)</a:t>
            </a:r>
            <a:endParaRPr/>
          </a:p>
          <a:p>
            <a:pPr>
              <a:defRPr/>
            </a:pPr>
            <a:r>
              <a:rPr lang="en-US"/>
              <a:t>Definition: Each entity in Entity A can be associated with many entities in Entity B, and vice versa.</a:t>
            </a:r>
            <a:endParaRPr/>
          </a:p>
          <a:p>
            <a:pPr lvl="1">
              <a:defRPr/>
            </a:pPr>
            <a:r>
              <a:rPr lang="en-US"/>
              <a:t>Example: Student ↔ Course at a University. A student can enroll in multiple courses, and each course can have many students.</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Strong and Weak Entity</a:t>
            </a:r>
            <a:endParaRPr/>
          </a:p>
        </p:txBody>
      </p:sp>
      <p:sp>
        <p:nvSpPr>
          <p:cNvPr id="3" name="Content Placeholder 2"/>
          <p:cNvSpPr>
            <a:spLocks noGrp="1"/>
          </p:cNvSpPr>
          <p:nvPr>
            <p:ph idx="1"/>
          </p:nvPr>
        </p:nvSpPr>
        <p:spPr bwMode="auto"/>
        <p:txBody>
          <a:bodyPr>
            <a:normAutofit fontScale="85000" lnSpcReduction="10000"/>
          </a:bodyPr>
          <a:lstStyle/>
          <a:p>
            <a:pPr marL="0" indent="0">
              <a:buNone/>
              <a:defRPr/>
            </a:pPr>
            <a:r>
              <a:rPr lang="en-US" b="1"/>
              <a:t>Strong Entity</a:t>
            </a:r>
            <a:endParaRPr/>
          </a:p>
          <a:p>
            <a:pPr>
              <a:defRPr/>
            </a:pPr>
            <a:r>
              <a:rPr lang="en-US"/>
              <a:t>Definition: An entity that has a primary key to uniquely identify each instance.</a:t>
            </a:r>
            <a:endParaRPr/>
          </a:p>
          <a:p>
            <a:pPr>
              <a:defRPr/>
            </a:pPr>
            <a:r>
              <a:rPr lang="en-US"/>
              <a:t>Exists independently of other entities.</a:t>
            </a:r>
            <a:endParaRPr/>
          </a:p>
          <a:p>
            <a:pPr marL="0" indent="0">
              <a:buNone/>
              <a:defRPr/>
            </a:pPr>
            <a:r>
              <a:rPr lang="en-US" b="1"/>
              <a:t>Weak Entity</a:t>
            </a:r>
            <a:endParaRPr/>
          </a:p>
          <a:p>
            <a:pPr>
              <a:defRPr/>
            </a:pPr>
            <a:r>
              <a:rPr lang="en-US"/>
              <a:t>Definition: An entity that does not have a primary key of its own.</a:t>
            </a:r>
            <a:endParaRPr/>
          </a:p>
          <a:p>
            <a:pPr>
              <a:defRPr/>
            </a:pPr>
            <a:r>
              <a:rPr lang="en-US"/>
              <a:t>Depends on a strong entity for identification.</a:t>
            </a:r>
            <a:endParaRPr/>
          </a:p>
          <a:p>
            <a:pPr>
              <a:defRPr/>
            </a:pPr>
            <a:r>
              <a:rPr lang="en-US"/>
              <a:t>Identified by a partial key combined with the primary key of the related strong entity. </a:t>
            </a:r>
            <a:endParaRPr/>
          </a:p>
          <a:p>
            <a:pPr lvl="1">
              <a:defRPr/>
            </a:pPr>
            <a:r>
              <a:rPr lang="en-US"/>
              <a:t>Student_Course_Enrollment </a:t>
            </a:r>
            <a:endParaRPr/>
          </a:p>
          <a:p>
            <a:pPr lvl="2">
              <a:defRPr/>
            </a:pPr>
            <a:r>
              <a:rPr lang="en-US"/>
              <a:t>Depends on Student and Course entities.</a:t>
            </a:r>
            <a:endParaRPr/>
          </a:p>
          <a:p>
            <a:pPr lvl="2">
              <a:defRPr/>
            </a:pPr>
            <a:r>
              <a:rPr lang="en-US"/>
              <a:t>Attributes: Enrollment_Date, GradePartial Key: Enrollment_Number (only unique per student)</a:t>
            </a:r>
            <a:endParaRPr/>
          </a:p>
          <a:p>
            <a:pPr>
              <a:defRPr/>
            </a:pPr>
            <a:endParaRPr lang="en-US"/>
          </a:p>
          <a:p>
            <a:pPr>
              <a:defRPr/>
            </a:pPr>
            <a:endParaRPr lang="en-US"/>
          </a:p>
          <a:p>
            <a:pPr>
              <a:defRPr/>
            </a:pPr>
            <a:endParaRPr lang="en-US"/>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ER Diagram</a:t>
            </a:r>
            <a:endParaRPr/>
          </a:p>
        </p:txBody>
      </p:sp>
      <p:sp>
        <p:nvSpPr>
          <p:cNvPr id="3" name="Content Placeholder 2"/>
          <p:cNvSpPr>
            <a:spLocks noGrp="1"/>
          </p:cNvSpPr>
          <p:nvPr>
            <p:ph idx="1"/>
          </p:nvPr>
        </p:nvSpPr>
        <p:spPr bwMode="auto"/>
        <p:txBody>
          <a:bodyPr/>
          <a:lstStyle/>
          <a:p>
            <a:pPr>
              <a:defRPr/>
            </a:pPr>
            <a:r>
              <a:rPr lang="en-US"/>
              <a:t>An ER diagram is a graphical representation of a database’s structure.</a:t>
            </a:r>
            <a:endParaRPr/>
          </a:p>
          <a:p>
            <a:pPr>
              <a:defRPr/>
            </a:pPr>
            <a:r>
              <a:rPr lang="en-US"/>
              <a:t>It shows entities, attributes, and relationships among data in a Mini world or system.</a:t>
            </a:r>
            <a:endParaRPr/>
          </a:p>
          <a:p>
            <a:pPr>
              <a:defRPr/>
            </a:pPr>
            <a:r>
              <a:rPr lang="en-US"/>
              <a:t>Helps visualize how data is organized and interrelated.</a:t>
            </a:r>
            <a:endParaRPr/>
          </a:p>
          <a:p>
            <a:pPr>
              <a:defRPr/>
            </a:pPr>
            <a:r>
              <a:rPr lang="en-US"/>
              <a:t>Serves as a blueprint for designing a database.</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Symbols in ER Diagram</a:t>
            </a:r>
            <a:endParaRPr/>
          </a:p>
        </p:txBody>
      </p:sp>
      <p:sp>
        <p:nvSpPr>
          <p:cNvPr id="3" name="Content Placeholder 2"/>
          <p:cNvSpPr>
            <a:spLocks noGrp="1"/>
          </p:cNvSpPr>
          <p:nvPr>
            <p:ph idx="1"/>
          </p:nvPr>
        </p:nvSpPr>
        <p:spPr bwMode="auto"/>
        <p:txBody>
          <a:bodyPr/>
          <a:lstStyle/>
          <a:p>
            <a:pPr marL="0" indent="0">
              <a:buNone/>
              <a:defRPr/>
            </a:pPr>
            <a:r>
              <a:rPr lang="en-US" b="1"/>
              <a:t>Entity Symbols</a:t>
            </a:r>
            <a:endParaRPr/>
          </a:p>
          <a:p>
            <a:pPr>
              <a:defRPr/>
            </a:pPr>
            <a:r>
              <a:rPr lang="en-US"/>
              <a:t>Entities are symbolized by rectangles and are objects intended for storing specific information. </a:t>
            </a:r>
            <a:endParaRPr/>
          </a:p>
          <a:p>
            <a:pPr>
              <a:defRPr/>
            </a:pPr>
            <a:r>
              <a:rPr lang="en-US"/>
              <a:t>A single rectangle is used for strong entity and double rectangle is used for weak entity</a:t>
            </a:r>
            <a:endParaRPr/>
          </a:p>
          <a:p>
            <a:pPr>
              <a:defRPr/>
            </a:pPr>
            <a:endParaRPr lang="en-US"/>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31</a:t>
            </a:fld>
            <a:endParaRPr lang="en-US"/>
          </a:p>
        </p:txBody>
      </p:sp>
      <p:pic>
        <p:nvPicPr>
          <p:cNvPr id="7" name="Picture 6"/>
          <p:cNvPicPr>
            <a:picLocks noChangeAspect="1"/>
          </p:cNvPicPr>
          <p:nvPr/>
        </p:nvPicPr>
        <p:blipFill>
          <a:blip r:embed="rId3"/>
          <a:stretch/>
        </p:blipFill>
        <p:spPr bwMode="auto">
          <a:xfrm>
            <a:off x="4507992" y="3823695"/>
            <a:ext cx="4447706" cy="26051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Symbols in ER Diagram</a:t>
            </a:r>
            <a:endParaRPr/>
          </a:p>
        </p:txBody>
      </p:sp>
      <p:sp>
        <p:nvSpPr>
          <p:cNvPr id="3" name="Content Placeholder 2"/>
          <p:cNvSpPr>
            <a:spLocks noGrp="1"/>
          </p:cNvSpPr>
          <p:nvPr>
            <p:ph idx="1"/>
          </p:nvPr>
        </p:nvSpPr>
        <p:spPr bwMode="auto"/>
        <p:txBody>
          <a:bodyPr/>
          <a:lstStyle/>
          <a:p>
            <a:pPr marL="0" indent="0">
              <a:buNone/>
              <a:defRPr/>
            </a:pPr>
            <a:r>
              <a:rPr lang="en-US"/>
              <a:t>Relationship Symbols</a:t>
            </a:r>
            <a:endParaRPr/>
          </a:p>
          <a:p>
            <a:pPr>
              <a:defRPr/>
            </a:pPr>
            <a:r>
              <a:rPr lang="en-US"/>
              <a:t>The interactivity between two entities is described by a relationship which is visually represented as a diamond symbol. In the case of a double diamond (a diamond within a diamond), this denotes a ‘weak relationship’ which exists between a weak entity and its parent</a:t>
            </a:r>
            <a:endParaRPr/>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32</a:t>
            </a:fld>
            <a:endParaRPr lang="en-US"/>
          </a:p>
        </p:txBody>
      </p:sp>
      <p:pic>
        <p:nvPicPr>
          <p:cNvPr id="7" name="Picture 6"/>
          <p:cNvPicPr>
            <a:picLocks noChangeAspect="1"/>
          </p:cNvPicPr>
          <p:nvPr/>
        </p:nvPicPr>
        <p:blipFill>
          <a:blip r:embed="rId3"/>
          <a:stretch/>
        </p:blipFill>
        <p:spPr bwMode="auto">
          <a:xfrm>
            <a:off x="3581400" y="4001294"/>
            <a:ext cx="4210377" cy="243218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Symbols in ER Diagram</a:t>
            </a:r>
            <a:endParaRPr/>
          </a:p>
        </p:txBody>
      </p:sp>
      <p:sp>
        <p:nvSpPr>
          <p:cNvPr id="3" name="Content Placeholder 2"/>
          <p:cNvSpPr>
            <a:spLocks noGrp="1"/>
          </p:cNvSpPr>
          <p:nvPr>
            <p:ph idx="1"/>
          </p:nvPr>
        </p:nvSpPr>
        <p:spPr bwMode="auto"/>
        <p:txBody>
          <a:bodyPr>
            <a:normAutofit/>
          </a:bodyPr>
          <a:lstStyle/>
          <a:p>
            <a:pPr marL="0" indent="0">
              <a:buNone/>
              <a:defRPr/>
            </a:pPr>
            <a:r>
              <a:rPr lang="en-US" sz="2000" b="1"/>
              <a:t>Attributes Symbols</a:t>
            </a:r>
            <a:endParaRPr/>
          </a:p>
          <a:p>
            <a:pPr>
              <a:defRPr/>
            </a:pPr>
            <a:r>
              <a:rPr lang="en-US" sz="2000"/>
              <a:t>Ellipses (ovals) symbolize attributes, detailing the properties and characteristics of entities</a:t>
            </a:r>
            <a:endParaRPr/>
          </a:p>
          <a:p>
            <a:pPr>
              <a:defRPr/>
            </a:pPr>
            <a:r>
              <a:rPr lang="en-US" sz="2000"/>
              <a:t>A single ellipse denotes a simple attribute</a:t>
            </a:r>
            <a:endParaRPr/>
          </a:p>
          <a:p>
            <a:pPr>
              <a:defRPr/>
            </a:pPr>
            <a:r>
              <a:rPr lang="en-US" sz="2000"/>
              <a:t>Double ellipse (an ellipse within an ellipse) highlights multivalued attributes</a:t>
            </a:r>
            <a:endParaRPr/>
          </a:p>
          <a:p>
            <a:pPr>
              <a:defRPr/>
            </a:pPr>
            <a:r>
              <a:rPr lang="en-US" sz="2000"/>
              <a:t>A single ellipse with dotted lines represents Derived Attribute</a:t>
            </a:r>
            <a:endParaRPr/>
          </a:p>
          <a:p>
            <a:pPr marL="0" indent="0">
              <a:buNone/>
              <a:defRPr/>
            </a:pPr>
            <a:endParaRPr lang="en-US" sz="2000"/>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33</a:t>
            </a:fld>
            <a:endParaRPr lang="en-US"/>
          </a:p>
        </p:txBody>
      </p:sp>
      <p:pic>
        <p:nvPicPr>
          <p:cNvPr id="7" name="Picture 6"/>
          <p:cNvPicPr>
            <a:picLocks noChangeAspect="1"/>
          </p:cNvPicPr>
          <p:nvPr/>
        </p:nvPicPr>
        <p:blipFill>
          <a:blip r:embed="rId3"/>
          <a:stretch/>
        </p:blipFill>
        <p:spPr bwMode="auto">
          <a:xfrm>
            <a:off x="1636776" y="3793978"/>
            <a:ext cx="7841098" cy="251792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Symbols in ER Diagram</a:t>
            </a:r>
            <a:endParaRPr/>
          </a:p>
        </p:txBody>
      </p:sp>
      <p:sp>
        <p:nvSpPr>
          <p:cNvPr id="3" name="Content Placeholder 2"/>
          <p:cNvSpPr>
            <a:spLocks noGrp="1"/>
          </p:cNvSpPr>
          <p:nvPr>
            <p:ph idx="1"/>
          </p:nvPr>
        </p:nvSpPr>
        <p:spPr bwMode="auto"/>
        <p:txBody>
          <a:bodyPr/>
          <a:lstStyle/>
          <a:p>
            <a:pPr marL="0" indent="0">
              <a:buNone/>
              <a:defRPr/>
            </a:pPr>
            <a:r>
              <a:rPr lang="en-US" b="1"/>
              <a:t>Connecting Lines</a:t>
            </a:r>
            <a:endParaRPr/>
          </a:p>
          <a:p>
            <a:pPr marL="0" indent="0">
              <a:buNone/>
              <a:defRPr/>
            </a:pPr>
            <a:r>
              <a:rPr lang="en-US"/>
              <a:t>Solid lines are used to connect the various ER diagram symbols </a:t>
            </a:r>
            <a:endParaRPr/>
          </a:p>
          <a:p>
            <a:pPr marL="0" indent="0">
              <a:buNone/>
              <a:defRPr/>
            </a:pPr>
            <a:endParaRPr lang="en-US"/>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34</a:t>
            </a:fld>
            <a:endParaRPr lang="en-US"/>
          </a:p>
        </p:txBody>
      </p:sp>
      <p:pic>
        <p:nvPicPr>
          <p:cNvPr id="7" name="Picture 6"/>
          <p:cNvPicPr>
            <a:picLocks noChangeAspect="1"/>
          </p:cNvPicPr>
          <p:nvPr/>
        </p:nvPicPr>
        <p:blipFill>
          <a:blip r:embed="rId3"/>
          <a:stretch/>
        </p:blipFill>
        <p:spPr bwMode="auto">
          <a:xfrm>
            <a:off x="1271016" y="3312690"/>
            <a:ext cx="8650874" cy="246004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Symbols in ER Diagram</a:t>
            </a:r>
            <a:endParaRPr/>
          </a:p>
        </p:txBody>
      </p:sp>
      <p:sp>
        <p:nvSpPr>
          <p:cNvPr id="3" name="Content Placeholder 2"/>
          <p:cNvSpPr>
            <a:spLocks noGrp="1"/>
          </p:cNvSpPr>
          <p:nvPr>
            <p:ph idx="1"/>
          </p:nvPr>
        </p:nvSpPr>
        <p:spPr bwMode="auto"/>
        <p:txBody>
          <a:bodyPr/>
          <a:lstStyle/>
          <a:p>
            <a:pPr marL="0" indent="0">
              <a:buNone/>
              <a:defRPr/>
            </a:pPr>
            <a:r>
              <a:rPr lang="en-US"/>
              <a:t>Cardinality </a:t>
            </a:r>
            <a:endParaRPr/>
          </a:p>
          <a:p>
            <a:pPr marL="0" indent="0">
              <a:buNone/>
              <a:defRPr/>
            </a:pPr>
            <a:r>
              <a:rPr lang="en-US"/>
              <a:t>For Cardinality we will be using Crow’s Foot Notation.</a:t>
            </a:r>
            <a:endParaRPr/>
          </a:p>
          <a:p>
            <a:pPr marL="0" indent="0">
              <a:buNone/>
              <a:defRPr/>
            </a:pPr>
            <a:endParaRPr lang="en-US"/>
          </a:p>
        </p:txBody>
      </p:sp>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35</a:t>
            </a:fld>
            <a:endParaRPr lang="en-US"/>
          </a:p>
        </p:txBody>
      </p:sp>
      <p:pic>
        <p:nvPicPr>
          <p:cNvPr id="7" name="Picture 6"/>
          <p:cNvPicPr>
            <a:picLocks noChangeAspect="1"/>
          </p:cNvPicPr>
          <p:nvPr/>
        </p:nvPicPr>
        <p:blipFill>
          <a:blip r:embed="rId3"/>
          <a:stretch/>
        </p:blipFill>
        <p:spPr bwMode="auto">
          <a:xfrm>
            <a:off x="308191" y="3210560"/>
            <a:ext cx="5029200" cy="2863188"/>
          </a:xfrm>
          <a:prstGeom prst="rect">
            <a:avLst/>
          </a:prstGeom>
        </p:spPr>
      </p:pic>
      <p:pic>
        <p:nvPicPr>
          <p:cNvPr id="9" name="Picture 8"/>
          <p:cNvPicPr>
            <a:picLocks noChangeAspect="1"/>
          </p:cNvPicPr>
          <p:nvPr/>
        </p:nvPicPr>
        <p:blipFill>
          <a:blip r:embed="rId4"/>
          <a:stretch/>
        </p:blipFill>
        <p:spPr bwMode="auto">
          <a:xfrm>
            <a:off x="5337390" y="3429000"/>
            <a:ext cx="4214016" cy="2487477"/>
          </a:xfrm>
          <a:prstGeom prst="rect">
            <a:avLst/>
          </a:prstGeom>
        </p:spPr>
      </p:pic>
      <p:pic>
        <p:nvPicPr>
          <p:cNvPr id="11" name="Picture 10"/>
          <p:cNvPicPr>
            <a:picLocks noChangeAspect="1"/>
          </p:cNvPicPr>
          <p:nvPr/>
        </p:nvPicPr>
        <p:blipFill>
          <a:blip r:embed="rId5"/>
          <a:stretch/>
        </p:blipFill>
        <p:spPr bwMode="auto">
          <a:xfrm>
            <a:off x="9836582" y="2437670"/>
            <a:ext cx="1802393" cy="363607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Symbols in ER Diagram</a:t>
            </a:r>
            <a:endParaRPr/>
          </a:p>
        </p:txBody>
      </p:sp>
      <p:pic>
        <p:nvPicPr>
          <p:cNvPr id="7" name="Content Placeholder 6"/>
          <p:cNvPicPr>
            <a:picLocks noGrp="1" noChangeAspect="1"/>
          </p:cNvPicPr>
          <p:nvPr>
            <p:ph idx="1"/>
          </p:nvPr>
        </p:nvPicPr>
        <p:blipFill>
          <a:blip r:embed="rId3"/>
          <a:stretch/>
        </p:blipFill>
        <p:spPr bwMode="auto">
          <a:xfrm>
            <a:off x="4057314" y="1481104"/>
            <a:ext cx="4077372" cy="5011771"/>
          </a:xfrm>
        </p:spPr>
      </p:pic>
      <p:sp>
        <p:nvSpPr>
          <p:cNvPr id="4" name="Date Placeholder 3"/>
          <p:cNvSpPr>
            <a:spLocks noGrp="1"/>
          </p:cNvSpPr>
          <p:nvPr>
            <p:ph type="dt" sz="half" idx="10"/>
          </p:nvPr>
        </p:nvSpPr>
        <p:spPr bwMode="auto"/>
        <p:txBody>
          <a:bodyPr/>
          <a:lstStyle/>
          <a:p>
            <a:pPr>
              <a:defRPr/>
            </a:pPr>
            <a:fld id="{7916D043-5CB9-4104-9E9B-2BF2CE6B9FD9}" type="datetime1">
              <a:rPr lang="en-US"/>
              <a:t>11/17/2025</a:t>
            </a:fld>
            <a:endParaRPr lang="en-US"/>
          </a:p>
        </p:txBody>
      </p:sp>
      <p:sp>
        <p:nvSpPr>
          <p:cNvPr id="5" name="Slide Number Placeholder 4"/>
          <p:cNvSpPr>
            <a:spLocks noGrp="1"/>
          </p:cNvSpPr>
          <p:nvPr>
            <p:ph type="sldNum" sz="quarter" idx="12"/>
          </p:nvPr>
        </p:nvSpPr>
        <p:spPr bwMode="auto"/>
        <p:txBody>
          <a:bodyPr/>
          <a:lstStyle/>
          <a:p>
            <a:pPr>
              <a:defRPr/>
            </a:pPr>
            <a:fld id="{2C4FE033-73EA-43BF-906B-54A8C44CA3A6}" type="slidenum">
              <a:rPr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9081567" name="Title 1"/>
          <p:cNvSpPr>
            <a:spLocks noGrp="1"/>
          </p:cNvSpPr>
          <p:nvPr>
            <p:ph type="title"/>
          </p:nvPr>
        </p:nvSpPr>
        <p:spPr bwMode="auto"/>
        <p:txBody>
          <a:bodyPr/>
          <a:lstStyle/>
          <a:p>
            <a:pPr algn="ctr">
              <a:defRPr/>
            </a:pPr>
            <a:r>
              <a:rPr b="1"/>
              <a:t>ER Diagram </a:t>
            </a:r>
          </a:p>
        </p:txBody>
      </p:sp>
      <p:sp>
        <p:nvSpPr>
          <p:cNvPr id="116008294" name="Content Placeholder 2"/>
          <p:cNvSpPr>
            <a:spLocks noGrp="1"/>
          </p:cNvSpPr>
          <p:nvPr>
            <p:ph idx="1"/>
          </p:nvPr>
        </p:nvSpPr>
        <p:spPr bwMode="auto"/>
        <p:txBody>
          <a:bodyPr/>
          <a:lstStyle/>
          <a:p>
            <a:pPr>
              <a:defRPr/>
            </a:pPr>
            <a:r>
              <a:t>Draw an ER Diagram for a Hospital Management System where a Doctor checks the Patient. The Patient buys medicine from pharmacy.</a:t>
            </a:r>
          </a:p>
        </p:txBody>
      </p:sp>
      <p:sp>
        <p:nvSpPr>
          <p:cNvPr id="2122585674" name="Date Placeholder 3"/>
          <p:cNvSpPr>
            <a:spLocks noGrp="1"/>
          </p:cNvSpPr>
          <p:nvPr>
            <p:ph type="dt" sz="half" idx="10"/>
          </p:nvPr>
        </p:nvSpPr>
        <p:spPr bwMode="auto"/>
        <p:txBody>
          <a:bodyPr/>
          <a:lstStyle/>
          <a:p>
            <a:pPr>
              <a:defRPr/>
            </a:pPr>
            <a:fld id="{6A7C5A5A-4041-4A4E-3EA7-E5C5BF10FB0A}" type="datetime1">
              <a:rPr lang="en-US"/>
              <a:t>11/17/2025</a:t>
            </a:fld>
            <a:endParaRPr lang="en-US"/>
          </a:p>
        </p:txBody>
      </p:sp>
      <p:sp>
        <p:nvSpPr>
          <p:cNvPr id="849833176" name="Slide Number Placeholder 5"/>
          <p:cNvSpPr>
            <a:spLocks noGrp="1"/>
          </p:cNvSpPr>
          <p:nvPr>
            <p:ph type="sldNum" sz="quarter" idx="12"/>
          </p:nvPr>
        </p:nvSpPr>
        <p:spPr bwMode="auto"/>
        <p:txBody>
          <a:bodyPr/>
          <a:lstStyle/>
          <a:p>
            <a:pPr>
              <a:defRPr/>
            </a:pPr>
            <a:fld id="{234FA4F7-175C-C014-7559-EE6066DC3ECF}" type="slidenum">
              <a:rPr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3829737" name="Title 1"/>
          <p:cNvSpPr>
            <a:spLocks noGrp="1"/>
          </p:cNvSpPr>
          <p:nvPr>
            <p:ph type="title"/>
          </p:nvPr>
        </p:nvSpPr>
        <p:spPr bwMode="auto"/>
        <p:txBody>
          <a:bodyPr/>
          <a:lstStyle/>
          <a:p>
            <a:pPr algn="ctr">
              <a:defRPr/>
            </a:pPr>
            <a:r>
              <a:rPr b="1"/>
              <a:t>ER Diagram</a:t>
            </a:r>
          </a:p>
        </p:txBody>
      </p:sp>
      <p:sp>
        <p:nvSpPr>
          <p:cNvPr id="1935792917" name="Content Placeholder 2"/>
          <p:cNvSpPr>
            <a:spLocks noGrp="1"/>
          </p:cNvSpPr>
          <p:nvPr>
            <p:ph idx="1"/>
          </p:nvPr>
        </p:nvSpPr>
        <p:spPr bwMode="auto"/>
        <p:txBody>
          <a:bodyPr/>
          <a:lstStyle/>
          <a:p>
            <a:pPr>
              <a:defRPr/>
            </a:pPr>
            <a:r>
              <a:rPr sz="2200" b="0" i="0" u="none">
                <a:solidFill>
                  <a:srgbClr val="000000"/>
                </a:solidFill>
                <a:latin typeface="Times New Roman"/>
                <a:ea typeface="Times New Roman"/>
                <a:cs typeface="Times New Roman"/>
              </a:rPr>
              <a:t>“A librarian, identified by his or her staff number, name, and office number, is responsible for managing several library sections. Each section has a unique code and a name, and it contains a number of books. A book is identified by its ISBN, title, and publication year, and it can be written by one or more authors. Because of limited copies, a single book may have multiple copies (each identified by a copy number) that can be borrowed by students or staff.</a:t>
            </a:r>
            <a:endParaRPr sz="2200"/>
          </a:p>
          <a:p>
            <a:pPr>
              <a:defRPr/>
            </a:pPr>
            <a:r>
              <a:rPr sz="2200" b="0" i="0" u="none">
                <a:solidFill>
                  <a:srgbClr val="000000"/>
                </a:solidFill>
                <a:latin typeface="Times New Roman"/>
                <a:ea typeface="Times New Roman"/>
                <a:cs typeface="Times New Roman"/>
              </a:rPr>
              <a:t>A student, identified by student number and name, can borrow several books, but each book copy can be issued to only one student at a time. For every borrowing transaction, the issue date and return date are recorded. A librarian supervises all borrowing transactions that occur in their section.</a:t>
            </a:r>
            <a:endParaRPr sz="2200"/>
          </a:p>
        </p:txBody>
      </p:sp>
      <p:sp>
        <p:nvSpPr>
          <p:cNvPr id="480112076" name="Date Placeholder 3"/>
          <p:cNvSpPr>
            <a:spLocks noGrp="1"/>
          </p:cNvSpPr>
          <p:nvPr>
            <p:ph type="dt" sz="half" idx="10"/>
          </p:nvPr>
        </p:nvSpPr>
        <p:spPr bwMode="auto"/>
        <p:txBody>
          <a:bodyPr/>
          <a:lstStyle/>
          <a:p>
            <a:pPr>
              <a:defRPr/>
            </a:pPr>
            <a:fld id="{1479AFCE-E766-B3EF-E01F-6879070885DC}" type="datetime1">
              <a:rPr lang="en-US"/>
              <a:t>11/17/2025</a:t>
            </a:fld>
            <a:endParaRPr lang="en-US"/>
          </a:p>
        </p:txBody>
      </p:sp>
      <p:sp>
        <p:nvSpPr>
          <p:cNvPr id="613167013" name="Slide Number Placeholder 5"/>
          <p:cNvSpPr>
            <a:spLocks noGrp="1"/>
          </p:cNvSpPr>
          <p:nvPr>
            <p:ph type="sldNum" sz="quarter" idx="12"/>
          </p:nvPr>
        </p:nvSpPr>
        <p:spPr bwMode="auto"/>
        <p:txBody>
          <a:bodyPr/>
          <a:lstStyle/>
          <a:p>
            <a:pPr>
              <a:defRPr/>
            </a:pPr>
            <a:fld id="{D530244E-0C2E-E3E7-B218-E23C61527D06}" type="slidenum">
              <a:rPr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0610258" name="Title 1"/>
          <p:cNvSpPr>
            <a:spLocks noGrp="1"/>
          </p:cNvSpPr>
          <p:nvPr>
            <p:ph type="title"/>
          </p:nvPr>
        </p:nvSpPr>
        <p:spPr bwMode="auto"/>
        <p:txBody>
          <a:bodyPr/>
          <a:lstStyle/>
          <a:p>
            <a:pPr algn="ctr">
              <a:defRPr/>
            </a:pPr>
            <a:r>
              <a:rPr b="1"/>
              <a:t>ER Diagram</a:t>
            </a:r>
          </a:p>
        </p:txBody>
      </p:sp>
      <p:pic>
        <p:nvPicPr>
          <p:cNvPr id="370417723" name="Content Placeholder 370417722"/>
          <p:cNvPicPr>
            <a:picLocks noGrp="1" noChangeAspect="1"/>
          </p:cNvPicPr>
          <p:nvPr>
            <p:ph idx="1"/>
          </p:nvPr>
        </p:nvPicPr>
        <p:blipFill>
          <a:blip r:embed="rId3"/>
          <a:stretch/>
        </p:blipFill>
        <p:spPr bwMode="auto">
          <a:xfrm>
            <a:off x="1689874" y="1417410"/>
            <a:ext cx="9061160" cy="4587585"/>
          </a:xfrm>
          <a:prstGeom prst="rect">
            <a:avLst/>
          </a:prstGeom>
        </p:spPr>
      </p:pic>
      <p:sp>
        <p:nvSpPr>
          <p:cNvPr id="1764692726" name="Date Placeholder 3"/>
          <p:cNvSpPr>
            <a:spLocks noGrp="1"/>
          </p:cNvSpPr>
          <p:nvPr>
            <p:ph type="dt" sz="half" idx="10"/>
          </p:nvPr>
        </p:nvSpPr>
        <p:spPr bwMode="auto"/>
        <p:txBody>
          <a:bodyPr/>
          <a:lstStyle/>
          <a:p>
            <a:pPr>
              <a:defRPr/>
            </a:pPr>
            <a:fld id="{32165D00-99C1-A2F7-D59A-C015F15CDE46}" type="datetime1">
              <a:rPr lang="en-US"/>
              <a:t>11/17/2025</a:t>
            </a:fld>
            <a:endParaRPr lang="en-US"/>
          </a:p>
        </p:txBody>
      </p:sp>
      <p:sp>
        <p:nvSpPr>
          <p:cNvPr id="773048009" name="Slide Number Placeholder 5"/>
          <p:cNvSpPr>
            <a:spLocks noGrp="1"/>
          </p:cNvSpPr>
          <p:nvPr>
            <p:ph type="sldNum" sz="quarter" idx="12"/>
          </p:nvPr>
        </p:nvSpPr>
        <p:spPr bwMode="auto"/>
        <p:txBody>
          <a:bodyPr/>
          <a:lstStyle/>
          <a:p>
            <a:pPr>
              <a:defRPr/>
            </a:pPr>
            <a:fld id="{3EFFC138-FB3B-CF9D-E6EE-2265F952B88A}" type="slidenum">
              <a:rPr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9359897" name="Title 1"/>
          <p:cNvSpPr>
            <a:spLocks noGrp="1"/>
          </p:cNvSpPr>
          <p:nvPr>
            <p:ph type="title"/>
          </p:nvPr>
        </p:nvSpPr>
        <p:spPr bwMode="auto"/>
        <p:txBody>
          <a:bodyPr/>
          <a:lstStyle/>
          <a:p>
            <a:pPr algn="ctr">
              <a:defRPr/>
            </a:pPr>
            <a:r>
              <a:rPr lang="en-US" sz="4400" b="1" i="0" u="none" strike="noStrike" cap="none" spc="0">
                <a:solidFill>
                  <a:schemeClr val="tx1"/>
                </a:solidFill>
                <a:latin typeface="Calibri Light"/>
                <a:ea typeface="Calibri Light"/>
                <a:cs typeface="Calibri Light"/>
              </a:rPr>
              <a:t>Extended E-R Features</a:t>
            </a:r>
            <a:endParaRPr b="1"/>
          </a:p>
        </p:txBody>
      </p:sp>
      <p:sp>
        <p:nvSpPr>
          <p:cNvPr id="1428675798"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Although the basic E-R concepts can model most database features, some aspects of a database may be more aptly expressed by certain extensions to the basic E-R model.</a:t>
            </a:r>
          </a:p>
          <a:p>
            <a:pPr>
              <a:defRPr/>
            </a:pPr>
            <a:r>
              <a:rPr lang="en-US" sz="2800" b="0" i="0" u="none" strike="noStrike" cap="none" spc="0">
                <a:solidFill>
                  <a:schemeClr val="tx1"/>
                </a:solidFill>
                <a:latin typeface="Calibri"/>
                <a:ea typeface="Calibri"/>
                <a:cs typeface="Calibri"/>
              </a:rPr>
              <a:t>Capture details that go beyond basic entities, relationships, and attributes.</a:t>
            </a:r>
          </a:p>
          <a:p>
            <a:pPr>
              <a:defRPr/>
            </a:pPr>
            <a:r>
              <a:rPr lang="en-US" sz="2800" b="0" i="0" u="none" strike="noStrike" cap="none" spc="0">
                <a:solidFill>
                  <a:schemeClr val="tx1"/>
                </a:solidFill>
                <a:latin typeface="Calibri"/>
                <a:ea typeface="Calibri"/>
                <a:cs typeface="Calibri"/>
              </a:rPr>
              <a:t>We will discuss about</a:t>
            </a:r>
          </a:p>
          <a:p>
            <a:pPr lvl="1">
              <a:defRPr/>
            </a:pPr>
            <a:r>
              <a:rPr lang="en-US" sz="2400" b="0" i="0" u="none" strike="noStrike" cap="none" spc="0">
                <a:solidFill>
                  <a:schemeClr val="tx1"/>
                </a:solidFill>
                <a:latin typeface="Calibri"/>
                <a:ea typeface="Calibri"/>
                <a:cs typeface="Calibri"/>
              </a:rPr>
              <a:t>specialization</a:t>
            </a:r>
          </a:p>
          <a:p>
            <a:pPr lvl="1">
              <a:defRPr/>
            </a:pPr>
            <a:r>
              <a:rPr lang="en-US" sz="2400" b="0" i="0" u="none" strike="noStrike" cap="none" spc="0">
                <a:solidFill>
                  <a:schemeClr val="tx1"/>
                </a:solidFill>
                <a:latin typeface="Calibri"/>
                <a:ea typeface="Calibri"/>
                <a:cs typeface="Calibri"/>
              </a:rPr>
              <a:t>generalization</a:t>
            </a:r>
          </a:p>
          <a:p>
            <a:pPr lvl="1">
              <a:defRPr/>
            </a:pPr>
            <a:r>
              <a:rPr lang="en-US" sz="2400" b="0" i="0" u="none" strike="noStrike" cap="none" spc="0">
                <a:solidFill>
                  <a:schemeClr val="tx1"/>
                </a:solidFill>
                <a:latin typeface="Calibri"/>
                <a:ea typeface="Calibri"/>
                <a:cs typeface="Calibri"/>
              </a:rPr>
              <a:t>aggregation</a:t>
            </a:r>
            <a:endParaRPr lang="en-US" sz="2800" b="0" i="0" u="none" strike="noStrike" cap="none" spc="0">
              <a:solidFill>
                <a:schemeClr val="tx1"/>
              </a:solidFill>
              <a:latin typeface="Calibri"/>
              <a:cs typeface="Calibri"/>
            </a:endParaRPr>
          </a:p>
        </p:txBody>
      </p:sp>
      <p:sp>
        <p:nvSpPr>
          <p:cNvPr id="163644318" name="Date Placeholder 3"/>
          <p:cNvSpPr>
            <a:spLocks noGrp="1"/>
          </p:cNvSpPr>
          <p:nvPr>
            <p:ph type="dt" sz="half" idx="10"/>
          </p:nvPr>
        </p:nvSpPr>
        <p:spPr bwMode="auto"/>
        <p:txBody>
          <a:bodyPr/>
          <a:lstStyle/>
          <a:p>
            <a:pPr>
              <a:defRPr/>
            </a:pPr>
            <a:fld id="{F79F0F8D-66CC-18B5-F60C-648CEF2FF3CF}" type="datetime1">
              <a:rPr lang="en-US"/>
              <a:t>11/17/2025</a:t>
            </a:fld>
            <a:endParaRPr lang="en-US"/>
          </a:p>
        </p:txBody>
      </p:sp>
      <p:sp>
        <p:nvSpPr>
          <p:cNvPr id="1254092618" name="Slide Number Placeholder 5"/>
          <p:cNvSpPr>
            <a:spLocks noGrp="1"/>
          </p:cNvSpPr>
          <p:nvPr>
            <p:ph type="sldNum" sz="quarter" idx="12"/>
          </p:nvPr>
        </p:nvSpPr>
        <p:spPr bwMode="auto"/>
        <p:txBody>
          <a:bodyPr/>
          <a:lstStyle/>
          <a:p>
            <a:pPr>
              <a:defRPr/>
            </a:pPr>
            <a:fld id="{2045391D-852E-978D-E828-66156F616C60}" type="slidenum">
              <a:rPr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4710097" name="Title 1"/>
          <p:cNvSpPr>
            <a:spLocks noGrp="1"/>
          </p:cNvSpPr>
          <p:nvPr>
            <p:ph type="title"/>
          </p:nvPr>
        </p:nvSpPr>
        <p:spPr bwMode="auto"/>
        <p:txBody>
          <a:bodyPr/>
          <a:lstStyle/>
          <a:p>
            <a:pPr algn="ctr">
              <a:defRPr/>
            </a:pPr>
            <a:r>
              <a:t>Specialization and Generalization</a:t>
            </a:r>
          </a:p>
        </p:txBody>
      </p:sp>
      <p:pic>
        <p:nvPicPr>
          <p:cNvPr id="802245415" name="Content Placeholder 802245414"/>
          <p:cNvPicPr>
            <a:picLocks noGrp="1" noChangeAspect="1"/>
          </p:cNvPicPr>
          <p:nvPr>
            <p:ph idx="1"/>
          </p:nvPr>
        </p:nvPicPr>
        <p:blipFill>
          <a:blip r:embed="rId3"/>
          <a:stretch/>
        </p:blipFill>
        <p:spPr bwMode="auto">
          <a:xfrm>
            <a:off x="2845502" y="1348932"/>
            <a:ext cx="7136696" cy="5007416"/>
          </a:xfrm>
          <a:prstGeom prst="rect">
            <a:avLst/>
          </a:prstGeom>
        </p:spPr>
      </p:pic>
      <p:sp>
        <p:nvSpPr>
          <p:cNvPr id="781924304" name="Date Placeholder 3"/>
          <p:cNvSpPr>
            <a:spLocks noGrp="1"/>
          </p:cNvSpPr>
          <p:nvPr>
            <p:ph type="dt" sz="half" idx="10"/>
          </p:nvPr>
        </p:nvSpPr>
        <p:spPr bwMode="auto"/>
        <p:txBody>
          <a:bodyPr/>
          <a:lstStyle/>
          <a:p>
            <a:pPr>
              <a:defRPr/>
            </a:pPr>
            <a:fld id="{4556BE47-A89A-F76A-E39F-6658C7A57990}" type="datetime1">
              <a:rPr lang="en-US"/>
              <a:t>11/17/2025</a:t>
            </a:fld>
            <a:endParaRPr lang="en-US"/>
          </a:p>
        </p:txBody>
      </p:sp>
      <p:sp>
        <p:nvSpPr>
          <p:cNvPr id="1398136873" name="Slide Number Placeholder 5"/>
          <p:cNvSpPr>
            <a:spLocks noGrp="1"/>
          </p:cNvSpPr>
          <p:nvPr>
            <p:ph type="sldNum" sz="quarter" idx="12"/>
          </p:nvPr>
        </p:nvSpPr>
        <p:spPr bwMode="auto"/>
        <p:txBody>
          <a:bodyPr/>
          <a:lstStyle/>
          <a:p>
            <a:pPr>
              <a:defRPr/>
            </a:pPr>
            <a:fld id="{8079FEF9-8EF0-AB62-06BF-3A3FBCD1018D}" type="slidenum">
              <a:rPr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11106849" name="Title 1"/>
          <p:cNvSpPr>
            <a:spLocks noGrp="1"/>
          </p:cNvSpPr>
          <p:nvPr>
            <p:ph type="title"/>
          </p:nvPr>
        </p:nvSpPr>
        <p:spPr bwMode="auto"/>
        <p:txBody>
          <a:bodyPr/>
          <a:lstStyle/>
          <a:p>
            <a:pPr algn="ctr">
              <a:defRPr/>
            </a:pPr>
            <a:r>
              <a:rPr lang="en-US" sz="4400" b="0" i="0" u="none" strike="noStrike" cap="none" spc="0">
                <a:solidFill>
                  <a:schemeClr val="tx1"/>
                </a:solidFill>
                <a:latin typeface="+mj-lt"/>
                <a:ea typeface="+mj-ea"/>
                <a:cs typeface="+mj-cs"/>
              </a:rPr>
              <a:t>Specialization and Generalization</a:t>
            </a:r>
            <a:endParaRPr sz="4400"/>
          </a:p>
        </p:txBody>
      </p:sp>
      <p:sp>
        <p:nvSpPr>
          <p:cNvPr id="633856215"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000"/>
          </a:bodyPr>
          <a:lstStyle/>
          <a:p>
            <a:pPr>
              <a:defRPr/>
            </a:pPr>
            <a:r>
              <a:rPr lang="en-US" sz="2800" b="1" i="0" u="none" strike="noStrike" cap="none" spc="0">
                <a:solidFill>
                  <a:schemeClr val="tx1"/>
                </a:solidFill>
                <a:latin typeface="Calibri"/>
                <a:ea typeface="Calibri"/>
                <a:cs typeface="Calibri"/>
              </a:rPr>
              <a:t>Specialization </a:t>
            </a:r>
            <a:r>
              <a:rPr lang="en-US" sz="2800" b="0" i="0" u="none" strike="noStrike" cap="none" spc="0">
                <a:solidFill>
                  <a:schemeClr val="tx1"/>
                </a:solidFill>
                <a:latin typeface="Calibri"/>
                <a:ea typeface="Calibri"/>
                <a:cs typeface="Calibri"/>
              </a:rPr>
              <a:t>is the process of identifying subsets of an entity set (the superclass) that share some distinguishing characteristic. </a:t>
            </a:r>
          </a:p>
          <a:p>
            <a:pPr>
              <a:defRPr/>
            </a:pPr>
            <a:r>
              <a:rPr lang="en-US" sz="2800" b="0" i="0" u="none" strike="noStrike" cap="none" spc="0">
                <a:solidFill>
                  <a:schemeClr val="tx1"/>
                </a:solidFill>
                <a:latin typeface="Calibri"/>
                <a:ea typeface="Calibri"/>
                <a:cs typeface="Calibri"/>
              </a:rPr>
              <a:t>Typically the superclass is defined first, the subclasses are defined next, and subclass-specific attributes and relationship sets are then added.</a:t>
            </a:r>
            <a:endParaRPr lang="en-US" sz="2800" b="0" i="0" u="none" strike="noStrike" cap="none" spc="0">
              <a:solidFill>
                <a:schemeClr val="tx1"/>
              </a:solidFill>
              <a:latin typeface="Calibri"/>
              <a:cs typeface="Calibri"/>
            </a:endParaRPr>
          </a:p>
          <a:p>
            <a:pPr>
              <a:defRPr/>
            </a:pPr>
            <a:r>
              <a:rPr lang="en-US" sz="2800" b="1" i="0" u="none" strike="noStrike" cap="none" spc="0">
                <a:solidFill>
                  <a:schemeClr val="tx1"/>
                </a:solidFill>
                <a:latin typeface="Calibri"/>
                <a:ea typeface="Calibri"/>
                <a:cs typeface="Calibri"/>
              </a:rPr>
              <a:t>Generalization </a:t>
            </a:r>
            <a:r>
              <a:rPr lang="en-US" sz="2800" b="0" i="0" u="none" strike="noStrike" cap="none" spc="0">
                <a:solidFill>
                  <a:schemeClr val="tx1"/>
                </a:solidFill>
                <a:latin typeface="Calibri"/>
                <a:ea typeface="Calibri"/>
                <a:cs typeface="Calibri"/>
              </a:rPr>
              <a:t>consists of identifying some common characteristics of a collection of entity sets and creating a new entity set that contains entities possessing these common characteristics.</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Typically the subclasses are defined first, the superclass is defined next, and any relationship sets that involve the superclass are then defined.</a:t>
            </a:r>
            <a:endParaRPr lang="en-US" sz="2800" b="0" i="0" u="none" strike="noStrike" cap="none" spc="0">
              <a:solidFill>
                <a:schemeClr val="tx1"/>
              </a:solidFill>
              <a:latin typeface="Calibri"/>
              <a:cs typeface="Calibri"/>
            </a:endParaRPr>
          </a:p>
        </p:txBody>
      </p:sp>
      <p:sp>
        <p:nvSpPr>
          <p:cNvPr id="1819185319" name="Date Placeholder 3"/>
          <p:cNvSpPr>
            <a:spLocks noGrp="1"/>
          </p:cNvSpPr>
          <p:nvPr>
            <p:ph type="dt" sz="half" idx="10"/>
          </p:nvPr>
        </p:nvSpPr>
        <p:spPr bwMode="auto"/>
        <p:txBody>
          <a:bodyPr/>
          <a:lstStyle/>
          <a:p>
            <a:pPr>
              <a:defRPr/>
            </a:pPr>
            <a:fld id="{010AF8AB-5216-0473-5621-4FC80746B115}" type="datetime1">
              <a:rPr lang="en-US"/>
              <a:t>11/17/2025</a:t>
            </a:fld>
            <a:endParaRPr lang="en-US"/>
          </a:p>
        </p:txBody>
      </p:sp>
      <p:sp>
        <p:nvSpPr>
          <p:cNvPr id="479439442" name="Slide Number Placeholder 5"/>
          <p:cNvSpPr>
            <a:spLocks noGrp="1"/>
          </p:cNvSpPr>
          <p:nvPr>
            <p:ph type="sldNum" sz="quarter" idx="12"/>
          </p:nvPr>
        </p:nvSpPr>
        <p:spPr bwMode="auto"/>
        <p:txBody>
          <a:bodyPr/>
          <a:lstStyle/>
          <a:p>
            <a:pPr>
              <a:defRPr/>
            </a:pPr>
            <a:fld id="{F0908750-FE54-0855-A5E0-E78803C55952}" type="slidenum">
              <a:rPr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222362" name="Title 1"/>
          <p:cNvSpPr>
            <a:spLocks noGrp="1"/>
          </p:cNvSpPr>
          <p:nvPr>
            <p:ph type="title"/>
          </p:nvPr>
        </p:nvSpPr>
        <p:spPr bwMode="auto"/>
        <p:txBody>
          <a:bodyPr/>
          <a:lstStyle/>
          <a:p>
            <a:pPr algn="ctr">
              <a:defRPr/>
            </a:pPr>
            <a:r>
              <a:rPr b="1"/>
              <a:t>Extended ER Diagram</a:t>
            </a:r>
          </a:p>
        </p:txBody>
      </p:sp>
      <p:sp>
        <p:nvSpPr>
          <p:cNvPr id="1723450916"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A company maintains information about its employees, who may be either hourly-paid or contract-based. Each employee is assigned to a department, and customers interact with employees through these departments for services or product inquiries.</a:t>
            </a:r>
            <a:endParaRPr/>
          </a:p>
        </p:txBody>
      </p:sp>
      <p:sp>
        <p:nvSpPr>
          <p:cNvPr id="1380699494" name="Date Placeholder 3"/>
          <p:cNvSpPr>
            <a:spLocks noGrp="1"/>
          </p:cNvSpPr>
          <p:nvPr>
            <p:ph type="dt" sz="half" idx="10"/>
          </p:nvPr>
        </p:nvSpPr>
        <p:spPr bwMode="auto"/>
        <p:txBody>
          <a:bodyPr/>
          <a:lstStyle/>
          <a:p>
            <a:pPr>
              <a:defRPr/>
            </a:pPr>
            <a:fld id="{977F75F3-9341-785A-4E2C-69092313BD06}" type="datetime1">
              <a:rPr lang="en-US"/>
              <a:t>11/17/2025</a:t>
            </a:fld>
            <a:endParaRPr lang="en-US"/>
          </a:p>
        </p:txBody>
      </p:sp>
      <p:sp>
        <p:nvSpPr>
          <p:cNvPr id="776922802" name="Slide Number Placeholder 5"/>
          <p:cNvSpPr>
            <a:spLocks noGrp="1"/>
          </p:cNvSpPr>
          <p:nvPr>
            <p:ph type="sldNum" sz="quarter" idx="12"/>
          </p:nvPr>
        </p:nvSpPr>
        <p:spPr bwMode="auto"/>
        <p:txBody>
          <a:bodyPr/>
          <a:lstStyle/>
          <a:p>
            <a:pPr>
              <a:defRPr/>
            </a:pPr>
            <a:fld id="{A7654897-94E7-AF0A-CD60-5781B5E83315}" type="slidenum">
              <a:rPr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5758072" name="Title 1"/>
          <p:cNvSpPr>
            <a:spLocks noGrp="1"/>
          </p:cNvSpPr>
          <p:nvPr>
            <p:ph type="title"/>
          </p:nvPr>
        </p:nvSpPr>
        <p:spPr bwMode="auto"/>
        <p:txBody>
          <a:bodyPr/>
          <a:lstStyle/>
          <a:p>
            <a:pPr algn="ctr">
              <a:defRPr/>
            </a:pPr>
            <a:r>
              <a:rPr b="1"/>
              <a:t>Aggregation in ER Model</a:t>
            </a:r>
          </a:p>
        </p:txBody>
      </p:sp>
      <p:sp>
        <p:nvSpPr>
          <p:cNvPr id="542889558"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Aggregation allows us to indicate that a relationship set (identified through a dashed box) participates in another relationship set.</a:t>
            </a:r>
          </a:p>
          <a:p>
            <a:pPr>
              <a:defRPr/>
            </a:pPr>
            <a:endParaRPr lang="en-US" sz="2800" b="0" i="0" u="none" strike="noStrike" cap="none" spc="0">
              <a:solidFill>
                <a:schemeClr val="tx1"/>
              </a:solidFill>
              <a:latin typeface="Calibri"/>
              <a:cs typeface="Calibri"/>
            </a:endParaRPr>
          </a:p>
          <a:p>
            <a:pPr>
              <a:defRPr/>
            </a:pPr>
            <a:endParaRPr lang="en-US" sz="2800" b="0" i="0" u="none" strike="noStrike" cap="none" spc="0">
              <a:solidFill>
                <a:schemeClr val="tx1"/>
              </a:solidFill>
              <a:latin typeface="Calibri"/>
              <a:cs typeface="Calibri"/>
            </a:endParaRPr>
          </a:p>
        </p:txBody>
      </p:sp>
      <p:sp>
        <p:nvSpPr>
          <p:cNvPr id="571667805" name="Date Placeholder 3"/>
          <p:cNvSpPr>
            <a:spLocks noGrp="1"/>
          </p:cNvSpPr>
          <p:nvPr>
            <p:ph type="dt" sz="half" idx="10"/>
          </p:nvPr>
        </p:nvSpPr>
        <p:spPr bwMode="auto"/>
        <p:txBody>
          <a:bodyPr/>
          <a:lstStyle/>
          <a:p>
            <a:pPr>
              <a:defRPr/>
            </a:pPr>
            <a:fld id="{3EA40B4A-7151-9938-0897-9AD70406658F}" type="datetime1">
              <a:rPr lang="en-US"/>
              <a:t>11/17/2025</a:t>
            </a:fld>
            <a:endParaRPr lang="en-US"/>
          </a:p>
        </p:txBody>
      </p:sp>
      <p:sp>
        <p:nvSpPr>
          <p:cNvPr id="1299640778" name="Slide Number Placeholder 5"/>
          <p:cNvSpPr>
            <a:spLocks noGrp="1"/>
          </p:cNvSpPr>
          <p:nvPr>
            <p:ph type="sldNum" sz="quarter" idx="12"/>
          </p:nvPr>
        </p:nvSpPr>
        <p:spPr bwMode="auto"/>
        <p:txBody>
          <a:bodyPr/>
          <a:lstStyle/>
          <a:p>
            <a:pPr>
              <a:defRPr/>
            </a:pPr>
            <a:fld id="{70C35251-0D52-2D87-26D1-6BAAE94077EA}" type="slidenum">
              <a:rPr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96715673" name="Title 1"/>
          <p:cNvSpPr>
            <a:spLocks noGrp="1"/>
          </p:cNvSpPr>
          <p:nvPr>
            <p:ph type="title"/>
          </p:nvPr>
        </p:nvSpPr>
        <p:spPr bwMode="auto"/>
        <p:txBody>
          <a:bodyPr/>
          <a:lstStyle/>
          <a:p>
            <a:pPr>
              <a:defRPr/>
            </a:pPr>
            <a:endParaRPr/>
          </a:p>
        </p:txBody>
      </p:sp>
      <p:sp>
        <p:nvSpPr>
          <p:cNvPr id="1661809577" name="Content Placeholder 2"/>
          <p:cNvSpPr>
            <a:spLocks noGrp="1"/>
          </p:cNvSpPr>
          <p:nvPr>
            <p:ph idx="1"/>
          </p:nvPr>
        </p:nvSpPr>
        <p:spPr bwMode="auto"/>
        <p:txBody>
          <a:bodyPr/>
          <a:lstStyle/>
          <a:p>
            <a:pPr>
              <a:defRPr/>
            </a:pPr>
            <a:endParaRPr/>
          </a:p>
        </p:txBody>
      </p:sp>
      <p:sp>
        <p:nvSpPr>
          <p:cNvPr id="1935996699" name="Date Placeholder 3"/>
          <p:cNvSpPr>
            <a:spLocks noGrp="1"/>
          </p:cNvSpPr>
          <p:nvPr>
            <p:ph type="dt" sz="half" idx="10"/>
          </p:nvPr>
        </p:nvSpPr>
        <p:spPr bwMode="auto"/>
        <p:txBody>
          <a:bodyPr/>
          <a:lstStyle/>
          <a:p>
            <a:pPr>
              <a:defRPr/>
            </a:pPr>
            <a:fld id="{F0689580-9164-9C7B-5733-BF7F582B6659}" type="datetime1">
              <a:rPr lang="en-US"/>
              <a:t>11/17/2025</a:t>
            </a:fld>
            <a:endParaRPr lang="en-US"/>
          </a:p>
        </p:txBody>
      </p:sp>
      <p:sp>
        <p:nvSpPr>
          <p:cNvPr id="1951256366" name="Slide Number Placeholder 5"/>
          <p:cNvSpPr>
            <a:spLocks noGrp="1"/>
          </p:cNvSpPr>
          <p:nvPr>
            <p:ph type="sldNum" sz="quarter" idx="12"/>
          </p:nvPr>
        </p:nvSpPr>
        <p:spPr bwMode="auto"/>
        <p:txBody>
          <a:bodyPr/>
          <a:lstStyle/>
          <a:p>
            <a:pPr>
              <a:defRPr/>
            </a:pPr>
            <a:fld id="{FC95F978-A2B6-2930-AF22-7C8AFC29F8AA}" type="slidenum">
              <a:rPr lang="en-US"/>
              <a:t>45</a:t>
            </a:fld>
            <a:endParaRPr lang="en-US"/>
          </a:p>
        </p:txBody>
      </p:sp>
      <p:pic>
        <p:nvPicPr>
          <p:cNvPr id="122726151" name="Picture 122726150"/>
          <p:cNvPicPr>
            <a:picLocks noChangeAspect="1"/>
          </p:cNvPicPr>
          <p:nvPr/>
        </p:nvPicPr>
        <p:blipFill>
          <a:blip r:embed="rId3"/>
          <a:stretch/>
        </p:blipFill>
        <p:spPr bwMode="auto">
          <a:xfrm>
            <a:off x="1421600" y="979714"/>
            <a:ext cx="9200134" cy="573180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E1B9-A54B-89B2-0FB8-D5EE8481A562}"/>
              </a:ext>
            </a:extLst>
          </p:cNvPr>
          <p:cNvSpPr>
            <a:spLocks noGrp="1"/>
          </p:cNvSpPr>
          <p:nvPr>
            <p:ph type="title"/>
          </p:nvPr>
        </p:nvSpPr>
        <p:spPr/>
        <p:txBody>
          <a:bodyPr/>
          <a:lstStyle/>
          <a:p>
            <a:pPr algn="ctr"/>
            <a:r>
              <a:rPr lang="en-US" b="1" dirty="0"/>
              <a:t>ER to Relational Mapping</a:t>
            </a:r>
          </a:p>
        </p:txBody>
      </p:sp>
      <p:sp>
        <p:nvSpPr>
          <p:cNvPr id="3" name="Content Placeholder 2">
            <a:extLst>
              <a:ext uri="{FF2B5EF4-FFF2-40B4-BE49-F238E27FC236}">
                <a16:creationId xmlns:a16="http://schemas.microsoft.com/office/drawing/2014/main" id="{B9E63F7D-5AFA-C79D-7F43-657D48E61678}"/>
              </a:ext>
            </a:extLst>
          </p:cNvPr>
          <p:cNvSpPr>
            <a:spLocks noGrp="1"/>
          </p:cNvSpPr>
          <p:nvPr>
            <p:ph idx="1"/>
          </p:nvPr>
        </p:nvSpPr>
        <p:spPr/>
        <p:txBody>
          <a:bodyPr/>
          <a:lstStyle/>
          <a:p>
            <a:r>
              <a:rPr lang="en-US" dirty="0"/>
              <a:t>The ER model represents the </a:t>
            </a:r>
            <a:r>
              <a:rPr lang="en-US" b="1" dirty="0"/>
              <a:t>conceptual design </a:t>
            </a:r>
            <a:r>
              <a:rPr lang="en-US" dirty="0"/>
              <a:t>of a database  focusing on </a:t>
            </a:r>
            <a:r>
              <a:rPr lang="en-US" b="1" dirty="0"/>
              <a:t>entities, relationships, and constraints</a:t>
            </a:r>
            <a:r>
              <a:rPr lang="en-US" dirty="0"/>
              <a:t>.</a:t>
            </a:r>
          </a:p>
          <a:p>
            <a:r>
              <a:rPr lang="en-US" dirty="0"/>
              <a:t>The Relational model represents the logical design, which can be implemented in a DBMS like MySQL or PostgreSQL.</a:t>
            </a:r>
          </a:p>
          <a:p>
            <a:r>
              <a:rPr lang="en-US" dirty="0"/>
              <a:t>Mapping is required to convert the conceptual ER diagram into relational tables that can store real data.</a:t>
            </a:r>
          </a:p>
        </p:txBody>
      </p:sp>
      <p:sp>
        <p:nvSpPr>
          <p:cNvPr id="4" name="Date Placeholder 3">
            <a:extLst>
              <a:ext uri="{FF2B5EF4-FFF2-40B4-BE49-F238E27FC236}">
                <a16:creationId xmlns:a16="http://schemas.microsoft.com/office/drawing/2014/main" id="{B454B2F7-179C-B275-E4E1-7EF9FA4D0707}"/>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C277816C-A6B6-F502-105E-7E8758D8C4CC}"/>
              </a:ext>
            </a:extLst>
          </p:cNvPr>
          <p:cNvSpPr>
            <a:spLocks noGrp="1"/>
          </p:cNvSpPr>
          <p:nvPr>
            <p:ph type="sldNum" sz="quarter" idx="12"/>
          </p:nvPr>
        </p:nvSpPr>
        <p:spPr/>
        <p:txBody>
          <a:bodyPr/>
          <a:lstStyle/>
          <a:p>
            <a:pPr>
              <a:defRPr/>
            </a:pPr>
            <a:fld id="{2C4FE033-73EA-43BF-906B-54A8C44CA3A6}" type="slidenum">
              <a:rPr lang="en-US" smtClean="0"/>
              <a:t>46</a:t>
            </a:fld>
            <a:endParaRPr lang="en-US"/>
          </a:p>
        </p:txBody>
      </p:sp>
    </p:spTree>
    <p:extLst>
      <p:ext uri="{BB962C8B-B14F-4D97-AF65-F5344CB8AC3E}">
        <p14:creationId xmlns:p14="http://schemas.microsoft.com/office/powerpoint/2010/main" val="23101520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F88C-FA55-6432-2F73-ECF0804B539D}"/>
              </a:ext>
            </a:extLst>
          </p:cNvPr>
          <p:cNvSpPr>
            <a:spLocks noGrp="1"/>
          </p:cNvSpPr>
          <p:nvPr>
            <p:ph type="title"/>
          </p:nvPr>
        </p:nvSpPr>
        <p:spPr/>
        <p:txBody>
          <a:bodyPr/>
          <a:lstStyle/>
          <a:p>
            <a:pPr algn="ctr"/>
            <a:r>
              <a:rPr lang="en-US" b="1" dirty="0"/>
              <a:t>Steps in ER to Relational Mapping</a:t>
            </a:r>
          </a:p>
        </p:txBody>
      </p:sp>
      <p:pic>
        <p:nvPicPr>
          <p:cNvPr id="7" name="Content Placeholder 6" descr="A diagram of a company&#10;&#10;Description automatically generated">
            <a:extLst>
              <a:ext uri="{FF2B5EF4-FFF2-40B4-BE49-F238E27FC236}">
                <a16:creationId xmlns:a16="http://schemas.microsoft.com/office/drawing/2014/main" id="{B1C49F08-E1D2-3FB0-50AF-1563733C3F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0889" y="1448274"/>
            <a:ext cx="6375748" cy="5409726"/>
          </a:xfrm>
        </p:spPr>
      </p:pic>
      <p:sp>
        <p:nvSpPr>
          <p:cNvPr id="4" name="Date Placeholder 3">
            <a:extLst>
              <a:ext uri="{FF2B5EF4-FFF2-40B4-BE49-F238E27FC236}">
                <a16:creationId xmlns:a16="http://schemas.microsoft.com/office/drawing/2014/main" id="{CF4D3DE2-3C48-F7F9-E4D3-9C05C00F073C}"/>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5F65F619-06E5-2730-D388-345902E016BA}"/>
              </a:ext>
            </a:extLst>
          </p:cNvPr>
          <p:cNvSpPr>
            <a:spLocks noGrp="1"/>
          </p:cNvSpPr>
          <p:nvPr>
            <p:ph type="sldNum" sz="quarter" idx="12"/>
          </p:nvPr>
        </p:nvSpPr>
        <p:spPr/>
        <p:txBody>
          <a:bodyPr/>
          <a:lstStyle/>
          <a:p>
            <a:pPr>
              <a:defRPr/>
            </a:pPr>
            <a:fld id="{2C4FE033-73EA-43BF-906B-54A8C44CA3A6}" type="slidenum">
              <a:rPr lang="en-US" smtClean="0"/>
              <a:t>47</a:t>
            </a:fld>
            <a:endParaRPr lang="en-US"/>
          </a:p>
        </p:txBody>
      </p:sp>
      <p:sp>
        <p:nvSpPr>
          <p:cNvPr id="8" name="TextBox 7">
            <a:extLst>
              <a:ext uri="{FF2B5EF4-FFF2-40B4-BE49-F238E27FC236}">
                <a16:creationId xmlns:a16="http://schemas.microsoft.com/office/drawing/2014/main" id="{54E314DC-FE88-D7A0-823F-3C5BE4E137AB}"/>
              </a:ext>
            </a:extLst>
          </p:cNvPr>
          <p:cNvSpPr txBox="1"/>
          <p:nvPr/>
        </p:nvSpPr>
        <p:spPr>
          <a:xfrm>
            <a:off x="7431110" y="2041302"/>
            <a:ext cx="4926169" cy="923330"/>
          </a:xfrm>
          <a:prstGeom prst="rect">
            <a:avLst/>
          </a:prstGeom>
          <a:noFill/>
        </p:spPr>
        <p:txBody>
          <a:bodyPr wrap="square" rtlCol="0">
            <a:spAutoFit/>
          </a:bodyPr>
          <a:lstStyle/>
          <a:p>
            <a:r>
              <a:rPr lang="en-US" b="1" dirty="0"/>
              <a:t>ERD of a Company</a:t>
            </a:r>
          </a:p>
          <a:p>
            <a:r>
              <a:rPr lang="en-US" dirty="0"/>
              <a:t>Source: Fundamentals of Database Systems (</a:t>
            </a:r>
            <a:r>
              <a:rPr lang="en-US" dirty="0" err="1"/>
              <a:t>Ramez</a:t>
            </a:r>
            <a:r>
              <a:rPr lang="en-US" dirty="0"/>
              <a:t> </a:t>
            </a:r>
            <a:r>
              <a:rPr lang="en-US" dirty="0" err="1"/>
              <a:t>Elmasri</a:t>
            </a:r>
            <a:r>
              <a:rPr lang="en-US" dirty="0"/>
              <a:t>, Shamkant B. Navathe)</a:t>
            </a:r>
          </a:p>
        </p:txBody>
      </p:sp>
    </p:spTree>
    <p:extLst>
      <p:ext uri="{BB962C8B-B14F-4D97-AF65-F5344CB8AC3E}">
        <p14:creationId xmlns:p14="http://schemas.microsoft.com/office/powerpoint/2010/main" val="1786279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7858-997B-18C9-7825-9E8189F752ED}"/>
              </a:ext>
            </a:extLst>
          </p:cNvPr>
          <p:cNvSpPr>
            <a:spLocks noGrp="1"/>
          </p:cNvSpPr>
          <p:nvPr>
            <p:ph type="title"/>
          </p:nvPr>
        </p:nvSpPr>
        <p:spPr/>
        <p:txBody>
          <a:bodyPr/>
          <a:lstStyle/>
          <a:p>
            <a:pPr algn="ctr"/>
            <a:r>
              <a:rPr lang="en-US" b="1" dirty="0"/>
              <a:t>Step 1: Mapping Strong Entity</a:t>
            </a:r>
          </a:p>
        </p:txBody>
      </p:sp>
      <p:sp>
        <p:nvSpPr>
          <p:cNvPr id="3" name="Content Placeholder 2">
            <a:extLst>
              <a:ext uri="{FF2B5EF4-FFF2-40B4-BE49-F238E27FC236}">
                <a16:creationId xmlns:a16="http://schemas.microsoft.com/office/drawing/2014/main" id="{EA81D856-1453-1AC7-9348-83A5C977F1F6}"/>
              </a:ext>
            </a:extLst>
          </p:cNvPr>
          <p:cNvSpPr>
            <a:spLocks noGrp="1"/>
          </p:cNvSpPr>
          <p:nvPr>
            <p:ph idx="1"/>
          </p:nvPr>
        </p:nvSpPr>
        <p:spPr/>
        <p:txBody>
          <a:bodyPr/>
          <a:lstStyle/>
          <a:p>
            <a:r>
              <a:rPr lang="en-US" dirty="0"/>
              <a:t>Figure out all the regular/strong entity from the diagram and then create a corresponding relation(table) that includes all the simple attributes.</a:t>
            </a:r>
          </a:p>
          <a:p>
            <a:r>
              <a:rPr lang="en-US" dirty="0"/>
              <a:t>For composite attribute flatten it into the simple component attributes </a:t>
            </a:r>
          </a:p>
          <a:p>
            <a:r>
              <a:rPr lang="en-US" dirty="0"/>
              <a:t>Choose one of the attributes as a primary key. If composite, the simple attributes together form the primary key.</a:t>
            </a:r>
          </a:p>
          <a:p>
            <a:r>
              <a:rPr lang="en-US" dirty="0"/>
              <a:t>For the given ER-Diagram we have </a:t>
            </a:r>
            <a:r>
              <a:rPr lang="en-US" b="1" dirty="0"/>
              <a:t>Employee</a:t>
            </a:r>
            <a:r>
              <a:rPr lang="en-US" dirty="0"/>
              <a:t>, </a:t>
            </a:r>
            <a:r>
              <a:rPr lang="en-US" b="1" dirty="0"/>
              <a:t>Department</a:t>
            </a:r>
            <a:r>
              <a:rPr lang="en-US" dirty="0"/>
              <a:t> and </a:t>
            </a:r>
            <a:r>
              <a:rPr lang="en-US" b="1" dirty="0"/>
              <a:t>Project</a:t>
            </a:r>
            <a:r>
              <a:rPr lang="en-US" dirty="0"/>
              <a:t> as strong/regular entity, as they are enclosed in single rectangle.</a:t>
            </a:r>
          </a:p>
        </p:txBody>
      </p:sp>
      <p:sp>
        <p:nvSpPr>
          <p:cNvPr id="4" name="Date Placeholder 3">
            <a:extLst>
              <a:ext uri="{FF2B5EF4-FFF2-40B4-BE49-F238E27FC236}">
                <a16:creationId xmlns:a16="http://schemas.microsoft.com/office/drawing/2014/main" id="{6F43543F-ED38-8D08-C47B-C11A741CD6D8}"/>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76B4FB9F-E6A9-B617-DBE2-D5DD148C2752}"/>
              </a:ext>
            </a:extLst>
          </p:cNvPr>
          <p:cNvSpPr>
            <a:spLocks noGrp="1"/>
          </p:cNvSpPr>
          <p:nvPr>
            <p:ph type="sldNum" sz="quarter" idx="12"/>
          </p:nvPr>
        </p:nvSpPr>
        <p:spPr/>
        <p:txBody>
          <a:bodyPr/>
          <a:lstStyle/>
          <a:p>
            <a:pPr>
              <a:defRPr/>
            </a:pPr>
            <a:fld id="{2C4FE033-73EA-43BF-906B-54A8C44CA3A6}" type="slidenum">
              <a:rPr lang="en-US" smtClean="0"/>
              <a:t>48</a:t>
            </a:fld>
            <a:endParaRPr lang="en-US"/>
          </a:p>
        </p:txBody>
      </p:sp>
    </p:spTree>
    <p:extLst>
      <p:ext uri="{BB962C8B-B14F-4D97-AF65-F5344CB8AC3E}">
        <p14:creationId xmlns:p14="http://schemas.microsoft.com/office/powerpoint/2010/main" val="2908193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1CF472-2385-E34B-6D7D-8699494526A9}"/>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7C6299B1-D4F3-2672-1D0B-423CB01FF9EC}"/>
              </a:ext>
            </a:extLst>
          </p:cNvPr>
          <p:cNvSpPr>
            <a:spLocks noGrp="1"/>
          </p:cNvSpPr>
          <p:nvPr>
            <p:ph type="sldNum" sz="quarter" idx="12"/>
          </p:nvPr>
        </p:nvSpPr>
        <p:spPr/>
        <p:txBody>
          <a:bodyPr/>
          <a:lstStyle/>
          <a:p>
            <a:pPr>
              <a:defRPr/>
            </a:pPr>
            <a:fld id="{2C4FE033-73EA-43BF-906B-54A8C44CA3A6}" type="slidenum">
              <a:rPr lang="en-US" smtClean="0"/>
              <a:t>49</a:t>
            </a:fld>
            <a:endParaRPr lang="en-US"/>
          </a:p>
        </p:txBody>
      </p:sp>
      <p:pic>
        <p:nvPicPr>
          <p:cNvPr id="6" name="Content Placeholder 5">
            <a:extLst>
              <a:ext uri="{FF2B5EF4-FFF2-40B4-BE49-F238E27FC236}">
                <a16:creationId xmlns:a16="http://schemas.microsoft.com/office/drawing/2014/main" id="{7F83EE5D-9739-C1AA-2DA4-5B236E1E89AD}"/>
              </a:ext>
            </a:extLst>
          </p:cNvPr>
          <p:cNvPicPr>
            <a:picLocks noGrp="1" noChangeAspect="1"/>
          </p:cNvPicPr>
          <p:nvPr>
            <p:ph idx="4294967295"/>
          </p:nvPr>
        </p:nvPicPr>
        <p:blipFill>
          <a:blip r:embed="rId2"/>
          <a:stretch>
            <a:fillRect/>
          </a:stretch>
        </p:blipFill>
        <p:spPr>
          <a:xfrm>
            <a:off x="238432" y="1358721"/>
            <a:ext cx="11536172" cy="4359499"/>
          </a:xfrm>
          <a:prstGeom prst="rect">
            <a:avLst/>
          </a:prstGeom>
        </p:spPr>
      </p:pic>
    </p:spTree>
    <p:extLst>
      <p:ext uri="{BB962C8B-B14F-4D97-AF65-F5344CB8AC3E}">
        <p14:creationId xmlns:p14="http://schemas.microsoft.com/office/powerpoint/2010/main" val="2211715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786D-7B2F-96B9-C8C2-5E314EDF754A}"/>
              </a:ext>
            </a:extLst>
          </p:cNvPr>
          <p:cNvSpPr>
            <a:spLocks noGrp="1"/>
          </p:cNvSpPr>
          <p:nvPr>
            <p:ph type="title"/>
          </p:nvPr>
        </p:nvSpPr>
        <p:spPr/>
        <p:txBody>
          <a:bodyPr/>
          <a:lstStyle/>
          <a:p>
            <a:pPr algn="ctr"/>
            <a:r>
              <a:rPr lang="en-US" b="1" dirty="0"/>
              <a:t>Step 2: Mapping Weak Entity</a:t>
            </a:r>
          </a:p>
        </p:txBody>
      </p:sp>
      <p:sp>
        <p:nvSpPr>
          <p:cNvPr id="3" name="Content Placeholder 2">
            <a:extLst>
              <a:ext uri="{FF2B5EF4-FFF2-40B4-BE49-F238E27FC236}">
                <a16:creationId xmlns:a16="http://schemas.microsoft.com/office/drawing/2014/main" id="{44065C59-6AB1-6F63-3786-19E687AB3E0E}"/>
              </a:ext>
            </a:extLst>
          </p:cNvPr>
          <p:cNvSpPr>
            <a:spLocks noGrp="1"/>
          </p:cNvSpPr>
          <p:nvPr>
            <p:ph idx="1"/>
          </p:nvPr>
        </p:nvSpPr>
        <p:spPr/>
        <p:txBody>
          <a:bodyPr>
            <a:normAutofit/>
          </a:bodyPr>
          <a:lstStyle/>
          <a:p>
            <a:r>
              <a:rPr lang="en-US" dirty="0"/>
              <a:t>Figure out the weak entity types from the diagram and create a corresponding relation(table) that includes all its simple attributes.</a:t>
            </a:r>
          </a:p>
          <a:p>
            <a:r>
              <a:rPr lang="en-US" dirty="0"/>
              <a:t>Add as foreign key, all of the primary key attributes in the entity corresponding to the owner entity.</a:t>
            </a:r>
          </a:p>
          <a:p>
            <a:r>
              <a:rPr lang="en-US" dirty="0"/>
              <a:t>The primary key is a combination of all the primary key attributes from the owner and the primary key of the weak entity.</a:t>
            </a:r>
          </a:p>
          <a:p>
            <a:r>
              <a:rPr lang="en-US" dirty="0"/>
              <a:t>For the given ER-Diagram we have </a:t>
            </a:r>
            <a:r>
              <a:rPr lang="en-US" b="1" dirty="0"/>
              <a:t>Dependent</a:t>
            </a:r>
            <a:r>
              <a:rPr lang="en-US" dirty="0"/>
              <a:t> as a weak entity, as it is enclosed in a double rectangle that is indicative of an entity being weak.</a:t>
            </a:r>
          </a:p>
        </p:txBody>
      </p:sp>
      <p:sp>
        <p:nvSpPr>
          <p:cNvPr id="4" name="Date Placeholder 3">
            <a:extLst>
              <a:ext uri="{FF2B5EF4-FFF2-40B4-BE49-F238E27FC236}">
                <a16:creationId xmlns:a16="http://schemas.microsoft.com/office/drawing/2014/main" id="{F409A453-66D0-4EF6-1870-44E5C6DDFBE3}"/>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53F80F58-8EFE-5A91-76C4-8BB6A619862A}"/>
              </a:ext>
            </a:extLst>
          </p:cNvPr>
          <p:cNvSpPr>
            <a:spLocks noGrp="1"/>
          </p:cNvSpPr>
          <p:nvPr>
            <p:ph type="sldNum" sz="quarter" idx="12"/>
          </p:nvPr>
        </p:nvSpPr>
        <p:spPr/>
        <p:txBody>
          <a:bodyPr/>
          <a:lstStyle/>
          <a:p>
            <a:pPr>
              <a:defRPr/>
            </a:pPr>
            <a:fld id="{2C4FE033-73EA-43BF-906B-54A8C44CA3A6}" type="slidenum">
              <a:rPr lang="en-US" smtClean="0"/>
              <a:t>50</a:t>
            </a:fld>
            <a:endParaRPr lang="en-US"/>
          </a:p>
        </p:txBody>
      </p:sp>
    </p:spTree>
    <p:extLst>
      <p:ext uri="{BB962C8B-B14F-4D97-AF65-F5344CB8AC3E}">
        <p14:creationId xmlns:p14="http://schemas.microsoft.com/office/powerpoint/2010/main" val="10220650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2742045-558E-05E0-403C-4B6CE0987CF4}"/>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25A09067-7513-6625-F723-ABCF63C45687}"/>
              </a:ext>
            </a:extLst>
          </p:cNvPr>
          <p:cNvSpPr>
            <a:spLocks noGrp="1"/>
          </p:cNvSpPr>
          <p:nvPr>
            <p:ph type="sldNum" sz="quarter" idx="12"/>
          </p:nvPr>
        </p:nvSpPr>
        <p:spPr/>
        <p:txBody>
          <a:bodyPr/>
          <a:lstStyle/>
          <a:p>
            <a:pPr>
              <a:defRPr/>
            </a:pPr>
            <a:fld id="{2C4FE033-73EA-43BF-906B-54A8C44CA3A6}" type="slidenum">
              <a:rPr lang="en-US" smtClean="0"/>
              <a:t>51</a:t>
            </a:fld>
            <a:endParaRPr lang="en-US"/>
          </a:p>
        </p:txBody>
      </p:sp>
      <p:pic>
        <p:nvPicPr>
          <p:cNvPr id="6" name="Content Placeholder 5">
            <a:extLst>
              <a:ext uri="{FF2B5EF4-FFF2-40B4-BE49-F238E27FC236}">
                <a16:creationId xmlns:a16="http://schemas.microsoft.com/office/drawing/2014/main" id="{7DCC59C3-FC74-217B-A6EA-F95142DAD815}"/>
              </a:ext>
            </a:extLst>
          </p:cNvPr>
          <p:cNvPicPr>
            <a:picLocks noGrp="1" noChangeAspect="1"/>
          </p:cNvPicPr>
          <p:nvPr>
            <p:ph idx="4294967295"/>
          </p:nvPr>
        </p:nvPicPr>
        <p:blipFill>
          <a:blip r:embed="rId2"/>
          <a:stretch>
            <a:fillRect/>
          </a:stretch>
        </p:blipFill>
        <p:spPr>
          <a:xfrm>
            <a:off x="1410237" y="751872"/>
            <a:ext cx="9124418" cy="5604478"/>
          </a:xfrm>
          <a:prstGeom prst="rect">
            <a:avLst/>
          </a:prstGeom>
        </p:spPr>
      </p:pic>
    </p:spTree>
    <p:extLst>
      <p:ext uri="{BB962C8B-B14F-4D97-AF65-F5344CB8AC3E}">
        <p14:creationId xmlns:p14="http://schemas.microsoft.com/office/powerpoint/2010/main" val="34845726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94573F-1E87-F03F-6CB8-9462D55899E6}"/>
              </a:ext>
            </a:extLst>
          </p:cNvPr>
          <p:cNvSpPr>
            <a:spLocks noGrp="1"/>
          </p:cNvSpPr>
          <p:nvPr>
            <p:ph type="title"/>
          </p:nvPr>
        </p:nvSpPr>
        <p:spPr/>
        <p:txBody>
          <a:bodyPr/>
          <a:lstStyle/>
          <a:p>
            <a:pPr algn="ctr"/>
            <a:r>
              <a:rPr lang="en-US" b="1" dirty="0"/>
              <a:t>Step 3: Mapping Cardinality</a:t>
            </a:r>
          </a:p>
        </p:txBody>
      </p:sp>
      <p:sp>
        <p:nvSpPr>
          <p:cNvPr id="5" name="Content Placeholder 4">
            <a:extLst>
              <a:ext uri="{FF2B5EF4-FFF2-40B4-BE49-F238E27FC236}">
                <a16:creationId xmlns:a16="http://schemas.microsoft.com/office/drawing/2014/main" id="{DCC9B39B-0244-EAA8-D6A9-520C783CB767}"/>
              </a:ext>
            </a:extLst>
          </p:cNvPr>
          <p:cNvSpPr>
            <a:spLocks noGrp="1"/>
          </p:cNvSpPr>
          <p:nvPr>
            <p:ph idx="1"/>
          </p:nvPr>
        </p:nvSpPr>
        <p:spPr/>
        <p:txBody>
          <a:bodyPr/>
          <a:lstStyle/>
          <a:p>
            <a:r>
              <a:rPr lang="en-US" b="1" dirty="0"/>
              <a:t>1:1 Relationship:</a:t>
            </a:r>
            <a:r>
              <a:rPr lang="en-US" dirty="0"/>
              <a:t> Add the primary key of one entity as a </a:t>
            </a:r>
            <a:r>
              <a:rPr lang="en-US" b="1" dirty="0"/>
              <a:t>foreign key</a:t>
            </a:r>
            <a:r>
              <a:rPr lang="en-US" dirty="0"/>
              <a:t> in the other.</a:t>
            </a:r>
          </a:p>
          <a:p>
            <a:pPr marL="0" indent="0">
              <a:buNone/>
            </a:pPr>
            <a:endParaRPr lang="en-US" dirty="0"/>
          </a:p>
          <a:p>
            <a:r>
              <a:rPr lang="en-US" b="1" dirty="0"/>
              <a:t>1:N Relationship:</a:t>
            </a:r>
            <a:r>
              <a:rPr lang="en-US" dirty="0"/>
              <a:t> Add the primary key of the </a:t>
            </a:r>
            <a:r>
              <a:rPr lang="en-US" b="1" dirty="0"/>
              <a:t>one</a:t>
            </a:r>
            <a:r>
              <a:rPr lang="en-US" dirty="0"/>
              <a:t> side as a </a:t>
            </a:r>
            <a:r>
              <a:rPr lang="en-US" b="1" dirty="0"/>
              <a:t>foreign key </a:t>
            </a:r>
            <a:r>
              <a:rPr lang="en-US" dirty="0"/>
              <a:t>in the </a:t>
            </a:r>
            <a:r>
              <a:rPr lang="en-US" b="1" dirty="0"/>
              <a:t>many</a:t>
            </a:r>
            <a:r>
              <a:rPr lang="en-US" dirty="0"/>
              <a:t> side.</a:t>
            </a:r>
          </a:p>
          <a:p>
            <a:endParaRPr lang="en-US" dirty="0"/>
          </a:p>
          <a:p>
            <a:r>
              <a:rPr lang="en-US" b="1" dirty="0"/>
              <a:t>M:N Relationship</a:t>
            </a:r>
            <a:r>
              <a:rPr lang="en-US" dirty="0"/>
              <a:t>: Create a new table with foreign keys of both entities as composite primary key.</a:t>
            </a:r>
          </a:p>
        </p:txBody>
      </p:sp>
      <p:sp>
        <p:nvSpPr>
          <p:cNvPr id="2" name="Date Placeholder 1">
            <a:extLst>
              <a:ext uri="{FF2B5EF4-FFF2-40B4-BE49-F238E27FC236}">
                <a16:creationId xmlns:a16="http://schemas.microsoft.com/office/drawing/2014/main" id="{A337811D-FE00-14A5-690A-C801D1A14AB4}"/>
              </a:ext>
            </a:extLst>
          </p:cNvPr>
          <p:cNvSpPr>
            <a:spLocks noGrp="1"/>
          </p:cNvSpPr>
          <p:nvPr>
            <p:ph type="dt" sz="half" idx="10"/>
          </p:nvPr>
        </p:nvSpPr>
        <p:spPr/>
        <p:txBody>
          <a:bodyPr/>
          <a:lstStyle/>
          <a:p>
            <a:pPr>
              <a:defRPr/>
            </a:pPr>
            <a:fld id="{F1D74564-742C-4FA8-8BF9-8587B404E541}" type="datetime1">
              <a:rPr lang="en-US" smtClean="0"/>
              <a:t>11/17/2025</a:t>
            </a:fld>
            <a:endParaRPr lang="en-US"/>
          </a:p>
        </p:txBody>
      </p:sp>
      <p:sp>
        <p:nvSpPr>
          <p:cNvPr id="3" name="Slide Number Placeholder 2">
            <a:extLst>
              <a:ext uri="{FF2B5EF4-FFF2-40B4-BE49-F238E27FC236}">
                <a16:creationId xmlns:a16="http://schemas.microsoft.com/office/drawing/2014/main" id="{0F4888B9-312D-8F53-0CE7-E5E88918AB87}"/>
              </a:ext>
            </a:extLst>
          </p:cNvPr>
          <p:cNvSpPr>
            <a:spLocks noGrp="1"/>
          </p:cNvSpPr>
          <p:nvPr>
            <p:ph type="sldNum" sz="quarter" idx="12"/>
          </p:nvPr>
        </p:nvSpPr>
        <p:spPr/>
        <p:txBody>
          <a:bodyPr/>
          <a:lstStyle/>
          <a:p>
            <a:pPr>
              <a:defRPr/>
            </a:pPr>
            <a:fld id="{2C4FE033-73EA-43BF-906B-54A8C44CA3A6}" type="slidenum">
              <a:rPr lang="en-US" smtClean="0"/>
              <a:t>52</a:t>
            </a:fld>
            <a:endParaRPr lang="en-US"/>
          </a:p>
        </p:txBody>
      </p:sp>
    </p:spTree>
    <p:extLst>
      <p:ext uri="{BB962C8B-B14F-4D97-AF65-F5344CB8AC3E}">
        <p14:creationId xmlns:p14="http://schemas.microsoft.com/office/powerpoint/2010/main" val="3832015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3CFB1-A628-4ED7-0BE4-20841A657A9D}"/>
              </a:ext>
            </a:extLst>
          </p:cNvPr>
          <p:cNvSpPr>
            <a:spLocks noGrp="1"/>
          </p:cNvSpPr>
          <p:nvPr>
            <p:ph type="title"/>
          </p:nvPr>
        </p:nvSpPr>
        <p:spPr/>
        <p:txBody>
          <a:bodyPr/>
          <a:lstStyle/>
          <a:p>
            <a:pPr algn="ctr"/>
            <a:r>
              <a:rPr lang="en-US" b="1" dirty="0"/>
              <a:t>1:1 Relationship</a:t>
            </a:r>
          </a:p>
        </p:txBody>
      </p:sp>
      <p:pic>
        <p:nvPicPr>
          <p:cNvPr id="7" name="Content Placeholder 6">
            <a:extLst>
              <a:ext uri="{FF2B5EF4-FFF2-40B4-BE49-F238E27FC236}">
                <a16:creationId xmlns:a16="http://schemas.microsoft.com/office/drawing/2014/main" id="{115EB5FD-3218-1B39-30F9-D66865A88A2D}"/>
              </a:ext>
            </a:extLst>
          </p:cNvPr>
          <p:cNvPicPr>
            <a:picLocks noGrp="1" noChangeAspect="1"/>
          </p:cNvPicPr>
          <p:nvPr>
            <p:ph idx="1"/>
          </p:nvPr>
        </p:nvPicPr>
        <p:blipFill>
          <a:blip r:embed="rId2"/>
          <a:stretch>
            <a:fillRect/>
          </a:stretch>
        </p:blipFill>
        <p:spPr>
          <a:xfrm>
            <a:off x="1571582" y="1783725"/>
            <a:ext cx="9890162" cy="3569264"/>
          </a:xfrm>
        </p:spPr>
      </p:pic>
      <p:sp>
        <p:nvSpPr>
          <p:cNvPr id="4" name="Date Placeholder 3">
            <a:extLst>
              <a:ext uri="{FF2B5EF4-FFF2-40B4-BE49-F238E27FC236}">
                <a16:creationId xmlns:a16="http://schemas.microsoft.com/office/drawing/2014/main" id="{4B01E6DA-3131-4CAE-83C3-0F25AC03B8FD}"/>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DE384366-B59B-ABA4-1055-DA050B3A2055}"/>
              </a:ext>
            </a:extLst>
          </p:cNvPr>
          <p:cNvSpPr>
            <a:spLocks noGrp="1"/>
          </p:cNvSpPr>
          <p:nvPr>
            <p:ph type="sldNum" sz="quarter" idx="12"/>
          </p:nvPr>
        </p:nvSpPr>
        <p:spPr/>
        <p:txBody>
          <a:bodyPr/>
          <a:lstStyle/>
          <a:p>
            <a:pPr>
              <a:defRPr/>
            </a:pPr>
            <a:fld id="{2C4FE033-73EA-43BF-906B-54A8C44CA3A6}" type="slidenum">
              <a:rPr lang="en-US" smtClean="0"/>
              <a:t>53</a:t>
            </a:fld>
            <a:endParaRPr lang="en-US"/>
          </a:p>
        </p:txBody>
      </p:sp>
    </p:spTree>
    <p:extLst>
      <p:ext uri="{BB962C8B-B14F-4D97-AF65-F5344CB8AC3E}">
        <p14:creationId xmlns:p14="http://schemas.microsoft.com/office/powerpoint/2010/main" val="41728232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B13-F202-1528-BECB-C97C88C38D21}"/>
              </a:ext>
            </a:extLst>
          </p:cNvPr>
          <p:cNvSpPr>
            <a:spLocks noGrp="1"/>
          </p:cNvSpPr>
          <p:nvPr>
            <p:ph type="title"/>
          </p:nvPr>
        </p:nvSpPr>
        <p:spPr/>
        <p:txBody>
          <a:bodyPr/>
          <a:lstStyle/>
          <a:p>
            <a:pPr algn="ctr"/>
            <a:r>
              <a:rPr lang="en-US" b="1" dirty="0"/>
              <a:t>1:N Relationship</a:t>
            </a:r>
          </a:p>
        </p:txBody>
      </p:sp>
      <p:pic>
        <p:nvPicPr>
          <p:cNvPr id="7" name="Content Placeholder 6">
            <a:extLst>
              <a:ext uri="{FF2B5EF4-FFF2-40B4-BE49-F238E27FC236}">
                <a16:creationId xmlns:a16="http://schemas.microsoft.com/office/drawing/2014/main" id="{425AEE9A-03FB-C9D3-09A1-0EA58382410F}"/>
              </a:ext>
            </a:extLst>
          </p:cNvPr>
          <p:cNvPicPr>
            <a:picLocks noGrp="1" noChangeAspect="1"/>
          </p:cNvPicPr>
          <p:nvPr>
            <p:ph idx="1"/>
          </p:nvPr>
        </p:nvPicPr>
        <p:blipFill>
          <a:blip r:embed="rId2"/>
          <a:stretch>
            <a:fillRect/>
          </a:stretch>
        </p:blipFill>
        <p:spPr>
          <a:xfrm>
            <a:off x="2588653" y="1289803"/>
            <a:ext cx="6846685" cy="5066547"/>
          </a:xfrm>
        </p:spPr>
      </p:pic>
      <p:sp>
        <p:nvSpPr>
          <p:cNvPr id="4" name="Date Placeholder 3">
            <a:extLst>
              <a:ext uri="{FF2B5EF4-FFF2-40B4-BE49-F238E27FC236}">
                <a16:creationId xmlns:a16="http://schemas.microsoft.com/office/drawing/2014/main" id="{3D06A969-74F3-112E-DD7D-8AEEAF5A1CD0}"/>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01F6C867-FFB1-C6EA-1F14-E51C7C946997}"/>
              </a:ext>
            </a:extLst>
          </p:cNvPr>
          <p:cNvSpPr>
            <a:spLocks noGrp="1"/>
          </p:cNvSpPr>
          <p:nvPr>
            <p:ph type="sldNum" sz="quarter" idx="12"/>
          </p:nvPr>
        </p:nvSpPr>
        <p:spPr/>
        <p:txBody>
          <a:bodyPr/>
          <a:lstStyle/>
          <a:p>
            <a:pPr>
              <a:defRPr/>
            </a:pPr>
            <a:fld id="{2C4FE033-73EA-43BF-906B-54A8C44CA3A6}" type="slidenum">
              <a:rPr lang="en-US" smtClean="0"/>
              <a:t>54</a:t>
            </a:fld>
            <a:endParaRPr lang="en-US"/>
          </a:p>
        </p:txBody>
      </p:sp>
    </p:spTree>
    <p:extLst>
      <p:ext uri="{BB962C8B-B14F-4D97-AF65-F5344CB8AC3E}">
        <p14:creationId xmlns:p14="http://schemas.microsoft.com/office/powerpoint/2010/main" val="42812896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091D-3716-8FB8-81FD-CBFE4DC5F1D3}"/>
              </a:ext>
            </a:extLst>
          </p:cNvPr>
          <p:cNvSpPr>
            <a:spLocks noGrp="1"/>
          </p:cNvSpPr>
          <p:nvPr>
            <p:ph type="title"/>
          </p:nvPr>
        </p:nvSpPr>
        <p:spPr/>
        <p:txBody>
          <a:bodyPr/>
          <a:lstStyle/>
          <a:p>
            <a:pPr algn="ctr"/>
            <a:r>
              <a:rPr lang="en-US" b="1" dirty="0"/>
              <a:t>M to N Relationship</a:t>
            </a:r>
          </a:p>
        </p:txBody>
      </p:sp>
      <p:pic>
        <p:nvPicPr>
          <p:cNvPr id="7" name="Content Placeholder 6">
            <a:extLst>
              <a:ext uri="{FF2B5EF4-FFF2-40B4-BE49-F238E27FC236}">
                <a16:creationId xmlns:a16="http://schemas.microsoft.com/office/drawing/2014/main" id="{DBF11ECC-C1A0-059D-6C2B-6D31F71FD35C}"/>
              </a:ext>
            </a:extLst>
          </p:cNvPr>
          <p:cNvPicPr>
            <a:picLocks noGrp="1" noChangeAspect="1"/>
          </p:cNvPicPr>
          <p:nvPr>
            <p:ph idx="1"/>
          </p:nvPr>
        </p:nvPicPr>
        <p:blipFill>
          <a:blip r:embed="rId2"/>
          <a:stretch>
            <a:fillRect/>
          </a:stretch>
        </p:blipFill>
        <p:spPr>
          <a:xfrm>
            <a:off x="2337515" y="1407873"/>
            <a:ext cx="6864631" cy="4788408"/>
          </a:xfrm>
        </p:spPr>
      </p:pic>
      <p:sp>
        <p:nvSpPr>
          <p:cNvPr id="4" name="Date Placeholder 3">
            <a:extLst>
              <a:ext uri="{FF2B5EF4-FFF2-40B4-BE49-F238E27FC236}">
                <a16:creationId xmlns:a16="http://schemas.microsoft.com/office/drawing/2014/main" id="{E761731E-1AC0-B629-E29B-B6AC32C2390E}"/>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F7D4E195-63E9-F093-6C6F-C1C2BF458261}"/>
              </a:ext>
            </a:extLst>
          </p:cNvPr>
          <p:cNvSpPr>
            <a:spLocks noGrp="1"/>
          </p:cNvSpPr>
          <p:nvPr>
            <p:ph type="sldNum" sz="quarter" idx="12"/>
          </p:nvPr>
        </p:nvSpPr>
        <p:spPr/>
        <p:txBody>
          <a:bodyPr/>
          <a:lstStyle/>
          <a:p>
            <a:pPr>
              <a:defRPr/>
            </a:pPr>
            <a:fld id="{2C4FE033-73EA-43BF-906B-54A8C44CA3A6}" type="slidenum">
              <a:rPr lang="en-US" smtClean="0"/>
              <a:t>55</a:t>
            </a:fld>
            <a:endParaRPr lang="en-US"/>
          </a:p>
        </p:txBody>
      </p:sp>
    </p:spTree>
    <p:extLst>
      <p:ext uri="{BB962C8B-B14F-4D97-AF65-F5344CB8AC3E}">
        <p14:creationId xmlns:p14="http://schemas.microsoft.com/office/powerpoint/2010/main" val="38600486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3161B-1838-61DB-E88C-887236F671DE}"/>
              </a:ext>
            </a:extLst>
          </p:cNvPr>
          <p:cNvSpPr>
            <a:spLocks noGrp="1"/>
          </p:cNvSpPr>
          <p:nvPr>
            <p:ph type="title"/>
          </p:nvPr>
        </p:nvSpPr>
        <p:spPr/>
        <p:txBody>
          <a:bodyPr/>
          <a:lstStyle/>
          <a:p>
            <a:pPr algn="ctr"/>
            <a:r>
              <a:rPr lang="en-US" b="1" dirty="0"/>
              <a:t>Step 4: Mapping Multi Valued Attribute</a:t>
            </a:r>
          </a:p>
        </p:txBody>
      </p:sp>
      <p:sp>
        <p:nvSpPr>
          <p:cNvPr id="3" name="Content Placeholder 2">
            <a:extLst>
              <a:ext uri="{FF2B5EF4-FFF2-40B4-BE49-F238E27FC236}">
                <a16:creationId xmlns:a16="http://schemas.microsoft.com/office/drawing/2014/main" id="{DBAA1EB3-7249-DF38-4458-DF2C3EB6B82D}"/>
              </a:ext>
            </a:extLst>
          </p:cNvPr>
          <p:cNvSpPr>
            <a:spLocks noGrp="1"/>
          </p:cNvSpPr>
          <p:nvPr>
            <p:ph idx="1"/>
          </p:nvPr>
        </p:nvSpPr>
        <p:spPr/>
        <p:txBody>
          <a:bodyPr/>
          <a:lstStyle/>
          <a:p>
            <a:r>
              <a:rPr lang="en-US" dirty="0"/>
              <a:t>Create a separate table.</a:t>
            </a:r>
          </a:p>
          <a:p>
            <a:r>
              <a:rPr lang="en-US" dirty="0"/>
              <a:t>Include the attribute and the primary key of the original entity.</a:t>
            </a:r>
          </a:p>
          <a:p>
            <a:endParaRPr lang="en-US" dirty="0"/>
          </a:p>
          <a:p>
            <a:endParaRPr lang="en-US" dirty="0"/>
          </a:p>
        </p:txBody>
      </p:sp>
      <p:sp>
        <p:nvSpPr>
          <p:cNvPr id="4" name="Date Placeholder 3">
            <a:extLst>
              <a:ext uri="{FF2B5EF4-FFF2-40B4-BE49-F238E27FC236}">
                <a16:creationId xmlns:a16="http://schemas.microsoft.com/office/drawing/2014/main" id="{C08AE212-A2FE-2163-7037-B4CCA75D57F4}"/>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96583171-AB5F-368A-A628-5D708D8F4144}"/>
              </a:ext>
            </a:extLst>
          </p:cNvPr>
          <p:cNvSpPr>
            <a:spLocks noGrp="1"/>
          </p:cNvSpPr>
          <p:nvPr>
            <p:ph type="sldNum" sz="quarter" idx="12"/>
          </p:nvPr>
        </p:nvSpPr>
        <p:spPr/>
        <p:txBody>
          <a:bodyPr/>
          <a:lstStyle/>
          <a:p>
            <a:pPr>
              <a:defRPr/>
            </a:pPr>
            <a:fld id="{2C4FE033-73EA-43BF-906B-54A8C44CA3A6}" type="slidenum">
              <a:rPr lang="en-US" smtClean="0"/>
              <a:t>56</a:t>
            </a:fld>
            <a:endParaRPr lang="en-US"/>
          </a:p>
        </p:txBody>
      </p:sp>
      <p:pic>
        <p:nvPicPr>
          <p:cNvPr id="8" name="Picture 7">
            <a:extLst>
              <a:ext uri="{FF2B5EF4-FFF2-40B4-BE49-F238E27FC236}">
                <a16:creationId xmlns:a16="http://schemas.microsoft.com/office/drawing/2014/main" id="{FCB3F42F-4A6C-BCF5-949F-330B4DFC2E13}"/>
              </a:ext>
            </a:extLst>
          </p:cNvPr>
          <p:cNvPicPr>
            <a:picLocks noChangeAspect="1"/>
          </p:cNvPicPr>
          <p:nvPr/>
        </p:nvPicPr>
        <p:blipFill>
          <a:blip r:embed="rId2"/>
          <a:stretch>
            <a:fillRect/>
          </a:stretch>
        </p:blipFill>
        <p:spPr>
          <a:xfrm>
            <a:off x="2897747" y="2766541"/>
            <a:ext cx="5306768" cy="3772371"/>
          </a:xfrm>
          <a:prstGeom prst="rect">
            <a:avLst/>
          </a:prstGeom>
        </p:spPr>
      </p:pic>
    </p:spTree>
    <p:extLst>
      <p:ext uri="{BB962C8B-B14F-4D97-AF65-F5344CB8AC3E}">
        <p14:creationId xmlns:p14="http://schemas.microsoft.com/office/powerpoint/2010/main" val="22395168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1610-14A7-85E8-81C1-4DA2A2E42FCC}"/>
              </a:ext>
            </a:extLst>
          </p:cNvPr>
          <p:cNvSpPr>
            <a:spLocks noGrp="1"/>
          </p:cNvSpPr>
          <p:nvPr>
            <p:ph type="title"/>
          </p:nvPr>
        </p:nvSpPr>
        <p:spPr/>
        <p:txBody>
          <a:bodyPr/>
          <a:lstStyle/>
          <a:p>
            <a:pPr algn="ctr"/>
            <a:r>
              <a:rPr lang="en-US" b="1" dirty="0"/>
              <a:t>Exercise</a:t>
            </a:r>
          </a:p>
        </p:txBody>
      </p:sp>
      <p:pic>
        <p:nvPicPr>
          <p:cNvPr id="7" name="Content Placeholder 6">
            <a:extLst>
              <a:ext uri="{FF2B5EF4-FFF2-40B4-BE49-F238E27FC236}">
                <a16:creationId xmlns:a16="http://schemas.microsoft.com/office/drawing/2014/main" id="{9A1842E6-1235-76FA-C703-1CA1DC278543}"/>
              </a:ext>
            </a:extLst>
          </p:cNvPr>
          <p:cNvPicPr>
            <a:picLocks noGrp="1" noChangeAspect="1"/>
          </p:cNvPicPr>
          <p:nvPr>
            <p:ph idx="1"/>
          </p:nvPr>
        </p:nvPicPr>
        <p:blipFill>
          <a:blip r:embed="rId2"/>
          <a:stretch>
            <a:fillRect/>
          </a:stretch>
        </p:blipFill>
        <p:spPr>
          <a:xfrm>
            <a:off x="1300766" y="1399735"/>
            <a:ext cx="6413291" cy="5047685"/>
          </a:xfrm>
        </p:spPr>
      </p:pic>
      <p:sp>
        <p:nvSpPr>
          <p:cNvPr id="4" name="Date Placeholder 3">
            <a:extLst>
              <a:ext uri="{FF2B5EF4-FFF2-40B4-BE49-F238E27FC236}">
                <a16:creationId xmlns:a16="http://schemas.microsoft.com/office/drawing/2014/main" id="{356969DF-C6B8-3A2A-4D58-D2C269C1E61E}"/>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9B699F2F-2C26-AB1B-9259-01BC28972501}"/>
              </a:ext>
            </a:extLst>
          </p:cNvPr>
          <p:cNvSpPr>
            <a:spLocks noGrp="1"/>
          </p:cNvSpPr>
          <p:nvPr>
            <p:ph type="sldNum" sz="quarter" idx="12"/>
          </p:nvPr>
        </p:nvSpPr>
        <p:spPr/>
        <p:txBody>
          <a:bodyPr/>
          <a:lstStyle/>
          <a:p>
            <a:pPr>
              <a:defRPr/>
            </a:pPr>
            <a:fld id="{2C4FE033-73EA-43BF-906B-54A8C44CA3A6}" type="slidenum">
              <a:rPr lang="en-US" smtClean="0"/>
              <a:t>57</a:t>
            </a:fld>
            <a:endParaRPr lang="en-US"/>
          </a:p>
        </p:txBody>
      </p:sp>
      <p:sp>
        <p:nvSpPr>
          <p:cNvPr id="8" name="TextBox 7">
            <a:extLst>
              <a:ext uri="{FF2B5EF4-FFF2-40B4-BE49-F238E27FC236}">
                <a16:creationId xmlns:a16="http://schemas.microsoft.com/office/drawing/2014/main" id="{12684EFC-B207-8683-8BD9-A8EE37550461}"/>
              </a:ext>
            </a:extLst>
          </p:cNvPr>
          <p:cNvSpPr txBox="1"/>
          <p:nvPr/>
        </p:nvSpPr>
        <p:spPr>
          <a:xfrm>
            <a:off x="7856113" y="2021983"/>
            <a:ext cx="4076163" cy="954107"/>
          </a:xfrm>
          <a:prstGeom prst="rect">
            <a:avLst/>
          </a:prstGeom>
          <a:noFill/>
        </p:spPr>
        <p:txBody>
          <a:bodyPr wrap="square" rtlCol="0">
            <a:spAutoFit/>
          </a:bodyPr>
          <a:lstStyle/>
          <a:p>
            <a:r>
              <a:rPr lang="en-US" sz="2800" b="1" dirty="0"/>
              <a:t>Map the ER Diagram to Relational Model</a:t>
            </a:r>
          </a:p>
        </p:txBody>
      </p:sp>
    </p:spTree>
    <p:extLst>
      <p:ext uri="{BB962C8B-B14F-4D97-AF65-F5344CB8AC3E}">
        <p14:creationId xmlns:p14="http://schemas.microsoft.com/office/powerpoint/2010/main" val="34500052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60D2-5813-5A8A-3EBB-9F111539D1D9}"/>
              </a:ext>
            </a:extLst>
          </p:cNvPr>
          <p:cNvSpPr>
            <a:spLocks noGrp="1"/>
          </p:cNvSpPr>
          <p:nvPr>
            <p:ph type="title"/>
          </p:nvPr>
        </p:nvSpPr>
        <p:spPr/>
        <p:txBody>
          <a:bodyPr/>
          <a:lstStyle/>
          <a:p>
            <a:pPr algn="ctr"/>
            <a:r>
              <a:rPr lang="en-US" b="1" dirty="0"/>
              <a:t>Exercise</a:t>
            </a:r>
          </a:p>
        </p:txBody>
      </p:sp>
      <p:sp>
        <p:nvSpPr>
          <p:cNvPr id="3" name="Content Placeholder 2">
            <a:extLst>
              <a:ext uri="{FF2B5EF4-FFF2-40B4-BE49-F238E27FC236}">
                <a16:creationId xmlns:a16="http://schemas.microsoft.com/office/drawing/2014/main" id="{12846407-C548-3587-66D2-E63B6280C9F7}"/>
              </a:ext>
            </a:extLst>
          </p:cNvPr>
          <p:cNvSpPr>
            <a:spLocks noGrp="1"/>
          </p:cNvSpPr>
          <p:nvPr>
            <p:ph idx="1"/>
          </p:nvPr>
        </p:nvSpPr>
        <p:spPr/>
        <p:txBody>
          <a:bodyPr>
            <a:normAutofit fontScale="92500" lnSpcReduction="10000"/>
          </a:bodyPr>
          <a:lstStyle/>
          <a:p>
            <a:r>
              <a:rPr lang="en-US" dirty="0"/>
              <a:t>Design an </a:t>
            </a:r>
            <a:r>
              <a:rPr lang="en-US" b="1" dirty="0"/>
              <a:t>Entity–Relationship (ER) Diagram</a:t>
            </a:r>
            <a:r>
              <a:rPr lang="en-US" dirty="0"/>
              <a:t> for a </a:t>
            </a:r>
            <a:r>
              <a:rPr lang="en-US" b="1" dirty="0"/>
              <a:t>Movie Database and Map it to Relational Model</a:t>
            </a:r>
            <a:r>
              <a:rPr lang="en-US" dirty="0"/>
              <a:t> that stores information about </a:t>
            </a:r>
            <a:r>
              <a:rPr lang="en-US" b="1" dirty="0"/>
              <a:t>movies, actors, directors, genres, and production companies</a:t>
            </a:r>
            <a:r>
              <a:rPr lang="en-US" dirty="0"/>
              <a:t>. </a:t>
            </a:r>
          </a:p>
          <a:p>
            <a:r>
              <a:rPr lang="en-US" dirty="0"/>
              <a:t>Each movie is identified by title and year of release. </a:t>
            </a:r>
          </a:p>
          <a:p>
            <a:r>
              <a:rPr lang="en-US" dirty="0"/>
              <a:t>Each movie has a length in minutes. </a:t>
            </a:r>
          </a:p>
          <a:p>
            <a:r>
              <a:rPr lang="en-US" dirty="0"/>
              <a:t>Each has a production company, and each is classified under one or more genres (such as horror, action, drama, and so forth). </a:t>
            </a:r>
          </a:p>
          <a:p>
            <a:r>
              <a:rPr lang="en-US" dirty="0"/>
              <a:t>Each movie has one or more directors, and one or more actors appear in it.</a:t>
            </a:r>
          </a:p>
          <a:p>
            <a:r>
              <a:rPr lang="en-US" dirty="0"/>
              <a:t>Actors are identified by name and date of birth and appear in one or more movies. Each actor has a role in the movie.</a:t>
            </a:r>
          </a:p>
          <a:p>
            <a:r>
              <a:rPr lang="en-US" dirty="0"/>
              <a:t>Production companies are identified by name and each has an address. </a:t>
            </a:r>
          </a:p>
        </p:txBody>
      </p:sp>
      <p:sp>
        <p:nvSpPr>
          <p:cNvPr id="4" name="Date Placeholder 3">
            <a:extLst>
              <a:ext uri="{FF2B5EF4-FFF2-40B4-BE49-F238E27FC236}">
                <a16:creationId xmlns:a16="http://schemas.microsoft.com/office/drawing/2014/main" id="{21B7A120-96B1-DCC3-B710-7F40810322BD}"/>
              </a:ext>
            </a:extLst>
          </p:cNvPr>
          <p:cNvSpPr>
            <a:spLocks noGrp="1"/>
          </p:cNvSpPr>
          <p:nvPr>
            <p:ph type="dt" sz="half" idx="10"/>
          </p:nvPr>
        </p:nvSpPr>
        <p:spPr/>
        <p:txBody>
          <a:bodyPr/>
          <a:lstStyle/>
          <a:p>
            <a:pPr>
              <a:defRPr/>
            </a:pPr>
            <a:fld id="{7916D043-5CB9-4104-9E9B-2BF2CE6B9FD9}" type="datetime1">
              <a:rPr lang="en-US" smtClean="0"/>
              <a:t>11/17/2025</a:t>
            </a:fld>
            <a:endParaRPr lang="en-US"/>
          </a:p>
        </p:txBody>
      </p:sp>
      <p:sp>
        <p:nvSpPr>
          <p:cNvPr id="5" name="Slide Number Placeholder 4">
            <a:extLst>
              <a:ext uri="{FF2B5EF4-FFF2-40B4-BE49-F238E27FC236}">
                <a16:creationId xmlns:a16="http://schemas.microsoft.com/office/drawing/2014/main" id="{19B58C53-D85F-BA22-E979-8860B092FC59}"/>
              </a:ext>
            </a:extLst>
          </p:cNvPr>
          <p:cNvSpPr>
            <a:spLocks noGrp="1"/>
          </p:cNvSpPr>
          <p:nvPr>
            <p:ph type="sldNum" sz="quarter" idx="12"/>
          </p:nvPr>
        </p:nvSpPr>
        <p:spPr/>
        <p:txBody>
          <a:bodyPr/>
          <a:lstStyle/>
          <a:p>
            <a:pPr>
              <a:defRPr/>
            </a:pPr>
            <a:fld id="{2C4FE033-73EA-43BF-906B-54A8C44CA3A6}" type="slidenum">
              <a:rPr lang="en-US" smtClean="0"/>
              <a:t>58</a:t>
            </a:fld>
            <a:endParaRPr lang="en-US"/>
          </a:p>
        </p:txBody>
      </p:sp>
    </p:spTree>
    <p:extLst>
      <p:ext uri="{BB962C8B-B14F-4D97-AF65-F5344CB8AC3E}">
        <p14:creationId xmlns:p14="http://schemas.microsoft.com/office/powerpoint/2010/main" val="2150631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3417</Words>
  <Application>Microsoft Office PowerPoint</Application>
  <PresentationFormat>Widescreen</PresentationFormat>
  <Paragraphs>460</Paragraphs>
  <Slides>58</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Times New Roman</vt:lpstr>
      <vt:lpstr>Office Theme</vt:lpstr>
      <vt:lpstr>Unit-2</vt:lpstr>
      <vt:lpstr>Contents</vt:lpstr>
      <vt:lpstr>Data Model</vt:lpstr>
      <vt:lpstr>Three Levels of Data Modeling</vt:lpstr>
      <vt:lpstr>Conceptual Data Model</vt:lpstr>
      <vt:lpstr>Logical Data Model</vt:lpstr>
      <vt:lpstr>Physical Data Model</vt:lpstr>
      <vt:lpstr>Entity Relationship Model</vt:lpstr>
      <vt:lpstr>Entity Relationship Model</vt:lpstr>
      <vt:lpstr>Entities &amp; Entity Types / Entity Sets</vt:lpstr>
      <vt:lpstr>Entities &amp; Entity Types / Entity Sets</vt:lpstr>
      <vt:lpstr>Key Attributes of an Entity Type</vt:lpstr>
      <vt:lpstr>Types of Attributes in ER Model</vt:lpstr>
      <vt:lpstr>Simple (Atomic) vs. Composite Attributes</vt:lpstr>
      <vt:lpstr>Single-Valued vs. Multivalued Attributes</vt:lpstr>
      <vt:lpstr>Stored vs. Derived Attributes</vt:lpstr>
      <vt:lpstr>NULL Values</vt:lpstr>
      <vt:lpstr>Complex Attributes</vt:lpstr>
      <vt:lpstr>Value Sets (Domains) of Attributes</vt:lpstr>
      <vt:lpstr>Relationships Among Entity Types</vt:lpstr>
      <vt:lpstr>Relationship Types</vt:lpstr>
      <vt:lpstr>Degree of Relationship</vt:lpstr>
      <vt:lpstr>Unary Relationship</vt:lpstr>
      <vt:lpstr>Binary Relationship</vt:lpstr>
      <vt:lpstr>Ternary Relationship</vt:lpstr>
      <vt:lpstr>N-ary Relationship</vt:lpstr>
      <vt:lpstr>Cardinality Ration in ER Model</vt:lpstr>
      <vt:lpstr>Types of Cardinality</vt:lpstr>
      <vt:lpstr>Strong and Weak Entity</vt:lpstr>
      <vt:lpstr>ER Diagram</vt:lpstr>
      <vt:lpstr>Symbols in ER Diagram</vt:lpstr>
      <vt:lpstr>Symbols in ER Diagram</vt:lpstr>
      <vt:lpstr>Symbols in ER Diagram</vt:lpstr>
      <vt:lpstr>Symbols in ER Diagram</vt:lpstr>
      <vt:lpstr>Symbols in ER Diagram</vt:lpstr>
      <vt:lpstr>Symbols in ER Diagram</vt:lpstr>
      <vt:lpstr>ER Diagram </vt:lpstr>
      <vt:lpstr>ER Diagram</vt:lpstr>
      <vt:lpstr>ER Diagram</vt:lpstr>
      <vt:lpstr>Extended E-R Features</vt:lpstr>
      <vt:lpstr>Specialization and Generalization</vt:lpstr>
      <vt:lpstr>Specialization and Generalization</vt:lpstr>
      <vt:lpstr>Extended ER Diagram</vt:lpstr>
      <vt:lpstr>Aggregation in ER Model</vt:lpstr>
      <vt:lpstr>PowerPoint Presentation</vt:lpstr>
      <vt:lpstr>ER to Relational Mapping</vt:lpstr>
      <vt:lpstr>Steps in ER to Relational Mapping</vt:lpstr>
      <vt:lpstr>Step 1: Mapping Strong Entity</vt:lpstr>
      <vt:lpstr>PowerPoint Presentation</vt:lpstr>
      <vt:lpstr>Step 2: Mapping Weak Entity</vt:lpstr>
      <vt:lpstr>PowerPoint Presentation</vt:lpstr>
      <vt:lpstr>Step 3: Mapping Cardinality</vt:lpstr>
      <vt:lpstr>1:1 Relationship</vt:lpstr>
      <vt:lpstr>1:N Relationship</vt:lpstr>
      <vt:lpstr>M to N Relationship</vt:lpstr>
      <vt:lpstr>Step 4: Mapping Multi Valued Attribute</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Lenovo</dc:creator>
  <cp:lastModifiedBy>dipesh poudel</cp:lastModifiedBy>
  <cp:revision>104</cp:revision>
  <dcterms:created xsi:type="dcterms:W3CDTF">2025-11-02T12:38:59Z</dcterms:created>
  <dcterms:modified xsi:type="dcterms:W3CDTF">2025-11-16T23:05:28Z</dcterms:modified>
</cp:coreProperties>
</file>