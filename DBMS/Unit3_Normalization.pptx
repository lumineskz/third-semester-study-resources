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79" r:id="rId16"/>
    <p:sldId id="280" r:id="rId17"/>
    <p:sldId id="281" r:id="rId18"/>
    <p:sldId id="282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3" r:id="rId29"/>
    <p:sldId id="284" r:id="rId30"/>
    <p:sldId id="285" r:id="rId31"/>
    <p:sldId id="286" r:id="rId32"/>
    <p:sldId id="287" r:id="rId33"/>
    <p:sldId id="303" r:id="rId34"/>
    <p:sldId id="304" r:id="rId35"/>
    <p:sldId id="305" r:id="rId36"/>
    <p:sldId id="306" r:id="rId37"/>
    <p:sldId id="30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301" r:id="rId50"/>
    <p:sldId id="302" r:id="rId51"/>
    <p:sldId id="299" r:id="rId52"/>
    <p:sldId id="300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7B4C8-554B-4CF3-A7D4-B0AABCE541CE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51A4E-31F0-47A6-9F91-D4700686D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6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51A4E-31F0-47A6-9F91-D4700686DF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23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5FA8-186B-0BFB-8D7D-56555FADB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67030-6952-D2B2-B569-56DA3EC58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DDC03-9653-9131-A19F-C87187C7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2BE9-0265-4034-B5B9-7E575C23B8A8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99882-983F-920C-0F2E-6AC28FFA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5A88E-D20E-2E9F-1A4C-A7E04F7B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36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8398-253C-813E-17E4-FD5A5E95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00FD8-DA92-54BF-259F-36E6A80C3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1217F-FEBF-6E70-4E19-210ABC8E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37BE-352A-6FBF-70CD-323FEC61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C5D09-21B2-EAD5-BD3B-35EF7274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66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C4B4-7289-8F52-407D-D6A2906C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B00F4-9A4E-A819-4A92-8DA04E828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A899C-12BB-3622-2A90-AEF94FE7A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98001-55F0-46B1-81C2-BBF443E57C7B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A3F03-3BAF-C5EB-7212-8E54C583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FF61C-13B4-3017-87B6-136B04A3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2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9CE87-61BF-0333-47A9-86169E80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ACB54-DD98-49A5-A451-D2EE81339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A66CC-0CC3-C7B1-DBAC-5A8A354DA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0AA2E-AE88-573F-4622-AA4D76CD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B15BD-188F-4216-A7FF-05E466ED857B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C69A3-F2AE-1711-248B-CF70CC189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9BCB1-F758-5CF9-A837-A9731CCF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1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13415-7297-2897-59FB-B47769CD4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6BB98-0698-A84C-06D4-DD116E26C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A737B-F7C2-D0C3-84C0-07493A619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64E8F-65AA-2AC8-69A3-10DD4E605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BB9B0-F601-3322-3929-A1C581149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6FCD1-772F-399D-6860-3651A90A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85EF-7DA0-4483-BD77-E91935EE226A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5D1EF-90BD-9EE1-A33F-5233673D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D91C9-0AA6-E023-5DC5-58CBF555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45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BFE1-B60B-2EFD-2966-2ACAE9C6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27A91-A86A-C676-0E66-AD184CE50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BEA7-212E-49D5-9CCE-A4C0AF5AF669}" type="datetime1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E32E9-4EE9-72AC-A33A-B294593E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855A88-C7EA-0AC8-E11E-3A2E7BBC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0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D9284-E14F-AC05-6C91-9C3FB971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B471-44AF-4AF1-BD6A-AD5B87BF1CF6}" type="datetime1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245BEF-A6DE-5FE5-8EA8-54AF5BC61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D1391-61A9-13CA-242A-32E27641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2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4D1C6-ABBB-13E3-AFB6-9C7C78422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6999E-7397-02CD-890F-A20F79F58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65D2A-AE49-2698-1BCD-32F6B60B5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0DF4C-125B-DE55-8779-70E4B10D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7B0B5-32D2-4F26-8A15-273581B75773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7E846-9755-9470-1F94-DDC0FEBB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424E3-29C9-A024-6ADF-336590F6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7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932D-9B8A-1497-270F-FDFC661DA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379CA-B976-1EF3-A905-2B64E93912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40B10-51F7-BA2E-F970-C047BDBF1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F88D6-E38D-800D-0C9F-3EE9661D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7598-3E08-4E9D-B28B-B35E470174BE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2B01E-1C0B-FFFE-D255-F867E9D05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AF1BC-6B24-4EC6-9AD6-4B362F8C4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2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529E-906E-941A-BE4A-7FA1AB16F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6B669-68D2-3159-AAB3-E19F33D22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D8299-0FFA-7E5C-2AC5-B69D9446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B3B70-922D-403A-B8D5-7DA4B08E3A1F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2F1F-617B-ECB8-EBF6-4DB4086C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1CEF3-8D0B-1866-2008-B035A3B7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9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20F352-4EF8-1B7A-2A2F-79B7F64387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FC033-EB93-76BC-4660-2E500098A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779FA-2EE2-C980-059B-BA685639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AE10-69B7-4A91-90EA-52184FF21B53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CBAAB-9867-1CC9-DB2A-54F509A2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833C4-513B-E25D-0341-90274C58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1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91A62-267C-15C0-A6F6-2EAC70E8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DA31A-663A-3AAA-F8DB-A121C4D05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5491-77C4-90D3-A3C3-0FD772F5C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F5237-17FE-4A31-9CC2-820A095EB3B9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47AA2-CDEF-17E2-C893-10EA84BA7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840DB-5644-E399-8416-79E38588A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1C8A9-9457-4B4E-BB07-38A22AA2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4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arjun@gmail.com" TargetMode="External"/><Relationship Id="rId2" Type="http://schemas.openxmlformats.org/officeDocument/2006/relationships/hyperlink" Target="mailto:rina@gmail.com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bms/foreign-key-in-dbm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mailto:amit@snu.edu" TargetMode="External"/><Relationship Id="rId2" Type="http://schemas.openxmlformats.org/officeDocument/2006/relationships/hyperlink" Target="mailto:rina@snu.ed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ita@snu.edu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15445.courses.cs.cmu.edu/fall2017/slides/04-functionaldependencies.pdf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mailto:amit@snu.edu" TargetMode="External"/><Relationship Id="rId2" Type="http://schemas.openxmlformats.org/officeDocument/2006/relationships/hyperlink" Target="mailto:rina@snu.ed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ita@snu.edu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8493-455E-A0D9-6A61-B4FDA59662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Unit-3: Normalization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209EB-D196-7E67-6BB7-8FA3F0FDA9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16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8B8A-F0CC-99BD-40D9-E5F1E4897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B98E4-A0D5-8977-0B64-BE36021EA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Normalization</a:t>
            </a:r>
          </a:p>
          <a:p>
            <a:r>
              <a:rPr lang="en-US" dirty="0"/>
              <a:t>Anomalies in Relational Model</a:t>
            </a:r>
          </a:p>
          <a:p>
            <a:r>
              <a:rPr lang="en-US" dirty="0"/>
              <a:t>Database Keys</a:t>
            </a:r>
          </a:p>
          <a:p>
            <a:r>
              <a:rPr lang="en-US" dirty="0"/>
              <a:t>Database Constraints</a:t>
            </a:r>
          </a:p>
          <a:p>
            <a:r>
              <a:rPr lang="en-US" dirty="0"/>
              <a:t>Importance of Normalization</a:t>
            </a:r>
          </a:p>
          <a:p>
            <a:r>
              <a:rPr lang="en-US" dirty="0"/>
              <a:t>Functional Dependencies</a:t>
            </a:r>
          </a:p>
          <a:p>
            <a:r>
              <a:rPr lang="en-US" dirty="0"/>
              <a:t>Normal Forms (1NF, 2NF, 3NF, BCNF)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C84B-67EE-7AA6-6E20-EEDB40E9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E9774-21D8-44D9-B287-64FA2A591E2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776DC-108B-0475-D230-07431527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02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82E3-EAD2-95BB-F535-7546A388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Normalization in Relational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DF637-33F1-4094-3E34-C4D97BF3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Normalization</a:t>
            </a:r>
            <a:r>
              <a:rPr lang="en-US" dirty="0"/>
              <a:t> is a systematic method used during relational database design.</a:t>
            </a:r>
          </a:p>
          <a:p>
            <a:r>
              <a:rPr lang="en-US" dirty="0"/>
              <a:t>Its main objective is to produce a set of </a:t>
            </a:r>
            <a:r>
              <a:rPr lang="en-US" b="1" dirty="0">
                <a:solidFill>
                  <a:srgbClr val="00B0F0"/>
                </a:solidFill>
              </a:rPr>
              <a:t>well-structured relation schemas</a:t>
            </a:r>
            <a:r>
              <a:rPr lang="en-US" dirty="0"/>
              <a:t>.</a:t>
            </a:r>
          </a:p>
          <a:p>
            <a:r>
              <a:rPr lang="en-US" dirty="0"/>
              <a:t>These schemas should:</a:t>
            </a:r>
          </a:p>
          <a:p>
            <a:pPr lvl="1"/>
            <a:r>
              <a:rPr lang="en-US" dirty="0"/>
              <a:t>Store data without unnecessary </a:t>
            </a:r>
            <a:r>
              <a:rPr lang="en-US" b="1" dirty="0"/>
              <a:t>redundancy</a:t>
            </a:r>
          </a:p>
          <a:p>
            <a:pPr lvl="1"/>
            <a:r>
              <a:rPr lang="en-US" b="1" dirty="0"/>
              <a:t>Prevent anomalies</a:t>
            </a:r>
            <a:r>
              <a:rPr lang="en-US" dirty="0"/>
              <a:t> (insert, update, delete problems)</a:t>
            </a:r>
          </a:p>
          <a:p>
            <a:pPr lvl="1"/>
            <a:r>
              <a:rPr lang="en-US" dirty="0"/>
              <a:t>Ensure data </a:t>
            </a:r>
            <a:r>
              <a:rPr lang="en-US" b="1" dirty="0"/>
              <a:t>consistency and integrity</a:t>
            </a:r>
          </a:p>
          <a:p>
            <a:pPr lvl="1"/>
            <a:r>
              <a:rPr lang="en-US" dirty="0"/>
              <a:t>Allow efficient and easy retrieval of information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85C71-CDDD-38E6-82CA-BB10C5C75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13E0-4746-48C4-B7B8-68EF15EFA566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8553C-FC70-4FE2-D1D0-F692325E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01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29A6-7A0B-E65A-BCED-0E008535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Normalization in Relational Database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254F2-43A4-6AA6-275D-8965EC126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STUDENT_COURSE table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table has redundancy</a:t>
            </a:r>
          </a:p>
          <a:p>
            <a:pPr lvl="1"/>
            <a:r>
              <a:rPr lang="en-US" dirty="0"/>
              <a:t>Student name “Sita” is repeated 2 times</a:t>
            </a:r>
          </a:p>
          <a:p>
            <a:pPr lvl="1"/>
            <a:r>
              <a:rPr lang="en-US" dirty="0"/>
              <a:t>For every student and course, the instructor details are repeated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BF1A0-315A-6B41-14B3-9575B3E1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1A7D-00DC-4491-8E48-BF870143D71D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F622A-8A60-CAAD-3725-566B0637C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794057-C41B-DEA6-CA79-29ED57383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670642"/>
              </p:ext>
            </p:extLst>
          </p:nvPr>
        </p:nvGraphicFramePr>
        <p:xfrm>
          <a:off x="885265" y="2538254"/>
          <a:ext cx="10515600" cy="14630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8690910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777217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178095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761805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51495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StudentID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StudentName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Course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InstructorPhone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23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DBMS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Sharma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9841000001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746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Niraula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9841000002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773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DBMS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Sharma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9841000001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98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13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29A6-7A0B-E65A-BCED-0E008535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Normalization in Relational Database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254F2-43A4-6AA6-275D-8965EC126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2884"/>
          </a:xfrm>
        </p:spPr>
        <p:txBody>
          <a:bodyPr/>
          <a:lstStyle/>
          <a:p>
            <a:r>
              <a:rPr lang="en-US" dirty="0"/>
              <a:t>We can decompose the STUDENT_COUURSE table into four tables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BF1A0-315A-6B41-14B3-9575B3E1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1A7D-00DC-4491-8E48-BF870143D71D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F622A-8A60-CAAD-3725-566B0637C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4BD1D92-68BB-5372-0E23-20EAE2767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473522"/>
              </p:ext>
            </p:extLst>
          </p:nvPr>
        </p:nvGraphicFramePr>
        <p:xfrm>
          <a:off x="838200" y="2720128"/>
          <a:ext cx="5125572" cy="1097280"/>
        </p:xfrm>
        <a:graphic>
          <a:graphicData uri="http://schemas.openxmlformats.org/drawingml/2006/table">
            <a:tbl>
              <a:tblPr/>
              <a:tblGrid>
                <a:gridCol w="2562786">
                  <a:extLst>
                    <a:ext uri="{9D8B030D-6E8A-4147-A177-3AD203B41FA5}">
                      <a16:colId xmlns:a16="http://schemas.microsoft.com/office/drawing/2014/main" val="2846184009"/>
                    </a:ext>
                  </a:extLst>
                </a:gridCol>
                <a:gridCol w="2562786">
                  <a:extLst>
                    <a:ext uri="{9D8B030D-6E8A-4147-A177-3AD203B41FA5}">
                      <a16:colId xmlns:a16="http://schemas.microsoft.com/office/drawing/2014/main" val="2690483652"/>
                    </a:ext>
                  </a:extLst>
                </a:gridCol>
              </a:tblGrid>
              <a:tr h="330533">
                <a:tc>
                  <a:txBody>
                    <a:bodyPr/>
                    <a:lstStyle/>
                    <a:p>
                      <a:r>
                        <a:rPr lang="en-US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StudentName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821205"/>
                  </a:ext>
                </a:extLst>
              </a:tr>
              <a:tr h="330533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644420"/>
                  </a:ext>
                </a:extLst>
              </a:tr>
              <a:tr h="330533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11988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F4A206-47EA-9201-AC6C-266832685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07497"/>
              </p:ext>
            </p:extLst>
          </p:nvPr>
        </p:nvGraphicFramePr>
        <p:xfrm>
          <a:off x="838200" y="3989599"/>
          <a:ext cx="5125572" cy="1097280"/>
        </p:xfrm>
        <a:graphic>
          <a:graphicData uri="http://schemas.openxmlformats.org/drawingml/2006/table">
            <a:tbl>
              <a:tblPr/>
              <a:tblGrid>
                <a:gridCol w="2562786">
                  <a:extLst>
                    <a:ext uri="{9D8B030D-6E8A-4147-A177-3AD203B41FA5}">
                      <a16:colId xmlns:a16="http://schemas.microsoft.com/office/drawing/2014/main" val="3132038321"/>
                    </a:ext>
                  </a:extLst>
                </a:gridCol>
                <a:gridCol w="2562786">
                  <a:extLst>
                    <a:ext uri="{9D8B030D-6E8A-4147-A177-3AD203B41FA5}">
                      <a16:colId xmlns:a16="http://schemas.microsoft.com/office/drawing/2014/main" val="3179233199"/>
                    </a:ext>
                  </a:extLst>
                </a:gridCol>
              </a:tblGrid>
              <a:tr h="337256">
                <a:tc>
                  <a:txBody>
                    <a:bodyPr/>
                    <a:lstStyle/>
                    <a:p>
                      <a:r>
                        <a:rPr lang="en-US"/>
                        <a:t>Instructor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InstructorPhone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35643"/>
                  </a:ext>
                </a:extLst>
              </a:tr>
              <a:tr h="337256">
                <a:tc>
                  <a:txBody>
                    <a:bodyPr/>
                    <a:lstStyle/>
                    <a:p>
                      <a:r>
                        <a:rPr lang="en-US"/>
                        <a:t>Dr. Sharma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9841000001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551021"/>
                  </a:ext>
                </a:extLst>
              </a:tr>
              <a:tr h="337256">
                <a:tc>
                  <a:txBody>
                    <a:bodyPr/>
                    <a:lstStyle/>
                    <a:p>
                      <a:r>
                        <a:rPr lang="en-US" dirty="0"/>
                        <a:t>Dr. </a:t>
                      </a:r>
                      <a:r>
                        <a:rPr lang="en-US" dirty="0" err="1"/>
                        <a:t>Niraula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9841000002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58507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7682CE-5FF4-3391-5170-4721E2D26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468515"/>
              </p:ext>
            </p:extLst>
          </p:nvPr>
        </p:nvGraphicFramePr>
        <p:xfrm>
          <a:off x="838200" y="5259070"/>
          <a:ext cx="5125572" cy="1097280"/>
        </p:xfrm>
        <a:graphic>
          <a:graphicData uri="http://schemas.openxmlformats.org/drawingml/2006/table">
            <a:tbl>
              <a:tblPr/>
              <a:tblGrid>
                <a:gridCol w="2562786">
                  <a:extLst>
                    <a:ext uri="{9D8B030D-6E8A-4147-A177-3AD203B41FA5}">
                      <a16:colId xmlns:a16="http://schemas.microsoft.com/office/drawing/2014/main" val="1587140385"/>
                    </a:ext>
                  </a:extLst>
                </a:gridCol>
                <a:gridCol w="2562786">
                  <a:extLst>
                    <a:ext uri="{9D8B030D-6E8A-4147-A177-3AD203B41FA5}">
                      <a16:colId xmlns:a16="http://schemas.microsoft.com/office/drawing/2014/main" val="667453208"/>
                    </a:ext>
                  </a:extLst>
                </a:gridCol>
              </a:tblGrid>
              <a:tr h="330110">
                <a:tc>
                  <a:txBody>
                    <a:bodyPr/>
                    <a:lstStyle/>
                    <a:p>
                      <a:r>
                        <a:rPr lang="en-US" dirty="0"/>
                        <a:t>Course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83580"/>
                  </a:ext>
                </a:extLst>
              </a:tr>
              <a:tr h="330110">
                <a:tc>
                  <a:txBody>
                    <a:bodyPr/>
                    <a:lstStyle/>
                    <a:p>
                      <a:r>
                        <a:rPr lang="en-US"/>
                        <a:t>DBMS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Sharma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249834"/>
                  </a:ext>
                </a:extLst>
              </a:tr>
              <a:tr h="330110">
                <a:tc>
                  <a:txBody>
                    <a:bodyPr/>
                    <a:lstStyle/>
                    <a:p>
                      <a:r>
                        <a:rPr lang="en-US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 </a:t>
                      </a:r>
                      <a:r>
                        <a:rPr lang="en-US" dirty="0" err="1"/>
                        <a:t>Niraula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20320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21D322-F6BE-2E7E-7E11-27B9C9F3D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94030"/>
              </p:ext>
            </p:extLst>
          </p:nvPr>
        </p:nvGraphicFramePr>
        <p:xfrm>
          <a:off x="6864927" y="2592043"/>
          <a:ext cx="4430196" cy="1463040"/>
        </p:xfrm>
        <a:graphic>
          <a:graphicData uri="http://schemas.openxmlformats.org/drawingml/2006/table">
            <a:tbl>
              <a:tblPr/>
              <a:tblGrid>
                <a:gridCol w="2215098">
                  <a:extLst>
                    <a:ext uri="{9D8B030D-6E8A-4147-A177-3AD203B41FA5}">
                      <a16:colId xmlns:a16="http://schemas.microsoft.com/office/drawing/2014/main" val="1663944265"/>
                    </a:ext>
                  </a:extLst>
                </a:gridCol>
                <a:gridCol w="2215098">
                  <a:extLst>
                    <a:ext uri="{9D8B030D-6E8A-4147-A177-3AD203B41FA5}">
                      <a16:colId xmlns:a16="http://schemas.microsoft.com/office/drawing/2014/main" val="18476342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Course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2824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DBMS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91004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5420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864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03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5382-05FD-E3DC-40DE-98F1EA1B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Anomalies in the Relational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FCF69-6CF2-EBA4-9B4B-FA26E6128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relation is not properly normalized, it often stores more than one kind of information in the same table.</a:t>
            </a:r>
          </a:p>
          <a:p>
            <a:r>
              <a:rPr lang="en-US" dirty="0"/>
              <a:t>This leads to </a:t>
            </a:r>
            <a:r>
              <a:rPr lang="en-US" b="1" dirty="0"/>
              <a:t>redundancy </a:t>
            </a:r>
          </a:p>
          <a:p>
            <a:r>
              <a:rPr lang="en-US" b="1" dirty="0"/>
              <a:t>Redundancy </a:t>
            </a:r>
            <a:r>
              <a:rPr lang="en-US" dirty="0"/>
              <a:t>creates anomalies – unexpected problems when inserting, deleting and updating data</a:t>
            </a:r>
          </a:p>
          <a:p>
            <a:r>
              <a:rPr lang="en-US" dirty="0"/>
              <a:t>We will use this table to illustrate different types of anomalies </a:t>
            </a:r>
          </a:p>
          <a:p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9D908-E897-E2CC-72CD-6752794F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26CB8-4D60-5E2A-569F-75754FAA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155708-FD2E-5A54-FFB6-C0374DCA4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78326"/>
              </p:ext>
            </p:extLst>
          </p:nvPr>
        </p:nvGraphicFramePr>
        <p:xfrm>
          <a:off x="986307" y="4654253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6905362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690791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260108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81095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u="sng" dirty="0" err="1"/>
                        <a:t>StudentID</a:t>
                      </a:r>
                      <a:endParaRPr lang="en-US" b="1" u="sn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StudentName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/>
                        <a:t>Course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6771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DBMS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Sharma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827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Niraula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622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 Sharma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570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68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0A34-96F7-46BD-C337-3CDE8CB6B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Insertion Anomalies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0586-FBE3-EA91-FEEA-BEC43EA20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insert anomaly</a:t>
            </a:r>
            <a:r>
              <a:rPr lang="en-US" dirty="0"/>
              <a:t> occurs when certain data cannot be inserted into a table </a:t>
            </a:r>
            <a:r>
              <a:rPr lang="en-US" b="1" dirty="0"/>
              <a:t>without the presence of other data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Suppose a new course </a:t>
            </a:r>
            <a:r>
              <a:rPr lang="en-US" b="1" dirty="0"/>
              <a:t>"Machine Learning"</a:t>
            </a:r>
            <a:r>
              <a:rPr lang="en-US" dirty="0"/>
              <a:t> is introduced, taught by </a:t>
            </a:r>
            <a:r>
              <a:rPr lang="en-US" b="1" dirty="0"/>
              <a:t>Dr. Shrestha</a:t>
            </a:r>
            <a:r>
              <a:rPr lang="en-US" dirty="0"/>
              <a:t>, but </a:t>
            </a:r>
            <a:r>
              <a:rPr lang="en-US" b="1" dirty="0"/>
              <a:t>no student has enrolled yet</a:t>
            </a:r>
            <a:r>
              <a:rPr lang="en-US" dirty="0"/>
              <a:t>.</a:t>
            </a:r>
          </a:p>
          <a:p>
            <a:r>
              <a:rPr lang="en-US" dirty="0"/>
              <a:t>In the STUDENT_COURSE table, you </a:t>
            </a:r>
            <a:r>
              <a:rPr lang="en-US" b="1" dirty="0"/>
              <a:t>cannot insert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6B69D-736A-24D2-BF5D-BE744D23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B44EA-3810-1D17-3DB9-4A9DC249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6AEA1A-0CE1-42BA-0D0E-8DD546CC5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30795"/>
              </p:ext>
            </p:extLst>
          </p:nvPr>
        </p:nvGraphicFramePr>
        <p:xfrm>
          <a:off x="838200" y="4781753"/>
          <a:ext cx="10515600" cy="7315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620069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32093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199232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23309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StudentName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Course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828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 Shrestha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904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143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1467-E1E0-B95A-A1EA-11CDA504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Deletion Anomalies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4CF8C-F0D0-D40B-27EE-F57712DD1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delete anomaly</a:t>
            </a:r>
            <a:r>
              <a:rPr lang="en-US" dirty="0"/>
              <a:t> occurs when the deletion of a record results in unintentionally losing other valuable information.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Suppose only one student (Sita) was enrolled in the </a:t>
            </a:r>
            <a:r>
              <a:rPr lang="en-US" b="1" dirty="0"/>
              <a:t>AI</a:t>
            </a:r>
            <a:r>
              <a:rPr lang="en-US" dirty="0"/>
              <a:t> course.</a:t>
            </a:r>
          </a:p>
          <a:p>
            <a:pPr lvl="1"/>
            <a:r>
              <a:rPr lang="en-US" dirty="0"/>
              <a:t>If we delete Sita’s enrollment:</a:t>
            </a:r>
          </a:p>
          <a:p>
            <a:pPr marL="457200" lvl="1" indent="0">
              <a:buNone/>
            </a:pPr>
            <a:r>
              <a:rPr lang="en-US" dirty="0"/>
              <a:t>| 101 | Sita | AI | Dr. </a:t>
            </a:r>
            <a:r>
              <a:rPr lang="en-US" dirty="0" err="1"/>
              <a:t>Niraula</a:t>
            </a:r>
            <a:r>
              <a:rPr lang="en-US" dirty="0"/>
              <a:t> |</a:t>
            </a:r>
          </a:p>
          <a:p>
            <a:pPr lvl="1"/>
            <a:r>
              <a:rPr lang="en-US" dirty="0"/>
              <a:t>Then we also lose the </a:t>
            </a:r>
            <a:r>
              <a:rPr lang="en-US" b="1" dirty="0"/>
              <a:t>fact that the AI course exists</a:t>
            </a:r>
            <a:r>
              <a:rPr lang="en-US" dirty="0"/>
              <a:t> and that </a:t>
            </a:r>
            <a:r>
              <a:rPr lang="en-US" b="1" dirty="0"/>
              <a:t>Dr. </a:t>
            </a:r>
            <a:r>
              <a:rPr lang="en-US" b="1" dirty="0" err="1"/>
              <a:t>Niraula</a:t>
            </a:r>
            <a:r>
              <a:rPr lang="en-US" b="1" dirty="0"/>
              <a:t> teaches it</a:t>
            </a:r>
            <a:r>
              <a:rPr lang="en-US" dirty="0"/>
              <a:t>.</a:t>
            </a:r>
          </a:p>
          <a:p>
            <a:r>
              <a:rPr lang="en-US" dirty="0"/>
              <a:t>Deleting a student’s record should </a:t>
            </a:r>
            <a:r>
              <a:rPr lang="en-US" b="1" dirty="0"/>
              <a:t>not erase course information</a:t>
            </a:r>
            <a:r>
              <a:rPr lang="en-US" dirty="0"/>
              <a:t>, but because everything is stored together, deleting one fact removes another.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15A0F-B494-BC34-84E6-8B3B3A2C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E08E2-D8D0-26F3-4EAE-470951B1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77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8750-A276-6618-5A0A-B02DF77A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Modification Anomalies (Update Anomalies)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6E36E-2575-3043-FC11-916E46C88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update anomaly</a:t>
            </a:r>
            <a:r>
              <a:rPr lang="en-US" dirty="0"/>
              <a:t> happens when data needs to be changed in multiple places; if one copy is missed, data becomes inconsistent.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Instructor for DBMS changes from </a:t>
            </a:r>
            <a:r>
              <a:rPr lang="en-US" b="1" dirty="0"/>
              <a:t>Dr. Sharma → Dr. Khadka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 must update </a:t>
            </a:r>
            <a:r>
              <a:rPr lang="en-US" b="1" dirty="0"/>
              <a:t>every row</a:t>
            </a:r>
            <a:r>
              <a:rPr lang="en-US" dirty="0"/>
              <a:t> where Course = DBMS:</a:t>
            </a:r>
          </a:p>
          <a:p>
            <a:pPr lvl="1"/>
            <a:r>
              <a:rPr lang="en-US" dirty="0"/>
              <a:t>| 101 | Sita | DBMS | Dr. Sharma |</a:t>
            </a:r>
            <a:br>
              <a:rPr lang="en-US" dirty="0"/>
            </a:br>
            <a:r>
              <a:rPr lang="en-US" dirty="0"/>
              <a:t>| 102 | Ram | DBMS | Dr. Sharma |</a:t>
            </a:r>
          </a:p>
          <a:p>
            <a:pPr lvl="1"/>
            <a:r>
              <a:rPr lang="en-US" dirty="0"/>
              <a:t>If we update only the first row:</a:t>
            </a:r>
          </a:p>
          <a:p>
            <a:pPr lvl="1"/>
            <a:r>
              <a:rPr lang="en-US" dirty="0"/>
              <a:t>| 101 | Sita | DBMS | Dr. Khadka |</a:t>
            </a:r>
            <a:br>
              <a:rPr lang="en-US" dirty="0"/>
            </a:br>
            <a:r>
              <a:rPr lang="en-US" dirty="0"/>
              <a:t>| 102 | Ram | DBMS | Dr. Sharma |</a:t>
            </a:r>
          </a:p>
          <a:p>
            <a:pPr lvl="1"/>
            <a:r>
              <a:rPr lang="en-US" dirty="0"/>
              <a:t>Now the instructor information is </a:t>
            </a:r>
            <a:r>
              <a:rPr lang="en-US" b="1" dirty="0"/>
              <a:t>inconsistent</a:t>
            </a:r>
            <a:r>
              <a:rPr lang="en-US" dirty="0"/>
              <a:t>.</a:t>
            </a:r>
          </a:p>
          <a:p>
            <a:r>
              <a:rPr lang="en-US" dirty="0"/>
              <a:t>The instructor's name is </a:t>
            </a:r>
            <a:r>
              <a:rPr lang="en-US" b="1" dirty="0"/>
              <a:t>repeated unnecessarily</a:t>
            </a:r>
            <a:r>
              <a:rPr lang="en-US" dirty="0"/>
              <a:t> across multiple student records.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B9D42-3DE0-EBBF-A7FF-D90AE01E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8DBF6-E0ED-0823-0903-F337BE766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97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D3DE0-0BA9-9A84-E3AE-E4992107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Anomalies Summary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899A7A7-DDA2-68C6-E6E7-547DDAF37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209047"/>
              </p:ext>
            </p:extLst>
          </p:nvPr>
        </p:nvGraphicFramePr>
        <p:xfrm>
          <a:off x="838200" y="2413973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033323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891261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73434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Anomaly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 happens?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662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Insert Anomaly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Cannot insert data without other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Cannot insert a new course unless a student enrolls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044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Delete Anomaly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Deleting one fact deletes another important 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Removing last student in AI removes the existence of AI course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432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Update Anomaly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Must update redundant data in many places → inconsistency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Changing DBMS instructor requires changes in multiple 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15931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6CD8E-46EA-A21B-CA73-B3953E694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7FE9A-E6DF-8CE7-14C3-74702DAA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28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6667-0F51-7794-99E6-D0A90A87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Domain, Attributes, Tuples and 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0D395-D6AB-23A5-0E40-BC7C9CAE9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domain (D) is a set of atomic values.</a:t>
            </a:r>
          </a:p>
          <a:p>
            <a:r>
              <a:rPr lang="en-US" dirty="0"/>
              <a:t>Atomic means each value is indivisible within the relational model.</a:t>
            </a:r>
          </a:p>
          <a:p>
            <a:r>
              <a:rPr lang="en-US" dirty="0"/>
              <a:t>Domains are usually defined by specifying a data type (e.g., INTEGER, VARCHAR).</a:t>
            </a:r>
          </a:p>
          <a:p>
            <a:r>
              <a:rPr lang="en-US" dirty="0"/>
              <a:t>Giving each domain a meaningful name helps interpret the values clearly.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Domain: </a:t>
            </a:r>
            <a:r>
              <a:rPr lang="en-US" i="1" dirty="0"/>
              <a:t>age</a:t>
            </a:r>
            <a:endParaRPr lang="en-US" dirty="0"/>
          </a:p>
          <a:p>
            <a:pPr lvl="1"/>
            <a:r>
              <a:rPr lang="en-US" dirty="0"/>
              <a:t>Data Type: INTEGER</a:t>
            </a:r>
          </a:p>
          <a:p>
            <a:pPr lvl="1"/>
            <a:r>
              <a:rPr lang="en-US" dirty="0"/>
              <a:t>Atomic Values: 18, 25, 40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849CA-843B-98B7-0886-07768196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F6B9A-DCBB-A6F0-E58C-10728FAE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7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7024-9B9A-932A-F301-3D656EAA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Relation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9AAEC-F92B-8514-F3C1-A4EF2CE34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relation schema R</a:t>
            </a:r>
            <a:r>
              <a:rPr lang="en-US" dirty="0"/>
              <a:t> is written as: </a:t>
            </a:r>
            <a:r>
              <a:rPr lang="en-US" b="1" dirty="0"/>
              <a:t>R(A₁, A₂, … , Aₙ)</a:t>
            </a:r>
          </a:p>
          <a:p>
            <a:r>
              <a:rPr lang="en-US" dirty="0"/>
              <a:t>It consists of:</a:t>
            </a:r>
          </a:p>
          <a:p>
            <a:pPr lvl="1"/>
            <a:r>
              <a:rPr lang="en-US" dirty="0"/>
              <a:t>A relation name (R)</a:t>
            </a:r>
          </a:p>
          <a:p>
            <a:pPr lvl="1"/>
            <a:r>
              <a:rPr lang="en-US" dirty="0"/>
              <a:t>A list of attributes (A₁ to Aₙ)</a:t>
            </a:r>
          </a:p>
          <a:p>
            <a:r>
              <a:rPr lang="en-US" dirty="0"/>
              <a:t>Each attribute Aᵢ represents a role played by a domain D.</a:t>
            </a:r>
          </a:p>
          <a:p>
            <a:pPr lvl="1"/>
            <a:r>
              <a:rPr lang="en-US" dirty="0"/>
              <a:t>The domain of attribute Aᵢ is written as </a:t>
            </a:r>
            <a:r>
              <a:rPr lang="en-US" dirty="0" err="1"/>
              <a:t>dom</a:t>
            </a:r>
            <a:r>
              <a:rPr lang="en-US" dirty="0"/>
              <a:t>(Aᵢ).</a:t>
            </a:r>
          </a:p>
          <a:p>
            <a:r>
              <a:rPr lang="en-US" dirty="0"/>
              <a:t>A relation schema describes the structure of a relation.</a:t>
            </a:r>
          </a:p>
          <a:p>
            <a:r>
              <a:rPr lang="en-US" dirty="0"/>
              <a:t>The degree (arity) of a relation = number of attributes (n).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b="1" dirty="0"/>
              <a:t>STUDENT(</a:t>
            </a:r>
            <a:r>
              <a:rPr lang="en-US" b="1" dirty="0" err="1"/>
              <a:t>RollNo</a:t>
            </a:r>
            <a:r>
              <a:rPr lang="en-US" b="1" dirty="0"/>
              <a:t>, Name, Age, Dept) </a:t>
            </a:r>
            <a:r>
              <a:rPr lang="en-US" dirty="0"/>
              <a:t>Degree = 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F1193-0C9F-99B9-2406-F324F43BE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F0435-DB36-A308-D06A-468AB0EE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97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BB85-4B2A-5A1D-644A-3AF7A1EA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Attributes, Tuples and Relation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E08A8E-C025-823B-8541-53E4D8543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768" y="2458073"/>
            <a:ext cx="10883032" cy="332454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BB0A-DAE8-7BE0-46B6-5C9B5638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3D4BC-C719-BBF3-1A8B-E68DAA5A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31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646A-8309-494E-0A1D-B1EEA04A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Constraints in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E6F8F-8651-981F-9E59-729F0B4C0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Constraints in DBMS (Database Management Systems) encompass rules or conditions applied to database data, ensuring</a:t>
            </a:r>
          </a:p>
          <a:p>
            <a:pPr lvl="1"/>
            <a:r>
              <a:rPr lang="en-US" dirty="0"/>
              <a:t>data integrity</a:t>
            </a:r>
          </a:p>
          <a:p>
            <a:pPr lvl="1"/>
            <a:r>
              <a:rPr lang="en-US" dirty="0"/>
              <a:t>Consistency</a:t>
            </a:r>
          </a:p>
          <a:p>
            <a:pPr lvl="1"/>
            <a:r>
              <a:rPr lang="en-US" dirty="0"/>
              <a:t>Adherence to business rules</a:t>
            </a:r>
          </a:p>
          <a:p>
            <a:r>
              <a:rPr lang="en-US" dirty="0"/>
              <a:t>Within relational databases, there are primarily four types of constraints, commonly referred to as relational constraints. These include: </a:t>
            </a:r>
          </a:p>
          <a:p>
            <a:pPr marL="914400" lvl="1" indent="-457200">
              <a:buAutoNum type="arabicPeriod"/>
            </a:pPr>
            <a:r>
              <a:rPr lang="en-US" dirty="0"/>
              <a:t>Domain Constraints</a:t>
            </a:r>
          </a:p>
          <a:p>
            <a:pPr marL="914400" lvl="1" indent="-457200">
              <a:buAutoNum type="arabicPeriod"/>
            </a:pPr>
            <a:r>
              <a:rPr lang="en-US" dirty="0"/>
              <a:t>Key Constraints</a:t>
            </a:r>
          </a:p>
          <a:p>
            <a:pPr marL="914400" lvl="1" indent="-457200">
              <a:buAutoNum type="arabicPeriod"/>
            </a:pPr>
            <a:r>
              <a:rPr lang="en-US" dirty="0"/>
              <a:t>Entity Integrity Constraints</a:t>
            </a:r>
          </a:p>
          <a:p>
            <a:pPr marL="914400" lvl="1" indent="-457200">
              <a:buAutoNum type="arabicPeriod"/>
            </a:pPr>
            <a:r>
              <a:rPr lang="en-US" dirty="0"/>
              <a:t>Referential Integrity Constraints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D15B9-CE0D-6628-2DD1-8978F481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5AA45-AAEB-3716-7317-B1240CD7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16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61685-B53B-0ADC-8F79-5ECC1EC0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Domain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763F8-D7A7-05C6-8055-5D2CCF59D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the valid values that an attribute (column) can hold.</a:t>
            </a:r>
          </a:p>
          <a:p>
            <a:r>
              <a:rPr lang="en-US" dirty="0"/>
              <a:t>Specify the data type (e.g., integer, string, date) and any additional restrictions (e.g., range of values, allowed patterns).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Types of Domain Constraints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check constraint</a:t>
            </a:r>
            <a:r>
              <a:rPr lang="en-US" dirty="0"/>
              <a:t> in a Database Management System (DBMS) is a way to enforce certain conditions on the values that are stored in a database.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NOT NULL</a:t>
            </a:r>
            <a:r>
              <a:rPr lang="en-US" dirty="0"/>
              <a:t> constraint in a Database Management System (DBMS) is used to ensure that a column in a table cannot contain any NULL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5AA3B-E4C2-1F82-1216-FC193B5F7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3109B-E86F-BE73-54FC-48D0EA48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92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14422-07A4-42A1-B759-795F7D08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253FB-E00D-C069-674F-A2B2499EB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key constraint in a Database Management System (DBMS) refers to a set of rules applied to one or more columns in a database table to ensure the uniqueness and integrity of data.</a:t>
            </a:r>
          </a:p>
          <a:p>
            <a:r>
              <a:rPr lang="en-US" dirty="0"/>
              <a:t>Keys are used to uniquely identify rows in a table, and they play a fundamental role in establishing relationships between tables. </a:t>
            </a:r>
          </a:p>
          <a:p>
            <a:r>
              <a:rPr lang="en-US" dirty="0"/>
              <a:t>There can be only one primary key in a table.</a:t>
            </a:r>
          </a:p>
          <a:p>
            <a:r>
              <a:rPr lang="en-US" dirty="0"/>
              <a:t>The primary key must be unique and can not be NULL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54014-7F39-D7FE-6754-978A0F1C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346A6-6300-1AD7-9B4B-00D873C0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41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3511-00C7-D5CB-3B66-79895ACD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Entity Integrity Constraints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1AEC2-CAEE-1FFC-9CBD-F421ADBB1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primary key of a table </a:t>
            </a:r>
            <a:r>
              <a:rPr lang="en-US" b="1" dirty="0"/>
              <a:t>cannot be NULL</a:t>
            </a:r>
            <a:r>
              <a:rPr lang="en-US" dirty="0"/>
              <a:t>.</a:t>
            </a:r>
          </a:p>
          <a:p>
            <a:r>
              <a:rPr lang="en-US" dirty="0"/>
              <a:t>If the key is NULL, the row cannot be uniquely identified.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283BA-F289-471D-6345-F0FBD8BD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B74B0-0CC9-B183-634C-0C3E3F20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49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0988-3F88-D1BB-BCE4-22D65514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Referential Integrity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4DBEE-157C-000E-F08C-D055AB0FC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referential integrity constraint is established when a foreign key references the primary key of another table, requiring the referencing attribute to be a subset of the referred attribute.</a:t>
            </a:r>
          </a:p>
          <a:p>
            <a:r>
              <a:rPr lang="en-US" dirty="0"/>
              <a:t>A </a:t>
            </a:r>
            <a:r>
              <a:rPr lang="en-US" b="1" dirty="0"/>
              <a:t>foreign key value</a:t>
            </a:r>
            <a:r>
              <a:rPr lang="en-US" dirty="0"/>
              <a:t> must either:</a:t>
            </a:r>
          </a:p>
          <a:p>
            <a:pPr lvl="1"/>
            <a:r>
              <a:rPr lang="en-US" dirty="0"/>
              <a:t>match an existing primary key value in the parent table, or</a:t>
            </a:r>
          </a:p>
          <a:p>
            <a:pPr lvl="1"/>
            <a:r>
              <a:rPr lang="en-US" dirty="0"/>
              <a:t>be NULL (if allowed)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STUDENT(</a:t>
            </a:r>
            <a:r>
              <a:rPr lang="en-US" dirty="0" err="1"/>
              <a:t>StudentID</a:t>
            </a:r>
            <a:r>
              <a:rPr lang="en-US" dirty="0"/>
              <a:t>, Name)</a:t>
            </a:r>
          </a:p>
          <a:p>
            <a:pPr lvl="1"/>
            <a:r>
              <a:rPr lang="en-US" dirty="0"/>
              <a:t>ENROLL(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CourseID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ENROLL.StudentID</a:t>
            </a:r>
            <a:r>
              <a:rPr lang="en-US" dirty="0"/>
              <a:t> must exist in </a:t>
            </a:r>
            <a:r>
              <a:rPr lang="en-US" dirty="0" err="1"/>
              <a:t>STUDENT.StudentID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You cannot enroll a non-existing student.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11F37-21A9-E4B8-8840-75A41E76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0661F-250C-F192-3F77-C6F9557F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43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3C2FC-6389-2146-7A74-489C87E1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Keys in Relational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43CDC-F443-EEA5-25E1-FA42907B0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key</a:t>
            </a:r>
            <a:r>
              <a:rPr lang="en-US" dirty="0"/>
              <a:t> is an attribute (column) or a set of attributes that helps </a:t>
            </a:r>
            <a:r>
              <a:rPr lang="en-US" b="1" dirty="0"/>
              <a:t>uniquely identify</a:t>
            </a:r>
            <a:r>
              <a:rPr lang="en-US" dirty="0"/>
              <a:t> a row (tuple) in a relation (table).</a:t>
            </a:r>
          </a:p>
          <a:p>
            <a:r>
              <a:rPr lang="en-US" dirty="0"/>
              <a:t>A </a:t>
            </a:r>
            <a:r>
              <a:rPr lang="en-US" b="1" dirty="0"/>
              <a:t>key</a:t>
            </a:r>
            <a:r>
              <a:rPr lang="en-US" dirty="0"/>
              <a:t> of a relation </a:t>
            </a:r>
            <a:r>
              <a:rPr lang="en-US" b="1" dirty="0"/>
              <a:t>R</a:t>
            </a:r>
            <a:r>
              <a:rPr lang="en-US" dirty="0"/>
              <a:t> is a set of attributes </a:t>
            </a:r>
            <a:r>
              <a:rPr lang="en-US" b="1" dirty="0"/>
              <a:t>K</a:t>
            </a:r>
            <a:r>
              <a:rPr lang="en-US" dirty="0"/>
              <a:t> such that:</a:t>
            </a:r>
          </a:p>
          <a:p>
            <a:pPr lvl="1"/>
            <a:r>
              <a:rPr lang="en-US" b="1" dirty="0"/>
              <a:t>Uniqueness</a:t>
            </a:r>
            <a:r>
              <a:rPr lang="en-US" dirty="0"/>
              <a:t>: No two distinct tuples in R have the same values for attributes in K.</a:t>
            </a:r>
          </a:p>
          <a:p>
            <a:pPr lvl="1"/>
            <a:r>
              <a:rPr lang="en-US" b="1" dirty="0"/>
              <a:t>Minimality</a:t>
            </a:r>
            <a:r>
              <a:rPr lang="en-US" dirty="0"/>
              <a:t>: If any attribute is removed from K, the uniqueness property is lost.</a:t>
            </a:r>
          </a:p>
          <a:p>
            <a:r>
              <a:rPr lang="en-US" dirty="0"/>
              <a:t>Example: In STUDENT Relation </a:t>
            </a:r>
            <a:r>
              <a:rPr lang="en-US" dirty="0" err="1"/>
              <a:t>StudentID</a:t>
            </a:r>
            <a:r>
              <a:rPr lang="en-US" dirty="0"/>
              <a:t> can be key since no two tuples have same </a:t>
            </a:r>
            <a:r>
              <a:rPr lang="en-US" dirty="0" err="1"/>
              <a:t>StudentID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EBE36-FD19-DFC0-85CE-598C1390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105CA-57D7-D5FD-E4B7-7F2F5147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3E3F10-3ABF-EAB3-9DCD-A88E425E9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616115"/>
              </p:ext>
            </p:extLst>
          </p:nvPr>
        </p:nvGraphicFramePr>
        <p:xfrm>
          <a:off x="2041300" y="5563021"/>
          <a:ext cx="7940900" cy="1097280"/>
        </p:xfrm>
        <a:graphic>
          <a:graphicData uri="http://schemas.openxmlformats.org/drawingml/2006/table">
            <a:tbl>
              <a:tblPr/>
              <a:tblGrid>
                <a:gridCol w="1985225">
                  <a:extLst>
                    <a:ext uri="{9D8B030D-6E8A-4147-A177-3AD203B41FA5}">
                      <a16:colId xmlns:a16="http://schemas.microsoft.com/office/drawing/2014/main" val="3634126302"/>
                    </a:ext>
                  </a:extLst>
                </a:gridCol>
                <a:gridCol w="1985225">
                  <a:extLst>
                    <a:ext uri="{9D8B030D-6E8A-4147-A177-3AD203B41FA5}">
                      <a16:colId xmlns:a16="http://schemas.microsoft.com/office/drawing/2014/main" val="255609768"/>
                    </a:ext>
                  </a:extLst>
                </a:gridCol>
                <a:gridCol w="1985225">
                  <a:extLst>
                    <a:ext uri="{9D8B030D-6E8A-4147-A177-3AD203B41FA5}">
                      <a16:colId xmlns:a16="http://schemas.microsoft.com/office/drawing/2014/main" val="2978960684"/>
                    </a:ext>
                  </a:extLst>
                </a:gridCol>
                <a:gridCol w="1985225">
                  <a:extLst>
                    <a:ext uri="{9D8B030D-6E8A-4147-A177-3AD203B41FA5}">
                      <a16:colId xmlns:a16="http://schemas.microsoft.com/office/drawing/2014/main" val="4228980898"/>
                    </a:ext>
                  </a:extLst>
                </a:gridCol>
              </a:tblGrid>
              <a:tr h="256392">
                <a:tc>
                  <a:txBody>
                    <a:bodyPr/>
                    <a:lstStyle/>
                    <a:p>
                      <a:r>
                        <a:rPr lang="en-US" dirty="0" err="1"/>
                        <a:t>StudentID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5252638"/>
                  </a:ext>
                </a:extLst>
              </a:tr>
              <a:tr h="256392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rina@gmail.com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981234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0601254"/>
                  </a:ext>
                </a:extLst>
              </a:tr>
              <a:tr h="256392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arjun@gmail.com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1468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723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2A76-0600-2595-8225-9E1689C4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Super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0BF9-2FFF-BEB0-65D5-2515BBAC3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super key</a:t>
            </a:r>
            <a:r>
              <a:rPr lang="en-US" dirty="0"/>
              <a:t> is any set of attributes that </a:t>
            </a:r>
            <a:r>
              <a:rPr lang="en-US" b="1" dirty="0"/>
              <a:t>uniquely identifies</a:t>
            </a:r>
            <a:r>
              <a:rPr lang="en-US" dirty="0"/>
              <a:t> tuples in a relation.</a:t>
            </a:r>
          </a:p>
          <a:p>
            <a:r>
              <a:rPr lang="en-US" dirty="0"/>
              <a:t>A super key is a set of one or more attributes that, taken collectively, allow us to identify uniquely a tuple in the relation.</a:t>
            </a:r>
          </a:p>
          <a:p>
            <a:r>
              <a:rPr lang="en-US" dirty="0"/>
              <a:t>May contain extra attributes.</a:t>
            </a:r>
          </a:p>
          <a:p>
            <a:r>
              <a:rPr lang="en-US" b="1" dirty="0"/>
              <a:t>Examples</a:t>
            </a:r>
            <a:endParaRPr lang="en-US" dirty="0"/>
          </a:p>
          <a:p>
            <a:pPr lvl="1"/>
            <a:r>
              <a:rPr lang="en-US" dirty="0"/>
              <a:t>{</a:t>
            </a:r>
            <a:r>
              <a:rPr lang="en-US" dirty="0" err="1"/>
              <a:t>StudentID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{Email}</a:t>
            </a:r>
          </a:p>
          <a:p>
            <a:pPr lvl="1"/>
            <a:r>
              <a:rPr lang="en-US" dirty="0"/>
              <a:t>{Phone}</a:t>
            </a:r>
          </a:p>
          <a:p>
            <a:pPr lvl="1"/>
            <a:r>
              <a:rPr lang="en-US" dirty="0"/>
              <a:t>{</a:t>
            </a:r>
            <a:r>
              <a:rPr lang="en-US" dirty="0" err="1"/>
              <a:t>StudentID</a:t>
            </a:r>
            <a:r>
              <a:rPr lang="en-US" dirty="0"/>
              <a:t>, Name} → still unique → Super key</a:t>
            </a:r>
          </a:p>
          <a:p>
            <a:pPr lvl="1"/>
            <a:r>
              <a:rPr lang="en-US" dirty="0"/>
              <a:t>{</a:t>
            </a:r>
            <a:r>
              <a:rPr lang="en-US" dirty="0" err="1"/>
              <a:t>StudentID,Email</a:t>
            </a:r>
            <a:r>
              <a:rPr lang="en-US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D4DA1-F70E-1195-A4DE-548EE47C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35D79-C19E-3691-2F26-E8579490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22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AC84-35BA-EF83-605B-4CFD91AE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Candidate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8E2C7-0401-C205-8950-8ED15391F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candidate key</a:t>
            </a:r>
            <a:r>
              <a:rPr lang="en-US" dirty="0"/>
              <a:t> is a </a:t>
            </a:r>
            <a:r>
              <a:rPr lang="en-US" b="1" dirty="0"/>
              <a:t>minimal super key</a:t>
            </a:r>
            <a:r>
              <a:rPr lang="en-US" dirty="0"/>
              <a:t>.</a:t>
            </a:r>
          </a:p>
          <a:p>
            <a:r>
              <a:rPr lang="en-US" dirty="0"/>
              <a:t>It has </a:t>
            </a:r>
            <a:r>
              <a:rPr lang="en-US" b="1" dirty="0"/>
              <a:t>no redundant attributes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In STUDENT(</a:t>
            </a:r>
            <a:r>
              <a:rPr lang="en-US" dirty="0" err="1"/>
              <a:t>StudentID</a:t>
            </a:r>
            <a:r>
              <a:rPr lang="en-US" dirty="0"/>
              <a:t>, Email, Name):</a:t>
            </a:r>
          </a:p>
          <a:p>
            <a:pPr lvl="1"/>
            <a:r>
              <a:rPr lang="en-US" dirty="0"/>
              <a:t>{</a:t>
            </a:r>
            <a:r>
              <a:rPr lang="en-US" dirty="0" err="1"/>
              <a:t>StudentID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{Email}</a:t>
            </a:r>
          </a:p>
          <a:p>
            <a:r>
              <a:rPr lang="en-US" dirty="0"/>
              <a:t>Both uniquely identify a student and are minimal. So, we have </a:t>
            </a:r>
            <a:r>
              <a:rPr lang="en-US" b="1" dirty="0"/>
              <a:t>two candidate keys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C0231-DE3B-D088-ED41-EF18B7454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1899-7A43-4BE2-BF6F-CD752557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47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8856-1CDE-1542-D154-C12290B4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27B9-143E-E822-FFB0-2F784F189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primary key</a:t>
            </a:r>
            <a:r>
              <a:rPr lang="en-US" dirty="0"/>
              <a:t> is the candidate key </a:t>
            </a:r>
            <a:r>
              <a:rPr lang="en-US" b="1" dirty="0"/>
              <a:t>chosen by the database designer</a:t>
            </a:r>
            <a:r>
              <a:rPr lang="en-US" dirty="0"/>
              <a:t> to uniquely identify tuples in a relation.</a:t>
            </a:r>
          </a:p>
          <a:p>
            <a:r>
              <a:rPr lang="en-US" b="1" dirty="0"/>
              <a:t>Characteristics</a:t>
            </a:r>
          </a:p>
          <a:p>
            <a:pPr lvl="1"/>
            <a:r>
              <a:rPr lang="en-US" dirty="0"/>
              <a:t>must be </a:t>
            </a:r>
            <a:r>
              <a:rPr lang="en-US" b="1" dirty="0"/>
              <a:t>unique</a:t>
            </a:r>
            <a:endParaRPr lang="en-US" dirty="0"/>
          </a:p>
          <a:p>
            <a:pPr lvl="1"/>
            <a:r>
              <a:rPr lang="en-US" dirty="0"/>
              <a:t>cannot be </a:t>
            </a:r>
            <a:r>
              <a:rPr lang="en-US" b="1" dirty="0"/>
              <a:t>NULL</a:t>
            </a:r>
            <a:endParaRPr lang="en-US" dirty="0"/>
          </a:p>
          <a:p>
            <a:pPr lvl="1"/>
            <a:r>
              <a:rPr lang="en-US" dirty="0"/>
              <a:t>stable (should not change over time)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If the candidate keys are:</a:t>
            </a:r>
          </a:p>
          <a:p>
            <a:pPr lvl="1"/>
            <a:r>
              <a:rPr lang="en-US" dirty="0" err="1"/>
              <a:t>StudentID</a:t>
            </a:r>
            <a:endParaRPr lang="en-US" dirty="0"/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The designer selects </a:t>
            </a:r>
            <a:r>
              <a:rPr lang="en-US" b="1" dirty="0" err="1"/>
              <a:t>StudentID</a:t>
            </a:r>
            <a:r>
              <a:rPr lang="en-US" dirty="0"/>
              <a:t> → </a:t>
            </a:r>
            <a:r>
              <a:rPr lang="en-US" b="1" dirty="0"/>
              <a:t>Primary Key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71E3D-502A-1DE6-7F15-C599FD1E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CAE79-2D44-2B33-F5A0-4CF83C25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3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A5DB-636E-B4BB-8B02-61441E042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Alternate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B91F0-13ED-FA8F-43D6-3BFB8A1B7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relation has multiple candidate keys, those </a:t>
            </a:r>
            <a:r>
              <a:rPr lang="en-US" b="1" dirty="0"/>
              <a:t>not chosen</a:t>
            </a:r>
            <a:r>
              <a:rPr lang="en-US" dirty="0"/>
              <a:t> as the primary key are called </a:t>
            </a:r>
            <a:r>
              <a:rPr lang="en-US" b="1" dirty="0"/>
              <a:t>alternate keys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Candidate keys:</a:t>
            </a:r>
          </a:p>
          <a:p>
            <a:pPr lvl="2"/>
            <a:r>
              <a:rPr lang="en-US" dirty="0" err="1"/>
              <a:t>StudentID</a:t>
            </a:r>
            <a:endParaRPr lang="en-US" dirty="0"/>
          </a:p>
          <a:p>
            <a:pPr lvl="2"/>
            <a:r>
              <a:rPr lang="en-US" dirty="0"/>
              <a:t>Email</a:t>
            </a:r>
          </a:p>
          <a:p>
            <a:r>
              <a:rPr lang="en-US" dirty="0"/>
              <a:t>Primary key chosen → </a:t>
            </a:r>
            <a:r>
              <a:rPr lang="en-US" dirty="0" err="1"/>
              <a:t>StudentID</a:t>
            </a:r>
            <a:endParaRPr lang="en-US" dirty="0"/>
          </a:p>
          <a:p>
            <a:r>
              <a:rPr lang="en-US" dirty="0"/>
              <a:t>Alternate key → </a:t>
            </a:r>
            <a:r>
              <a:rPr lang="en-US" b="1" dirty="0"/>
              <a:t>Email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B9FD6-1B41-CAE9-03F3-1DD3531B6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5CB33-635B-86D5-80D8-905082E6E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35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5062B-C6B4-9F66-E253-D971109F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Composite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F8723-7669-87E6-58B1-D7E6DF4F4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composite key</a:t>
            </a:r>
            <a:r>
              <a:rPr lang="en-US" dirty="0"/>
              <a:t> is a key made up of </a:t>
            </a:r>
            <a:r>
              <a:rPr lang="en-US" b="1" dirty="0"/>
              <a:t>two or more attributes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Example</a:t>
            </a:r>
            <a:br>
              <a:rPr lang="en-US" dirty="0"/>
            </a:br>
            <a:r>
              <a:rPr lang="en-US" dirty="0"/>
              <a:t>REGISTRATION(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CourseID</a:t>
            </a:r>
            <a:r>
              <a:rPr lang="en-US" dirty="0"/>
              <a:t>, Semester)</a:t>
            </a:r>
          </a:p>
          <a:p>
            <a:r>
              <a:rPr lang="en-US" dirty="0"/>
              <a:t>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CourseID</a:t>
            </a:r>
            <a:r>
              <a:rPr lang="en-US" dirty="0"/>
              <a:t>, Semester) → Composite Key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D7EF5-2408-C27C-FE92-40A14799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DD254-1EBB-FEC0-09BD-2121E5D2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72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8F648-335F-0C82-FC87-8E3D5269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69DF2-DD75-1CFD-A02A-0E3C2B2EF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/>
          <a:lstStyle/>
          <a:p>
            <a:r>
              <a:rPr lang="en-US" dirty="0"/>
              <a:t>Attribute in one relation that </a:t>
            </a:r>
            <a:r>
              <a:rPr lang="en-US" b="1" dirty="0"/>
              <a:t>refers to the primary key</a:t>
            </a:r>
            <a:r>
              <a:rPr lang="en-US" dirty="0"/>
              <a:t> of another relation.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565B0-C23D-2CAD-E77E-A43CAE36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BA63F-64B8-2FEB-DEC5-BF0372C4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ECA89-44A5-EF1E-9850-A7C3B3590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705015"/>
            <a:ext cx="4628882" cy="33618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CC7753-4711-120E-53DA-8F11644F20F2}"/>
              </a:ext>
            </a:extLst>
          </p:cNvPr>
          <p:cNvSpPr txBox="1"/>
          <p:nvPr/>
        </p:nvSpPr>
        <p:spPr>
          <a:xfrm>
            <a:off x="3581400" y="6089389"/>
            <a:ext cx="53769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>
                <a:hlinkClick r:id="rId3"/>
              </a:rPr>
              <a:t>https://www.geeksforgeeks.org/dbms/foreign-key-in-dbms/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6423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DE46-D321-847F-5E79-B13896FC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Unique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6C35-174E-898A-D767-8CB59AA1D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unique key</a:t>
            </a:r>
            <a:r>
              <a:rPr lang="en-US" dirty="0"/>
              <a:t> is an attribute that must have </a:t>
            </a:r>
            <a:r>
              <a:rPr lang="en-US" b="1" dirty="0"/>
              <a:t>unique values</a:t>
            </a:r>
          </a:p>
          <a:p>
            <a:r>
              <a:rPr lang="en-US" b="1" dirty="0"/>
              <a:t>Can contain NULL</a:t>
            </a:r>
            <a:r>
              <a:rPr lang="en-US" dirty="0"/>
              <a:t> (unlike primary key).</a:t>
            </a:r>
          </a:p>
          <a:p>
            <a:r>
              <a:rPr lang="en-US" dirty="0"/>
              <a:t>In STUDENT table, Email if provided should be unique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DCB39-C575-9238-88C0-46ABBA88A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0D8C7-BF17-87E4-57A9-F18916D18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57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F318-FAFB-028E-E2BA-78DE05FB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Summary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F4BD5F1-7BC5-E615-B0DA-6540DFC1C0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43103"/>
              </p:ext>
            </p:extLst>
          </p:nvPr>
        </p:nvGraphicFramePr>
        <p:xfrm>
          <a:off x="901521" y="1822360"/>
          <a:ext cx="10721661" cy="39666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3887">
                  <a:extLst>
                    <a:ext uri="{9D8B030D-6E8A-4147-A177-3AD203B41FA5}">
                      <a16:colId xmlns:a16="http://schemas.microsoft.com/office/drawing/2014/main" val="283007878"/>
                    </a:ext>
                  </a:extLst>
                </a:gridCol>
                <a:gridCol w="3573887">
                  <a:extLst>
                    <a:ext uri="{9D8B030D-6E8A-4147-A177-3AD203B41FA5}">
                      <a16:colId xmlns:a16="http://schemas.microsoft.com/office/drawing/2014/main" val="4222337694"/>
                    </a:ext>
                  </a:extLst>
                </a:gridCol>
                <a:gridCol w="3573887">
                  <a:extLst>
                    <a:ext uri="{9D8B030D-6E8A-4147-A177-3AD203B41FA5}">
                      <a16:colId xmlns:a16="http://schemas.microsoft.com/office/drawing/2014/main" val="4025257842"/>
                    </a:ext>
                  </a:extLst>
                </a:gridCol>
              </a:tblGrid>
              <a:tr h="3609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Key Type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Meaning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Example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007833"/>
                  </a:ext>
                </a:extLst>
              </a:tr>
              <a:tr h="7206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Super Key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Any unique attribute set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{StudentID, Name}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709857"/>
                  </a:ext>
                </a:extLst>
              </a:tr>
              <a:tr h="3609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Candidate Key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Minimal super key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{StudentID}, {Email}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195296"/>
                  </a:ext>
                </a:extLst>
              </a:tr>
              <a:tr h="3609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Primary Key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Chosen identifier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StudentID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309477"/>
                  </a:ext>
                </a:extLst>
              </a:tr>
              <a:tr h="3609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Alternate Key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Other candidate keys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Email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793384"/>
                  </a:ext>
                </a:extLst>
              </a:tr>
              <a:tr h="7206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Composite Key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Multiple attributes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(StudentID, CourseID, Semester)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975630"/>
                  </a:ext>
                </a:extLst>
              </a:tr>
              <a:tr h="7206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Foreign Key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References another table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ENROLL.StudentID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432433"/>
                  </a:ext>
                </a:extLst>
              </a:tr>
              <a:tr h="3609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Unique Key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Unique but nullable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Email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01164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17130-8697-38FE-4BD4-1F871879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D3B0F-7DDD-52D1-B3BD-5C5885FD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93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CBF9-4457-0C2D-4619-65089448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Normal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5D0C9-0652-ABB4-A4AB-6C4EA92C3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 forms in a database management system (DBMS) are a set of guidelines used to organize data in a way that reduces redundancy and improves data integrity. The main normal forms include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First Normal Form (1NF)</a:t>
            </a:r>
          </a:p>
          <a:p>
            <a:r>
              <a:rPr lang="en-US" dirty="0"/>
              <a:t>Second Normal Form (2NF) </a:t>
            </a:r>
          </a:p>
          <a:p>
            <a:r>
              <a:rPr lang="en-US" dirty="0"/>
              <a:t>Third Normal Form (3NF)</a:t>
            </a:r>
          </a:p>
          <a:p>
            <a:r>
              <a:rPr lang="en-US" dirty="0"/>
              <a:t>Boyce-Codd Normal Form (BCNF)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8AFFD-CD50-CCD3-65A9-D9B88FAA7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8B817-BD92-0D83-2478-19D9CF160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66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C674-7AE6-2D8B-9C11-DCA69502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First Normal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44B33-CE35-3B34-5CE9-F3F4A5DE2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table is in </a:t>
            </a:r>
            <a:r>
              <a:rPr lang="en-US" b="1" dirty="0"/>
              <a:t>1NF</a:t>
            </a:r>
            <a:r>
              <a:rPr lang="en-US" dirty="0"/>
              <a:t> if it satisfies the following conditions: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All columns contain atomic values (i.e., indivisible values).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Each row is unique (i.e., no duplicate rows).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No duplicated rows or columns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Not in 1NF						In 1NF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E0E28-9BF2-52EF-782F-AB32737D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19093-5CD7-5C0B-6BED-FB1E93C3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48E1640-B3AF-69F1-FEA4-CB38EE5C6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06992"/>
              </p:ext>
            </p:extLst>
          </p:nvPr>
        </p:nvGraphicFramePr>
        <p:xfrm>
          <a:off x="921912" y="4987815"/>
          <a:ext cx="5594799" cy="923588"/>
        </p:xfrm>
        <a:graphic>
          <a:graphicData uri="http://schemas.openxmlformats.org/drawingml/2006/table">
            <a:tbl>
              <a:tblPr/>
              <a:tblGrid>
                <a:gridCol w="1864933">
                  <a:extLst>
                    <a:ext uri="{9D8B030D-6E8A-4147-A177-3AD203B41FA5}">
                      <a16:colId xmlns:a16="http://schemas.microsoft.com/office/drawing/2014/main" val="1828473735"/>
                    </a:ext>
                  </a:extLst>
                </a:gridCol>
                <a:gridCol w="1864933">
                  <a:extLst>
                    <a:ext uri="{9D8B030D-6E8A-4147-A177-3AD203B41FA5}">
                      <a16:colId xmlns:a16="http://schemas.microsoft.com/office/drawing/2014/main" val="3705023393"/>
                    </a:ext>
                  </a:extLst>
                </a:gridCol>
                <a:gridCol w="1864933">
                  <a:extLst>
                    <a:ext uri="{9D8B030D-6E8A-4147-A177-3AD203B41FA5}">
                      <a16:colId xmlns:a16="http://schemas.microsoft.com/office/drawing/2014/main" val="963343548"/>
                    </a:ext>
                  </a:extLst>
                </a:gridCol>
              </a:tblGrid>
              <a:tr h="461794">
                <a:tc>
                  <a:txBody>
                    <a:bodyPr/>
                    <a:lstStyle/>
                    <a:p>
                      <a:r>
                        <a:rPr lang="en-US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PhoneNumbers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918184"/>
                  </a:ext>
                </a:extLst>
              </a:tr>
              <a:tr h="461794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981234, 982222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7993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3E9BD6F-443C-F930-CE84-1B3EDD8D2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01400"/>
              </p:ext>
            </p:extLst>
          </p:nvPr>
        </p:nvGraphicFramePr>
        <p:xfrm>
          <a:off x="6917027" y="4900969"/>
          <a:ext cx="4353062" cy="1097280"/>
        </p:xfrm>
        <a:graphic>
          <a:graphicData uri="http://schemas.openxmlformats.org/drawingml/2006/table">
            <a:tbl>
              <a:tblPr/>
              <a:tblGrid>
                <a:gridCol w="2176531">
                  <a:extLst>
                    <a:ext uri="{9D8B030D-6E8A-4147-A177-3AD203B41FA5}">
                      <a16:colId xmlns:a16="http://schemas.microsoft.com/office/drawing/2014/main" val="4213287020"/>
                    </a:ext>
                  </a:extLst>
                </a:gridCol>
                <a:gridCol w="2176531">
                  <a:extLst>
                    <a:ext uri="{9D8B030D-6E8A-4147-A177-3AD203B41FA5}">
                      <a16:colId xmlns:a16="http://schemas.microsoft.com/office/drawing/2014/main" val="516658297"/>
                    </a:ext>
                  </a:extLst>
                </a:gridCol>
              </a:tblGrid>
              <a:tr h="336811">
                <a:tc>
                  <a:txBody>
                    <a:bodyPr/>
                    <a:lstStyle/>
                    <a:p>
                      <a:r>
                        <a:rPr lang="en-US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81759"/>
                  </a:ext>
                </a:extLst>
              </a:tr>
              <a:tr h="336811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981234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31421"/>
                  </a:ext>
                </a:extLst>
              </a:tr>
              <a:tr h="336811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795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875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DFFE-524D-E32D-AEEB-C0587EC2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Functional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96C70-A14D-CF36-C964-6599F5143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relation schema r(R) and attribute sets </a:t>
            </a:r>
            <a:r>
              <a:rPr lang="el-GR" dirty="0"/>
              <a:t>α ⊆ </a:t>
            </a:r>
            <a:r>
              <a:rPr lang="en-US" dirty="0"/>
              <a:t>R and </a:t>
            </a:r>
            <a:r>
              <a:rPr lang="el-GR" dirty="0"/>
              <a:t>β ⊆ </a:t>
            </a:r>
            <a:r>
              <a:rPr lang="en-US" dirty="0"/>
              <a:t>R.</a:t>
            </a:r>
          </a:p>
          <a:p>
            <a:r>
              <a:rPr lang="en-US" dirty="0"/>
              <a:t>Given an instance of r(R), the instance satisfies the functional dependency: </a:t>
            </a:r>
            <a:r>
              <a:rPr lang="el-GR" dirty="0"/>
              <a:t>α → β</a:t>
            </a:r>
            <a:endParaRPr lang="en-US" dirty="0"/>
          </a:p>
          <a:p>
            <a:r>
              <a:rPr lang="el-GR" dirty="0"/>
              <a:t>α </a:t>
            </a:r>
            <a:r>
              <a:rPr lang="en-US" dirty="0"/>
              <a:t>uniquely determines </a:t>
            </a:r>
            <a:r>
              <a:rPr lang="el-GR" dirty="0"/>
              <a:t>β</a:t>
            </a:r>
            <a:endParaRPr lang="en-US" dirty="0"/>
          </a:p>
          <a:p>
            <a:r>
              <a:rPr lang="en-US" dirty="0"/>
              <a:t>if, for every pair of tuples </a:t>
            </a:r>
            <a:r>
              <a:rPr lang="en-US" i="1" dirty="0"/>
              <a:t>t₁</a:t>
            </a:r>
            <a:r>
              <a:rPr lang="en-US" dirty="0"/>
              <a:t> and </a:t>
            </a:r>
            <a:r>
              <a:rPr lang="en-US" i="1" dirty="0"/>
              <a:t>t₂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</a:t>
            </a:r>
            <a:r>
              <a:rPr lang="en-US" b="1" dirty="0"/>
              <a:t>t₁[α] = t₂[α]</a:t>
            </a:r>
            <a:r>
              <a:rPr lang="en-US" dirty="0"/>
              <a:t>, then </a:t>
            </a:r>
            <a:r>
              <a:rPr lang="en-US" b="1" dirty="0"/>
              <a:t>t₁[β] = t₂[β]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A97B3-3326-7190-A256-72088EF84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E1814-92F5-4F53-02AC-75BABAAE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18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53257-5C74-465F-C177-D1CDC300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Example: Checking Functional Dependency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063A0DB-42DB-F73F-C3EA-45E23D89E3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4356635"/>
              </p:ext>
            </p:extLst>
          </p:nvPr>
        </p:nvGraphicFramePr>
        <p:xfrm>
          <a:off x="1146221" y="2829317"/>
          <a:ext cx="3419340" cy="198120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139780">
                  <a:extLst>
                    <a:ext uri="{9D8B030D-6E8A-4147-A177-3AD203B41FA5}">
                      <a16:colId xmlns:a16="http://schemas.microsoft.com/office/drawing/2014/main" val="18720053"/>
                    </a:ext>
                  </a:extLst>
                </a:gridCol>
                <a:gridCol w="1139780">
                  <a:extLst>
                    <a:ext uri="{9D8B030D-6E8A-4147-A177-3AD203B41FA5}">
                      <a16:colId xmlns:a16="http://schemas.microsoft.com/office/drawing/2014/main" val="3750763932"/>
                    </a:ext>
                  </a:extLst>
                </a:gridCol>
                <a:gridCol w="1139780">
                  <a:extLst>
                    <a:ext uri="{9D8B030D-6E8A-4147-A177-3AD203B41FA5}">
                      <a16:colId xmlns:a16="http://schemas.microsoft.com/office/drawing/2014/main" val="2159159213"/>
                    </a:ext>
                  </a:extLst>
                </a:gridCol>
              </a:tblGrid>
              <a:tr h="36399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924665"/>
                  </a:ext>
                </a:extLst>
              </a:tr>
              <a:tr h="363991">
                <a:tc>
                  <a:txBody>
                    <a:bodyPr/>
                    <a:lstStyle/>
                    <a:p>
                      <a:r>
                        <a:rPr lang="en-US" sz="20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0000219"/>
                  </a:ext>
                </a:extLst>
              </a:tr>
              <a:tr h="363991">
                <a:tc>
                  <a:txBody>
                    <a:bodyPr/>
                    <a:lstStyle/>
                    <a:p>
                      <a:r>
                        <a:rPr lang="en-US" sz="200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Bela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86919"/>
                  </a:ext>
                </a:extLst>
              </a:tr>
              <a:tr h="363991">
                <a:tc>
                  <a:txBody>
                    <a:bodyPr/>
                    <a:lstStyle/>
                    <a:p>
                      <a:r>
                        <a:rPr lang="en-US" sz="200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Chris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116183"/>
                  </a:ext>
                </a:extLst>
              </a:tr>
              <a:tr h="363991">
                <a:tc>
                  <a:txBody>
                    <a:bodyPr/>
                    <a:lstStyle/>
                    <a:p>
                      <a:r>
                        <a:rPr lang="en-US" sz="20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31007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97D9F-C1F8-C7DB-A2AF-CF1C7535B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9A919-E2E9-785D-9ADE-F0DC85999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7A0DD-C996-052F-288F-7CD9659C6ADF}"/>
              </a:ext>
            </a:extLst>
          </p:cNvPr>
          <p:cNvSpPr txBox="1"/>
          <p:nvPr/>
        </p:nvSpPr>
        <p:spPr>
          <a:xfrm>
            <a:off x="1012602" y="2075336"/>
            <a:ext cx="10713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Relation: </a:t>
            </a:r>
            <a:r>
              <a:rPr lang="en-US" b="1" dirty="0"/>
              <a:t>Student(SID, Name, Dept)</a:t>
            </a:r>
          </a:p>
          <a:p>
            <a:r>
              <a:rPr lang="en-US" dirty="0"/>
              <a:t>Assume the dependency </a:t>
            </a:r>
            <a:r>
              <a:rPr lang="en-US" b="1" dirty="0"/>
              <a:t>SID → Name, Dept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311883-08F2-810D-0300-4DFCC28E66F3}"/>
              </a:ext>
            </a:extLst>
          </p:cNvPr>
          <p:cNvSpPr txBox="1"/>
          <p:nvPr/>
        </p:nvSpPr>
        <p:spPr>
          <a:xfrm>
            <a:off x="6097074" y="1985693"/>
            <a:ext cx="6094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Check FD:</a:t>
            </a:r>
          </a:p>
          <a:p>
            <a:r>
              <a:rPr lang="en-US" dirty="0"/>
              <a:t>Take tuples where </a:t>
            </a:r>
            <a:r>
              <a:rPr lang="en-US" b="1" dirty="0"/>
              <a:t>SID = 101</a:t>
            </a:r>
            <a:r>
              <a:rPr lang="en-US" dirty="0"/>
              <a:t>:</a:t>
            </a:r>
          </a:p>
          <a:p>
            <a:r>
              <a:rPr lang="en-US" dirty="0"/>
              <a:t>Same SID → Same Name and Dept</a:t>
            </a:r>
          </a:p>
          <a:p>
            <a:r>
              <a:rPr lang="en-US" b="1" dirty="0"/>
              <a:t>SID → Name, Dept</a:t>
            </a:r>
            <a:r>
              <a:rPr lang="en-US" dirty="0"/>
              <a:t> holds in this instance.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EBC6BE2-FF6A-C3FC-D745-F3E4F70A1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571861"/>
              </p:ext>
            </p:extLst>
          </p:nvPr>
        </p:nvGraphicFramePr>
        <p:xfrm>
          <a:off x="6259132" y="3429000"/>
          <a:ext cx="3354948" cy="1109724"/>
        </p:xfrm>
        <a:graphic>
          <a:graphicData uri="http://schemas.openxmlformats.org/drawingml/2006/table">
            <a:tbl>
              <a:tblPr/>
              <a:tblGrid>
                <a:gridCol w="1118316">
                  <a:extLst>
                    <a:ext uri="{9D8B030D-6E8A-4147-A177-3AD203B41FA5}">
                      <a16:colId xmlns:a16="http://schemas.microsoft.com/office/drawing/2014/main" val="2840032574"/>
                    </a:ext>
                  </a:extLst>
                </a:gridCol>
                <a:gridCol w="1118316">
                  <a:extLst>
                    <a:ext uri="{9D8B030D-6E8A-4147-A177-3AD203B41FA5}">
                      <a16:colId xmlns:a16="http://schemas.microsoft.com/office/drawing/2014/main" val="3238509619"/>
                    </a:ext>
                  </a:extLst>
                </a:gridCol>
                <a:gridCol w="1118316">
                  <a:extLst>
                    <a:ext uri="{9D8B030D-6E8A-4147-A177-3AD203B41FA5}">
                      <a16:colId xmlns:a16="http://schemas.microsoft.com/office/drawing/2014/main" val="401379362"/>
                    </a:ext>
                  </a:extLst>
                </a:gridCol>
              </a:tblGrid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825400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774935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96188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AD99B8A-C35D-E3D6-686D-1BB59EC35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730515"/>
              </p:ext>
            </p:extLst>
          </p:nvPr>
        </p:nvGraphicFramePr>
        <p:xfrm>
          <a:off x="3026535" y="5398808"/>
          <a:ext cx="4655712" cy="1214493"/>
        </p:xfrm>
        <a:graphic>
          <a:graphicData uri="http://schemas.openxmlformats.org/drawingml/2006/table">
            <a:tbl>
              <a:tblPr/>
              <a:tblGrid>
                <a:gridCol w="1551904">
                  <a:extLst>
                    <a:ext uri="{9D8B030D-6E8A-4147-A177-3AD203B41FA5}">
                      <a16:colId xmlns:a16="http://schemas.microsoft.com/office/drawing/2014/main" val="626320060"/>
                    </a:ext>
                  </a:extLst>
                </a:gridCol>
                <a:gridCol w="1551904">
                  <a:extLst>
                    <a:ext uri="{9D8B030D-6E8A-4147-A177-3AD203B41FA5}">
                      <a16:colId xmlns:a16="http://schemas.microsoft.com/office/drawing/2014/main" val="393613164"/>
                    </a:ext>
                  </a:extLst>
                </a:gridCol>
                <a:gridCol w="1551904">
                  <a:extLst>
                    <a:ext uri="{9D8B030D-6E8A-4147-A177-3AD203B41FA5}">
                      <a16:colId xmlns:a16="http://schemas.microsoft.com/office/drawing/2014/main" val="1756733728"/>
                    </a:ext>
                  </a:extLst>
                </a:gridCol>
              </a:tblGrid>
              <a:tr h="404831">
                <a:tc>
                  <a:txBody>
                    <a:bodyPr/>
                    <a:lstStyle/>
                    <a:p>
                      <a:r>
                        <a:rPr lang="en-US"/>
                        <a:t>SID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251142"/>
                  </a:ext>
                </a:extLst>
              </a:tr>
              <a:tr h="404831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524153"/>
                  </a:ext>
                </a:extLst>
              </a:tr>
              <a:tr h="404831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63129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382919C-AEFC-52B2-5599-AB5DE6347EBD}"/>
              </a:ext>
            </a:extLst>
          </p:cNvPr>
          <p:cNvSpPr txBox="1"/>
          <p:nvPr/>
        </p:nvSpPr>
        <p:spPr>
          <a:xfrm>
            <a:off x="7819086" y="5569545"/>
            <a:ext cx="3907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tuples had:</a:t>
            </a:r>
          </a:p>
          <a:p>
            <a:r>
              <a:rPr lang="en-US" dirty="0"/>
              <a:t>Then dependency </a:t>
            </a:r>
            <a:r>
              <a:rPr lang="en-US" b="1" dirty="0"/>
              <a:t>SID → Dept</a:t>
            </a:r>
            <a:r>
              <a:rPr lang="en-US" dirty="0"/>
              <a:t> would be </a:t>
            </a:r>
            <a:r>
              <a:rPr lang="en-US" b="1" dirty="0"/>
              <a:t>violated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35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A9DA-E4E9-2612-2FC9-A858A735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718E4-4766-E462-1E80-C58F0D13E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Using the table above: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r>
              <a:rPr lang="en-US" dirty="0"/>
              <a:t>Identify all functional dependencies between the attributes.</a:t>
            </a:r>
          </a:p>
          <a:p>
            <a:r>
              <a:rPr lang="en-US" dirty="0"/>
              <a:t>Determine the candidate key(s) for this relation.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750F5-2AA8-B04A-F590-FAE5DEFD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F3DD8-D7D6-41D5-5B05-A30CB8F58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D46A1F-C1F8-3BBE-A5E3-8A7B75C2E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223177"/>
              </p:ext>
            </p:extLst>
          </p:nvPr>
        </p:nvGraphicFramePr>
        <p:xfrm>
          <a:off x="838200" y="2459693"/>
          <a:ext cx="10515600" cy="219456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9435475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7352583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4631835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843085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9516001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617986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StudentID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StudentName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CourseCode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CourseName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643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Rina Sharma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2"/>
                        </a:rPr>
                        <a:t>rina@snu.edu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Mehta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44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Amit Rana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3"/>
                        </a:rPr>
                        <a:t>amit@snu.edu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Mehta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757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Rina Sharma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2"/>
                        </a:rPr>
                        <a:t>rina@snu.edu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Gupta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28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Sita Adhikari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4"/>
                        </a:rPr>
                        <a:t>sita@snu.edu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Mehta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11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Amit Rana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3"/>
                        </a:rPr>
                        <a:t>amit@snu.edu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Calculus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 Gupta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807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415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D2D5-B4FC-F3E6-4FE0-4E6BF9E90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Functional Dependency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5AB646D-0ADE-2829-9850-8DEE8D221C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605304"/>
              </p:ext>
            </p:extLst>
          </p:nvPr>
        </p:nvGraphicFramePr>
        <p:xfrm>
          <a:off x="838200" y="1778495"/>
          <a:ext cx="4829736" cy="1097280"/>
        </p:xfrm>
        <a:graphic>
          <a:graphicData uri="http://schemas.openxmlformats.org/drawingml/2006/table">
            <a:tbl>
              <a:tblPr/>
              <a:tblGrid>
                <a:gridCol w="1609912">
                  <a:extLst>
                    <a:ext uri="{9D8B030D-6E8A-4147-A177-3AD203B41FA5}">
                      <a16:colId xmlns:a16="http://schemas.microsoft.com/office/drawing/2014/main" val="716993985"/>
                    </a:ext>
                  </a:extLst>
                </a:gridCol>
                <a:gridCol w="1609912">
                  <a:extLst>
                    <a:ext uri="{9D8B030D-6E8A-4147-A177-3AD203B41FA5}">
                      <a16:colId xmlns:a16="http://schemas.microsoft.com/office/drawing/2014/main" val="2348105682"/>
                    </a:ext>
                  </a:extLst>
                </a:gridCol>
                <a:gridCol w="1609912">
                  <a:extLst>
                    <a:ext uri="{9D8B030D-6E8A-4147-A177-3AD203B41FA5}">
                      <a16:colId xmlns:a16="http://schemas.microsoft.com/office/drawing/2014/main" val="598223830"/>
                    </a:ext>
                  </a:extLst>
                </a:gridCol>
              </a:tblGrid>
              <a:tr h="256574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student_id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96701"/>
                  </a:ext>
                </a:extLst>
              </a:tr>
              <a:tr h="256574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98123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600975"/>
                  </a:ext>
                </a:extLst>
              </a:tr>
              <a:tr h="256574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50494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C84D-4E2D-29C1-A415-B33CBF14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8DB51-5EAB-80C4-3E0D-4ACBAD64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7D4A6-6CF4-A743-F603-70842D2B847E}"/>
              </a:ext>
            </a:extLst>
          </p:cNvPr>
          <p:cNvSpPr txBox="1"/>
          <p:nvPr/>
        </p:nvSpPr>
        <p:spPr>
          <a:xfrm>
            <a:off x="316006" y="3193676"/>
            <a:ext cx="107374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b="1" dirty="0"/>
              <a:t>Trivial Functional Dependency</a:t>
            </a:r>
          </a:p>
          <a:p>
            <a:r>
              <a:rPr lang="en-US" b="1" dirty="0"/>
              <a:t>	Y⊆X⇒X→Y</a:t>
            </a:r>
          </a:p>
          <a:p>
            <a:r>
              <a:rPr lang="en-US" b="1" dirty="0"/>
              <a:t>	</a:t>
            </a:r>
            <a:r>
              <a:rPr lang="en-US" dirty="0"/>
              <a:t>Example: </a:t>
            </a:r>
            <a:r>
              <a:rPr lang="en-US" dirty="0" err="1"/>
              <a:t>student_id</a:t>
            </a:r>
            <a:r>
              <a:rPr lang="en-US" dirty="0"/>
              <a:t>, name → name</a:t>
            </a:r>
          </a:p>
          <a:p>
            <a:r>
              <a:rPr lang="en-US" dirty="0"/>
              <a:t>2. </a:t>
            </a:r>
            <a:r>
              <a:rPr lang="en-US" b="1" dirty="0"/>
              <a:t>Non-Trivial Functional Dependency</a:t>
            </a:r>
          </a:p>
          <a:p>
            <a:r>
              <a:rPr lang="en-US" dirty="0"/>
              <a:t>	Y is not Subset of X        </a:t>
            </a:r>
          </a:p>
          <a:p>
            <a:r>
              <a:rPr lang="en-US" dirty="0"/>
              <a:t>	Example: </a:t>
            </a:r>
            <a:r>
              <a:rPr lang="en-US" dirty="0" err="1"/>
              <a:t>student_id</a:t>
            </a:r>
            <a:r>
              <a:rPr lang="en-US" dirty="0"/>
              <a:t> → phone</a:t>
            </a:r>
          </a:p>
        </p:txBody>
      </p:sp>
    </p:spTree>
    <p:extLst>
      <p:ext uri="{BB962C8B-B14F-4D97-AF65-F5344CB8AC3E}">
        <p14:creationId xmlns:p14="http://schemas.microsoft.com/office/powerpoint/2010/main" val="3477617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4264-2844-493D-EA3E-E6414EE0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Armstrong’s Axioms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7CB4FB-3F4C-CA51-B3F2-726D1156C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113" y="1599313"/>
            <a:ext cx="10751725" cy="42904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1ABA0-394D-C70E-14D0-E6D89216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21A3A-6484-EBBB-1F2A-5C634B6D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269C2-6316-9608-D943-4C2B25DEE31D}"/>
              </a:ext>
            </a:extLst>
          </p:cNvPr>
          <p:cNvSpPr txBox="1"/>
          <p:nvPr/>
        </p:nvSpPr>
        <p:spPr>
          <a:xfrm>
            <a:off x="1015252" y="5889812"/>
            <a:ext cx="9614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>
                <a:hlinkClick r:id="rId3"/>
              </a:rPr>
              <a:t>https://15445.courses.cs.cmu.edu/fall2017/slides/04-functionaldependencies.pdf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4564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729B-0BCA-BE23-6D46-051F982D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Closures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E5C8D3D-0CFF-FD6E-57DC-770C3CCB4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4880" y="1570131"/>
            <a:ext cx="9968538" cy="450794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00CAC-613D-A764-E113-89CCF97D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B11B6-16A3-D670-4AC9-1B69F555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765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729B-0BCA-BE23-6D46-051F982D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Closures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00CAC-613D-A764-E113-89CCF97D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B11B6-16A3-D670-4AC9-1B69F555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36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EC2A8E-6099-A565-577C-3A3C8C1C1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2253" y="1398494"/>
            <a:ext cx="9627493" cy="4637275"/>
          </a:xfrm>
        </p:spPr>
      </p:pic>
    </p:spTree>
    <p:extLst>
      <p:ext uri="{BB962C8B-B14F-4D97-AF65-F5344CB8AC3E}">
        <p14:creationId xmlns:p14="http://schemas.microsoft.com/office/powerpoint/2010/main" val="1410356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0009-E24C-8D8F-42EC-442060E09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Canonical Cover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323CCB-B6F8-28C5-21CF-E49EFE574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982" y="1334461"/>
            <a:ext cx="10311612" cy="502188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326C0-1651-4474-FA2A-B552E06E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31B2B-FE71-2111-5F91-4D43E70C5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21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AB6E-33D2-1CA1-BF1B-6467DE3E7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Second Normal Form (2NF)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234C2-D023-40FA-7D05-9FB2EFE11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table (Relation) is in 2NF if </a:t>
            </a:r>
          </a:p>
          <a:p>
            <a:r>
              <a:rPr lang="en-US" dirty="0"/>
              <a:t>Table is in 1NF </a:t>
            </a:r>
          </a:p>
          <a:p>
            <a:r>
              <a:rPr lang="en-US" dirty="0"/>
              <a:t>Every non-key attribute is fully functionally dependent on the whole </a:t>
            </a:r>
            <a:r>
              <a:rPr lang="en-US" b="1" dirty="0"/>
              <a:t>primary key</a:t>
            </a:r>
            <a:r>
              <a:rPr lang="en-US" dirty="0"/>
              <a:t> (i.e., no partial dependencies on a part of a composite key).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B0EFD-1B23-5680-30B4-D053F161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5A2C2-CEE9-E972-833B-ED8D3838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046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872B2-F16D-4D34-C58C-80E4E0B3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82D28-367C-B93F-406D-67C275270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a sales system with a composite primary key (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ProductID</a:t>
            </a:r>
            <a:r>
              <a:rPr lang="en-US" dirty="0"/>
              <a:t>).</a:t>
            </a:r>
          </a:p>
          <a:p>
            <a:r>
              <a:rPr lang="en-US" i="1" dirty="0"/>
              <a:t>(Primary key: </a:t>
            </a:r>
            <a:r>
              <a:rPr lang="en-US" i="1" dirty="0" err="1"/>
              <a:t>OrderID</a:t>
            </a:r>
            <a:r>
              <a:rPr lang="en-US" i="1" dirty="0"/>
              <a:t> + </a:t>
            </a:r>
            <a:r>
              <a:rPr lang="en-US" i="1" dirty="0" err="1"/>
              <a:t>ProductID</a:t>
            </a:r>
            <a:r>
              <a:rPr lang="en-US" i="1" dirty="0"/>
              <a:t>)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This table is in </a:t>
            </a:r>
            <a:r>
              <a:rPr lang="en-US" b="1" dirty="0"/>
              <a:t>1NF</a:t>
            </a:r>
            <a:r>
              <a:rPr lang="en-US" dirty="0"/>
              <a:t> (atomic values, unique rows).</a:t>
            </a:r>
            <a:br>
              <a:rPr lang="en-US" dirty="0"/>
            </a:br>
            <a:r>
              <a:rPr lang="en-US" b="1" dirty="0"/>
              <a:t>But it is not in 2NF.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A8D75-5038-2EAA-24F0-1F18DF66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925C8-8D7F-AA4B-698F-BC7DBE8E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0F9A49-E535-5880-FB8A-524D85ADE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324202"/>
              </p:ext>
            </p:extLst>
          </p:nvPr>
        </p:nvGraphicFramePr>
        <p:xfrm>
          <a:off x="960549" y="3370873"/>
          <a:ext cx="10443692" cy="1651304"/>
        </p:xfrm>
        <a:graphic>
          <a:graphicData uri="http://schemas.openxmlformats.org/drawingml/2006/table">
            <a:tbl>
              <a:tblPr/>
              <a:tblGrid>
                <a:gridCol w="1491956">
                  <a:extLst>
                    <a:ext uri="{9D8B030D-6E8A-4147-A177-3AD203B41FA5}">
                      <a16:colId xmlns:a16="http://schemas.microsoft.com/office/drawing/2014/main" val="3906318732"/>
                    </a:ext>
                  </a:extLst>
                </a:gridCol>
                <a:gridCol w="1491956">
                  <a:extLst>
                    <a:ext uri="{9D8B030D-6E8A-4147-A177-3AD203B41FA5}">
                      <a16:colId xmlns:a16="http://schemas.microsoft.com/office/drawing/2014/main" val="494665498"/>
                    </a:ext>
                  </a:extLst>
                </a:gridCol>
                <a:gridCol w="1491956">
                  <a:extLst>
                    <a:ext uri="{9D8B030D-6E8A-4147-A177-3AD203B41FA5}">
                      <a16:colId xmlns:a16="http://schemas.microsoft.com/office/drawing/2014/main" val="2798517822"/>
                    </a:ext>
                  </a:extLst>
                </a:gridCol>
                <a:gridCol w="1666282">
                  <a:extLst>
                    <a:ext uri="{9D8B030D-6E8A-4147-A177-3AD203B41FA5}">
                      <a16:colId xmlns:a16="http://schemas.microsoft.com/office/drawing/2014/main" val="4261719339"/>
                    </a:ext>
                  </a:extLst>
                </a:gridCol>
                <a:gridCol w="1609859">
                  <a:extLst>
                    <a:ext uri="{9D8B030D-6E8A-4147-A177-3AD203B41FA5}">
                      <a16:colId xmlns:a16="http://schemas.microsoft.com/office/drawing/2014/main" val="1210514389"/>
                    </a:ext>
                  </a:extLst>
                </a:gridCol>
                <a:gridCol w="1199727">
                  <a:extLst>
                    <a:ext uri="{9D8B030D-6E8A-4147-A177-3AD203B41FA5}">
                      <a16:colId xmlns:a16="http://schemas.microsoft.com/office/drawing/2014/main" val="2731493421"/>
                    </a:ext>
                  </a:extLst>
                </a:gridCol>
                <a:gridCol w="1491956">
                  <a:extLst>
                    <a:ext uri="{9D8B030D-6E8A-4147-A177-3AD203B41FA5}">
                      <a16:colId xmlns:a16="http://schemas.microsoft.com/office/drawing/2014/main" val="2683907699"/>
                    </a:ext>
                  </a:extLst>
                </a:gridCol>
              </a:tblGrid>
              <a:tr h="554024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OrderID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ProductID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ProductDate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CustomerName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ProductName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 err="1"/>
                        <a:t>UnitPrice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/>
                        <a:t>Quantity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588260"/>
                  </a:ext>
                </a:extLst>
              </a:tr>
              <a:tr h="316585">
                <a:tc>
                  <a:txBody>
                    <a:bodyPr/>
                    <a:lstStyle/>
                    <a:p>
                      <a:r>
                        <a:rPr lang="en-US" sz="1800"/>
                        <a:t>5001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2025-11-20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Widget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10.00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304287"/>
                  </a:ext>
                </a:extLst>
              </a:tr>
              <a:tr h="316585">
                <a:tc>
                  <a:txBody>
                    <a:bodyPr/>
                    <a:lstStyle/>
                    <a:p>
                      <a:r>
                        <a:rPr lang="en-US" sz="1800"/>
                        <a:t>5001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2025-11-20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Gadget 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25.00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444033"/>
                  </a:ext>
                </a:extLst>
              </a:tr>
              <a:tr h="316585">
                <a:tc>
                  <a:txBody>
                    <a:bodyPr/>
                    <a:lstStyle/>
                    <a:p>
                      <a:r>
                        <a:rPr lang="en-US" sz="1800" dirty="0"/>
                        <a:t>5002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2025-11-21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Widget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10.00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674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011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A7DB-FC73-4C4D-0ECC-A39022F6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3FEAF-8B92-06A3-5F80-D14B23F5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Primary key is composite: (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ProductID</a:t>
            </a:r>
            <a:r>
              <a:rPr lang="en-US" dirty="0"/>
              <a:t>).</a:t>
            </a:r>
          </a:p>
          <a:p>
            <a:r>
              <a:rPr lang="en-US" dirty="0"/>
              <a:t>Attributes ProductName and </a:t>
            </a:r>
            <a:r>
              <a:rPr lang="en-US" dirty="0" err="1"/>
              <a:t>UnitPrice</a:t>
            </a:r>
            <a:r>
              <a:rPr lang="en-US" dirty="0"/>
              <a:t> depend only on </a:t>
            </a:r>
            <a:r>
              <a:rPr lang="en-US" dirty="0" err="1"/>
              <a:t>ProductID</a:t>
            </a:r>
            <a:r>
              <a:rPr lang="en-US" dirty="0"/>
              <a:t>, not on the full composite key (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ProductID</a:t>
            </a:r>
            <a:r>
              <a:rPr lang="en-US" dirty="0"/>
              <a:t>).</a:t>
            </a:r>
          </a:p>
          <a:p>
            <a:r>
              <a:rPr lang="en-US" dirty="0"/>
              <a:t>This is a partial dependency → violates 2NF. </a:t>
            </a:r>
          </a:p>
          <a:p>
            <a:r>
              <a:rPr lang="en-US" dirty="0" err="1"/>
              <a:t>CustomerName</a:t>
            </a:r>
            <a:r>
              <a:rPr lang="en-US" dirty="0"/>
              <a:t> and </a:t>
            </a:r>
            <a:r>
              <a:rPr lang="en-US" dirty="0" err="1"/>
              <a:t>ProductDate</a:t>
            </a:r>
            <a:r>
              <a:rPr lang="en-US" dirty="0"/>
              <a:t> depend only on </a:t>
            </a:r>
            <a:r>
              <a:rPr lang="en-US" dirty="0" err="1"/>
              <a:t>OrderID</a:t>
            </a:r>
            <a:r>
              <a:rPr lang="en-US" dirty="0"/>
              <a:t> (also partial in the sense they don't need </a:t>
            </a:r>
            <a:r>
              <a:rPr lang="en-US" dirty="0" err="1"/>
              <a:t>ProductID</a:t>
            </a:r>
            <a:r>
              <a:rPr lang="en-US" dirty="0"/>
              <a:t>), so they are also partial dependencies.</a:t>
            </a:r>
          </a:p>
          <a:p>
            <a:r>
              <a:rPr lang="en-US" dirty="0"/>
              <a:t>Functional dependencies visible: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ProductID</a:t>
            </a:r>
            <a:r>
              <a:rPr lang="en-US" dirty="0"/>
              <a:t>) → Quantity (OK, depends on whole PK)</a:t>
            </a:r>
          </a:p>
          <a:p>
            <a:pPr lvl="1"/>
            <a:r>
              <a:rPr lang="en-US" dirty="0" err="1"/>
              <a:t>ProductID</a:t>
            </a:r>
            <a:r>
              <a:rPr lang="en-US" dirty="0"/>
              <a:t> → ProductName, </a:t>
            </a:r>
            <a:r>
              <a:rPr lang="en-US" dirty="0" err="1"/>
              <a:t>UnitPrice</a:t>
            </a:r>
            <a:r>
              <a:rPr lang="en-US" dirty="0"/>
              <a:t> (partial dependency)</a:t>
            </a:r>
          </a:p>
          <a:p>
            <a:pPr lvl="1"/>
            <a:r>
              <a:rPr lang="en-US" dirty="0" err="1"/>
              <a:t>OrderID</a:t>
            </a:r>
            <a:r>
              <a:rPr lang="en-US" dirty="0"/>
              <a:t> → </a:t>
            </a:r>
            <a:r>
              <a:rPr lang="en-US" dirty="0" err="1"/>
              <a:t>CustomerName</a:t>
            </a:r>
            <a:r>
              <a:rPr lang="en-US" dirty="0"/>
              <a:t>, </a:t>
            </a:r>
            <a:r>
              <a:rPr lang="en-US" dirty="0" err="1"/>
              <a:t>ProductDate</a:t>
            </a:r>
            <a:r>
              <a:rPr lang="en-US" dirty="0"/>
              <a:t> (partial dependency)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1E934-539B-28F6-2538-C15ED7001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F27AF4-85E7-CBB5-1215-76A66737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03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F806-2B7F-7F01-6DAB-AC6C3B04C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Decompose to 2NF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FBEEB-B642-08E2-4EDE-9B16E3583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Goal: Remove attributes that depend on part of the composite key by creating separate tables.</a:t>
            </a:r>
          </a:p>
          <a:p>
            <a:r>
              <a:rPr lang="en-US" b="1" dirty="0"/>
              <a:t>Decomposition</a:t>
            </a:r>
            <a:r>
              <a:rPr lang="en-US" dirty="0"/>
              <a:t>:</a:t>
            </a:r>
          </a:p>
          <a:p>
            <a:r>
              <a:rPr lang="en-US" b="1" dirty="0"/>
              <a:t>Orders</a:t>
            </a:r>
            <a:r>
              <a:rPr lang="en-US" dirty="0"/>
              <a:t>(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ProductDate</a:t>
            </a:r>
            <a:r>
              <a:rPr lang="en-US" dirty="0"/>
              <a:t>, </a:t>
            </a:r>
            <a:r>
              <a:rPr lang="en-US" dirty="0" err="1"/>
              <a:t>CustomerName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Primary key: </a:t>
            </a:r>
            <a:r>
              <a:rPr lang="en-US" dirty="0" err="1"/>
              <a:t>OrderID</a:t>
            </a:r>
            <a:endParaRPr lang="en-US" dirty="0"/>
          </a:p>
          <a:p>
            <a:r>
              <a:rPr lang="en-US" b="1" dirty="0"/>
              <a:t>Products</a:t>
            </a:r>
            <a:r>
              <a:rPr lang="en-US" dirty="0"/>
              <a:t>(</a:t>
            </a:r>
            <a:r>
              <a:rPr lang="en-US" dirty="0" err="1"/>
              <a:t>ProductID</a:t>
            </a:r>
            <a:r>
              <a:rPr lang="en-US" dirty="0"/>
              <a:t>, ProductName, </a:t>
            </a:r>
            <a:r>
              <a:rPr lang="en-US" dirty="0" err="1"/>
              <a:t>UnitPrice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Primary key: </a:t>
            </a:r>
            <a:r>
              <a:rPr lang="en-US" dirty="0" err="1"/>
              <a:t>ProductID</a:t>
            </a:r>
            <a:endParaRPr lang="en-US" dirty="0"/>
          </a:p>
          <a:p>
            <a:r>
              <a:rPr lang="en-US" b="1" dirty="0" err="1"/>
              <a:t>OrderItems</a:t>
            </a:r>
            <a:r>
              <a:rPr lang="en-US" dirty="0"/>
              <a:t>(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ProductID</a:t>
            </a:r>
            <a:r>
              <a:rPr lang="en-US" dirty="0"/>
              <a:t>, Quantity)</a:t>
            </a:r>
          </a:p>
          <a:p>
            <a:pPr lvl="1"/>
            <a:r>
              <a:rPr lang="en-US" dirty="0"/>
              <a:t>Primary key: (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ProductID</a:t>
            </a:r>
            <a:r>
              <a:rPr lang="en-US" dirty="0"/>
              <a:t>) (foreign keys to Orders and Products)</a:t>
            </a:r>
          </a:p>
          <a:p>
            <a:r>
              <a:rPr lang="en-US" dirty="0"/>
              <a:t>After decomposition, non-key attributes in each table depend fully on that table’s primary key.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1198B-8CB8-008C-E882-EA32EA8AC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7B8D7-BABA-0305-0A41-4AB6C9EB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146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E152-5882-88FE-E666-959FE317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Rows After Decomposition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DCCE1B3-9832-9B92-DC1D-D118939B46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8160564"/>
              </p:ext>
            </p:extLst>
          </p:nvPr>
        </p:nvGraphicFramePr>
        <p:xfrm>
          <a:off x="838200" y="1948302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79741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320492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21067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OrderID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ProductDate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CustomerName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053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5001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2025-11-20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482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5002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2025-11-21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53058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CC996-153B-A4A8-C88D-C887D03B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876AE-60DD-3A65-DCC0-82B3EA30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3A10B7-E3BA-8C63-0D6D-354348611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995802"/>
              </p:ext>
            </p:extLst>
          </p:nvPr>
        </p:nvGraphicFramePr>
        <p:xfrm>
          <a:off x="838200" y="3482991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9969837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49031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4327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ProductID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ProductName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UnitPrice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98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Widget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156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Gadget 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30019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AE1EC2-1C8B-9F41-BA07-295102942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412607"/>
              </p:ext>
            </p:extLst>
          </p:nvPr>
        </p:nvGraphicFramePr>
        <p:xfrm>
          <a:off x="838200" y="4940300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794922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330721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64911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 err="1"/>
                        <a:t>OrderID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ProductID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Quantity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856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5001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017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5001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082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5002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65179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885FEB4-9D85-C7BC-06BE-869ACFE40F12}"/>
              </a:ext>
            </a:extLst>
          </p:cNvPr>
          <p:cNvSpPr txBox="1"/>
          <p:nvPr/>
        </p:nvSpPr>
        <p:spPr>
          <a:xfrm>
            <a:off x="910107" y="1494757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Orders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F8A8B4-0204-B2D0-34F2-D593FF1834A2}"/>
              </a:ext>
            </a:extLst>
          </p:cNvPr>
          <p:cNvSpPr txBox="1"/>
          <p:nvPr/>
        </p:nvSpPr>
        <p:spPr>
          <a:xfrm>
            <a:off x="838200" y="3153322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Products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EC00CC-1970-DC59-3F60-9A67FED6ABD5}"/>
              </a:ext>
            </a:extLst>
          </p:cNvPr>
          <p:cNvSpPr txBox="1"/>
          <p:nvPr/>
        </p:nvSpPr>
        <p:spPr>
          <a:xfrm>
            <a:off x="755024" y="4646526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OrderItems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07433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A3E88-D955-016D-0035-63B2DCA7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Class </a:t>
            </a:r>
            <a:r>
              <a:rPr lang="en-US" b="1" dirty="0" err="1"/>
              <a:t>Exrecise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9AEC-07A2-16D8-173A-4D2FA81A1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university maintains a </a:t>
            </a:r>
            <a:r>
              <a:rPr lang="en-US" b="1" dirty="0"/>
              <a:t>STUDENT_ENROLLMENT</a:t>
            </a:r>
            <a:r>
              <a:rPr lang="en-US" dirty="0"/>
              <a:t> table with the following attributes: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primary key of the table is </a:t>
            </a:r>
            <a:r>
              <a:rPr lang="en-US" b="1" dirty="0" err="1"/>
              <a:t>StudentID+CourseCode</a:t>
            </a:r>
            <a:endParaRPr lang="en-US" b="1" dirty="0"/>
          </a:p>
          <a:p>
            <a:r>
              <a:rPr lang="en-US" dirty="0"/>
              <a:t>Check if the table is in 2NF or not. If not decompose it into 2NF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A5150-6C3B-73B2-42CB-634AB9131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10187-078D-2DE4-12A9-20992D25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BB7C5C-48FC-852E-81DD-CFFB70CE9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544977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10571452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3402951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710236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414723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3965416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72593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StudentID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StudentName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CourseCode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CourseName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641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Rina Sharma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2"/>
                        </a:rPr>
                        <a:t>rina@snu.edu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Mehta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364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Amit Rana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3"/>
                        </a:rPr>
                        <a:t>amit@snu.edu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Mehta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5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Rina Sharma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2"/>
                        </a:rPr>
                        <a:t>rina@snu.edu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Gupta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124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Sita Adhikari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4"/>
                        </a:rPr>
                        <a:t>sita@snu.edu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Dr. Mehta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147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Amit Rana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hlinkClick r:id="rId3"/>
                        </a:rPr>
                        <a:t>amit@snu.edu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Calculus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 Gupta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101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0356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F6AD-CE3F-80BD-ADB4-3CB0DEE5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Third Normal Form(3NF)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C5BA1-80AC-9234-802C-C52534FFA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relation is in </a:t>
            </a:r>
            <a:r>
              <a:rPr lang="en-US" b="1" dirty="0"/>
              <a:t>3NF</a:t>
            </a:r>
            <a:r>
              <a:rPr lang="en-US" dirty="0"/>
              <a:t> if:</a:t>
            </a:r>
          </a:p>
          <a:p>
            <a:pPr lvl="1"/>
            <a:r>
              <a:rPr lang="en-US" dirty="0"/>
              <a:t>It is already in </a:t>
            </a:r>
            <a:r>
              <a:rPr lang="en-US" b="1" dirty="0"/>
              <a:t>2NF</a:t>
            </a:r>
            <a:r>
              <a:rPr lang="en-US" dirty="0"/>
              <a:t>, and</a:t>
            </a:r>
          </a:p>
          <a:p>
            <a:pPr lvl="1"/>
            <a:r>
              <a:rPr lang="en-US" dirty="0"/>
              <a:t>No non-key attribute depends transitively on the primary key</a:t>
            </a:r>
          </a:p>
          <a:p>
            <a:endParaRPr lang="en-US" b="1" dirty="0"/>
          </a:p>
          <a:p>
            <a:r>
              <a:rPr lang="en-US" b="1" dirty="0"/>
              <a:t>Key Idea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Every non-key attribute should depend </a:t>
            </a:r>
            <a:r>
              <a:rPr lang="en-US" b="1" dirty="0"/>
              <a:t>only on the primary key and not on each other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02E8F-67C5-2746-F58F-57624922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6DCE0-6921-43C8-01C9-920E4C5CC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741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B9F6-A6ED-2F78-382B-BD355053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C6AEB-B581-BC52-3890-839C6438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B9F3C-8999-EB74-8F21-3A767D9D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2B6A5D-1FF1-5505-16E4-C3D8FD879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430842"/>
              </p:ext>
            </p:extLst>
          </p:nvPr>
        </p:nvGraphicFramePr>
        <p:xfrm>
          <a:off x="1204174" y="2105050"/>
          <a:ext cx="7836796" cy="1488156"/>
        </p:xfrm>
        <a:graphic>
          <a:graphicData uri="http://schemas.openxmlformats.org/drawingml/2006/table">
            <a:tbl>
              <a:tblPr/>
              <a:tblGrid>
                <a:gridCol w="1959199">
                  <a:extLst>
                    <a:ext uri="{9D8B030D-6E8A-4147-A177-3AD203B41FA5}">
                      <a16:colId xmlns:a16="http://schemas.microsoft.com/office/drawing/2014/main" val="227429176"/>
                    </a:ext>
                  </a:extLst>
                </a:gridCol>
                <a:gridCol w="1959199">
                  <a:extLst>
                    <a:ext uri="{9D8B030D-6E8A-4147-A177-3AD203B41FA5}">
                      <a16:colId xmlns:a16="http://schemas.microsoft.com/office/drawing/2014/main" val="1929388853"/>
                    </a:ext>
                  </a:extLst>
                </a:gridCol>
                <a:gridCol w="1959199">
                  <a:extLst>
                    <a:ext uri="{9D8B030D-6E8A-4147-A177-3AD203B41FA5}">
                      <a16:colId xmlns:a16="http://schemas.microsoft.com/office/drawing/2014/main" val="61691537"/>
                    </a:ext>
                  </a:extLst>
                </a:gridCol>
                <a:gridCol w="1959199">
                  <a:extLst>
                    <a:ext uri="{9D8B030D-6E8A-4147-A177-3AD203B41FA5}">
                      <a16:colId xmlns:a16="http://schemas.microsoft.com/office/drawing/2014/main" val="3923922471"/>
                    </a:ext>
                  </a:extLst>
                </a:gridCol>
              </a:tblGrid>
              <a:tr h="372039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emp_id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emp_name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dept_id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dept_name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7201"/>
                  </a:ext>
                </a:extLst>
              </a:tr>
              <a:tr h="372039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045641"/>
                  </a:ext>
                </a:extLst>
              </a:tr>
              <a:tr h="372039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0901836"/>
                  </a:ext>
                </a:extLst>
              </a:tr>
              <a:tr h="372039">
                <a:tc>
                  <a:txBody>
                    <a:bodyPr/>
                    <a:lstStyle/>
                    <a:p>
                      <a:r>
                        <a:rPr lang="en-US"/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059425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CD5ECE-9470-E511-1870-9554E2195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580" y="1690688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sz="3600" b="1" dirty="0"/>
              <a:t>Functional Dependencies</a:t>
            </a:r>
          </a:p>
          <a:p>
            <a:r>
              <a:rPr lang="en-US" sz="3600" dirty="0" err="1"/>
              <a:t>emp_id</a:t>
            </a:r>
            <a:r>
              <a:rPr lang="en-US" sz="3600" dirty="0"/>
              <a:t> → </a:t>
            </a:r>
            <a:r>
              <a:rPr lang="en-US" sz="3600" dirty="0" err="1"/>
              <a:t>emp_name</a:t>
            </a:r>
            <a:r>
              <a:rPr lang="en-US" sz="3600" dirty="0"/>
              <a:t>, </a:t>
            </a:r>
            <a:r>
              <a:rPr lang="en-US" sz="3600" dirty="0" err="1"/>
              <a:t>dept_id</a:t>
            </a:r>
            <a:endParaRPr lang="en-US" sz="3600" dirty="0"/>
          </a:p>
          <a:p>
            <a:r>
              <a:rPr lang="en-US" sz="3600" dirty="0" err="1"/>
              <a:t>dept_id</a:t>
            </a:r>
            <a:r>
              <a:rPr lang="en-US" sz="3600" dirty="0"/>
              <a:t> → </a:t>
            </a:r>
            <a:r>
              <a:rPr lang="en-US" sz="3600" dirty="0" err="1"/>
              <a:t>dept_name</a:t>
            </a:r>
            <a:endParaRPr lang="en-US" sz="3600" dirty="0"/>
          </a:p>
          <a:p>
            <a:r>
              <a:rPr lang="en-US" sz="3600" dirty="0"/>
              <a:t>Primary Key: </a:t>
            </a:r>
            <a:r>
              <a:rPr lang="en-US" sz="3600" dirty="0" err="1"/>
              <a:t>emp_id</a:t>
            </a:r>
            <a:endParaRPr lang="en-US" sz="3600" dirty="0"/>
          </a:p>
          <a:p>
            <a:r>
              <a:rPr lang="en-US" sz="3600" dirty="0" err="1"/>
              <a:t>emp_name</a:t>
            </a:r>
            <a:r>
              <a:rPr lang="en-US" sz="3600" dirty="0"/>
              <a:t> and </a:t>
            </a:r>
            <a:r>
              <a:rPr lang="en-US" sz="3600" dirty="0" err="1"/>
              <a:t>dept_id</a:t>
            </a:r>
            <a:r>
              <a:rPr lang="en-US" sz="3600" dirty="0"/>
              <a:t> depend on </a:t>
            </a:r>
            <a:r>
              <a:rPr lang="en-US" sz="3600" dirty="0" err="1"/>
              <a:t>emp_id</a:t>
            </a:r>
            <a:endParaRPr lang="en-US" sz="3600" dirty="0"/>
          </a:p>
          <a:p>
            <a:r>
              <a:rPr lang="en-US" sz="3600" dirty="0"/>
              <a:t>But </a:t>
            </a:r>
            <a:r>
              <a:rPr lang="en-US" sz="3600" dirty="0" err="1"/>
              <a:t>dept_name</a:t>
            </a:r>
            <a:r>
              <a:rPr lang="en-US" sz="3600" dirty="0"/>
              <a:t> depends on </a:t>
            </a:r>
            <a:r>
              <a:rPr lang="en-US" sz="3600" dirty="0" err="1"/>
              <a:t>dept_id</a:t>
            </a:r>
            <a:r>
              <a:rPr lang="en-US" sz="3600" dirty="0"/>
              <a:t>, not directly on </a:t>
            </a:r>
            <a:r>
              <a:rPr lang="en-US" sz="3600" dirty="0" err="1"/>
              <a:t>emp_id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149159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216B-1F0C-00FD-6720-B476B1D6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64F2DAA-013A-7407-AA56-31A68B2B2B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2092290"/>
              </p:ext>
            </p:extLst>
          </p:nvPr>
        </p:nvGraphicFramePr>
        <p:xfrm>
          <a:off x="838200" y="2078478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083208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770648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632878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emp_id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emp_name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dept_id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8647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216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700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009246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CC6FC-D8E7-7B73-F8E5-CA7CAB94B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A406A-C630-EC2C-010A-D9AD8717D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3293FB-8452-52AA-ED3D-110C82C5B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353216"/>
              </p:ext>
            </p:extLst>
          </p:nvPr>
        </p:nvGraphicFramePr>
        <p:xfrm>
          <a:off x="838200" y="4096598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012327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330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dept_id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dept_name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2046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915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22953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E8565B-207B-7671-8136-95F0764EDFCD}"/>
              </a:ext>
            </a:extLst>
          </p:cNvPr>
          <p:cNvSpPr txBox="1"/>
          <p:nvPr/>
        </p:nvSpPr>
        <p:spPr>
          <a:xfrm>
            <a:off x="838200" y="1598896"/>
            <a:ext cx="1123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Employee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D5948-D369-F307-EC97-A53B1C472285}"/>
              </a:ext>
            </a:extLst>
          </p:cNvPr>
          <p:cNvSpPr txBox="1"/>
          <p:nvPr/>
        </p:nvSpPr>
        <p:spPr>
          <a:xfrm>
            <a:off x="784538" y="3651768"/>
            <a:ext cx="13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Department</a:t>
            </a:r>
          </a:p>
        </p:txBody>
      </p:sp>
    </p:spTree>
    <p:extLst>
      <p:ext uri="{BB962C8B-B14F-4D97-AF65-F5344CB8AC3E}">
        <p14:creationId xmlns:p14="http://schemas.microsoft.com/office/powerpoint/2010/main" val="17946600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FB173-8B61-CB43-2EEA-2AED50696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DD035-053B-4642-540E-11541907C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if the Relation is in 3NF or not. If not decompose it into 3NF tables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20864-CEA3-6A36-4498-5E0D559C1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5DA6F-9405-503B-C02A-070CEC0C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BE90AC-A2DC-069E-7CCA-59792648B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709801"/>
              </p:ext>
            </p:extLst>
          </p:nvPr>
        </p:nvGraphicFramePr>
        <p:xfrm>
          <a:off x="922985" y="3263335"/>
          <a:ext cx="10430815" cy="1817380"/>
        </p:xfrm>
        <a:graphic>
          <a:graphicData uri="http://schemas.openxmlformats.org/drawingml/2006/table">
            <a:tbl>
              <a:tblPr/>
              <a:tblGrid>
                <a:gridCol w="2086163">
                  <a:extLst>
                    <a:ext uri="{9D8B030D-6E8A-4147-A177-3AD203B41FA5}">
                      <a16:colId xmlns:a16="http://schemas.microsoft.com/office/drawing/2014/main" val="3654813589"/>
                    </a:ext>
                  </a:extLst>
                </a:gridCol>
                <a:gridCol w="2086163">
                  <a:extLst>
                    <a:ext uri="{9D8B030D-6E8A-4147-A177-3AD203B41FA5}">
                      <a16:colId xmlns:a16="http://schemas.microsoft.com/office/drawing/2014/main" val="4219505927"/>
                    </a:ext>
                  </a:extLst>
                </a:gridCol>
                <a:gridCol w="2086163">
                  <a:extLst>
                    <a:ext uri="{9D8B030D-6E8A-4147-A177-3AD203B41FA5}">
                      <a16:colId xmlns:a16="http://schemas.microsoft.com/office/drawing/2014/main" val="2742227956"/>
                    </a:ext>
                  </a:extLst>
                </a:gridCol>
                <a:gridCol w="2086163">
                  <a:extLst>
                    <a:ext uri="{9D8B030D-6E8A-4147-A177-3AD203B41FA5}">
                      <a16:colId xmlns:a16="http://schemas.microsoft.com/office/drawing/2014/main" val="1905530106"/>
                    </a:ext>
                  </a:extLst>
                </a:gridCol>
                <a:gridCol w="2086163">
                  <a:extLst>
                    <a:ext uri="{9D8B030D-6E8A-4147-A177-3AD203B41FA5}">
                      <a16:colId xmlns:a16="http://schemas.microsoft.com/office/drawing/2014/main" val="3906211714"/>
                    </a:ext>
                  </a:extLst>
                </a:gridCol>
              </a:tblGrid>
              <a:tr h="636454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product_id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product_name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category_id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category_name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category_manager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191231"/>
                  </a:ext>
                </a:extLst>
              </a:tr>
              <a:tr h="393642">
                <a:tc>
                  <a:txBody>
                    <a:bodyPr/>
                    <a:lstStyle/>
                    <a:p>
                      <a:r>
                        <a:rPr lang="en-US"/>
                        <a:t>P01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Laptop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Electronics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Sarah Thomas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78744"/>
                  </a:ext>
                </a:extLst>
              </a:tr>
              <a:tr h="393642">
                <a:tc>
                  <a:txBody>
                    <a:bodyPr/>
                    <a:lstStyle/>
                    <a:p>
                      <a:r>
                        <a:rPr lang="en-US"/>
                        <a:t>P02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Electronics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Sarah Thomas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005202"/>
                  </a:ext>
                </a:extLst>
              </a:tr>
              <a:tr h="393642">
                <a:tc>
                  <a:txBody>
                    <a:bodyPr/>
                    <a:lstStyle/>
                    <a:p>
                      <a:r>
                        <a:rPr lang="en-US"/>
                        <a:t>P03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Shampoo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Personal 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Miller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03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16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1761-716F-ADCE-74FE-FFDFF069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BCNF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25C8E-75C1-247A-8D9F-F077A3FC9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relation schema </a:t>
            </a:r>
            <a:r>
              <a:rPr lang="en-US" b="1" dirty="0"/>
              <a:t>R</a:t>
            </a:r>
            <a:r>
              <a:rPr lang="en-US" dirty="0"/>
              <a:t> is in </a:t>
            </a:r>
            <a:r>
              <a:rPr lang="en-US" b="1" dirty="0"/>
              <a:t>BCNF</a:t>
            </a:r>
            <a:r>
              <a:rPr lang="en-US" dirty="0"/>
              <a:t> with respect to a set of functional dependencies </a:t>
            </a:r>
            <a:r>
              <a:rPr lang="en-US" b="1" dirty="0"/>
              <a:t>F</a:t>
            </a:r>
            <a:r>
              <a:rPr lang="en-US" dirty="0"/>
              <a:t> if, for </a:t>
            </a:r>
            <a:r>
              <a:rPr lang="en-US" b="1" dirty="0"/>
              <a:t>every functional dependency</a:t>
            </a:r>
            <a:endParaRPr lang="en-US" dirty="0"/>
          </a:p>
          <a:p>
            <a:r>
              <a:rPr lang="el-GR" dirty="0"/>
              <a:t>α→β(</a:t>
            </a:r>
            <a:r>
              <a:rPr lang="en-US" dirty="0"/>
              <a:t>where </a:t>
            </a:r>
            <a:r>
              <a:rPr lang="el-GR" dirty="0"/>
              <a:t>α,β⊆</a:t>
            </a:r>
            <a:r>
              <a:rPr lang="en-US" dirty="0"/>
              <a:t>R) </a:t>
            </a:r>
            <a:r>
              <a:rPr lang="en-US" b="1" dirty="0"/>
              <a:t>at least one</a:t>
            </a:r>
            <a:r>
              <a:rPr lang="en-US" dirty="0"/>
              <a:t> of the following holds:</a:t>
            </a:r>
          </a:p>
          <a:p>
            <a:pPr>
              <a:buFont typeface="+mj-lt"/>
              <a:buAutoNum type="arabicPeriod"/>
            </a:pPr>
            <a:r>
              <a:rPr lang="el-GR" b="1" dirty="0"/>
              <a:t>α → β </a:t>
            </a:r>
            <a:r>
              <a:rPr lang="en-US" b="1" dirty="0"/>
              <a:t>is a trivial FD</a:t>
            </a:r>
            <a:br>
              <a:rPr lang="en-US" dirty="0"/>
            </a:br>
            <a:r>
              <a:rPr lang="en-US" dirty="0"/>
              <a:t>(i.e., </a:t>
            </a:r>
            <a:r>
              <a:rPr lang="el-GR" dirty="0"/>
              <a:t>β ⊆ α)</a:t>
            </a:r>
          </a:p>
          <a:p>
            <a:pPr>
              <a:buFont typeface="+mj-lt"/>
              <a:buAutoNum type="arabicPeriod"/>
            </a:pPr>
            <a:r>
              <a:rPr lang="el-GR" b="1" dirty="0"/>
              <a:t>α </a:t>
            </a:r>
            <a:r>
              <a:rPr lang="en-US" b="1" dirty="0"/>
              <a:t>is a </a:t>
            </a:r>
            <a:r>
              <a:rPr lang="en-US" b="1" dirty="0" err="1"/>
              <a:t>superkey</a:t>
            </a:r>
            <a:r>
              <a:rPr lang="en-US" dirty="0"/>
              <a:t> of the relation</a:t>
            </a:r>
          </a:p>
          <a:p>
            <a:endParaRPr lang="en-US" dirty="0"/>
          </a:p>
          <a:p>
            <a:r>
              <a:rPr lang="en-US" dirty="0"/>
              <a:t>Stronger form of 3NF.</a:t>
            </a:r>
          </a:p>
          <a:p>
            <a:r>
              <a:rPr lang="en-US" dirty="0"/>
              <a:t>Prevents non-key attributes from determining other attributes.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E8191-F6CE-6036-776F-2E270F72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25435-547E-9DE8-38EA-1FCD9998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332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266A6-0CDE-9341-BEE4-8AA6563C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963BE3-0530-B892-3E07-6EF6DA341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938534"/>
              </p:ext>
            </p:extLst>
          </p:nvPr>
        </p:nvGraphicFramePr>
        <p:xfrm>
          <a:off x="777688" y="2099245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1349832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107211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95332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Major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Advisor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010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Faculty-1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819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Faculty-2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348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Faculty-3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08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789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Faculty-4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052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Faculty-1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435913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6E6F3-FE52-E0F7-A62B-18DEE6352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4737C-5472-58EA-89E7-0A76CDA4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49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157C0F-79F9-E9CF-4282-3E23573499C4}"/>
              </a:ext>
            </a:extLst>
          </p:cNvPr>
          <p:cNvSpPr txBox="1"/>
          <p:nvPr/>
        </p:nvSpPr>
        <p:spPr>
          <a:xfrm>
            <a:off x="777688" y="1494541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Relation: Student (SID, Major, Advisor)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19A2A-9954-125A-B172-9873AB063F7B}"/>
              </a:ext>
            </a:extLst>
          </p:cNvPr>
          <p:cNvSpPr txBox="1"/>
          <p:nvPr/>
        </p:nvSpPr>
        <p:spPr>
          <a:xfrm>
            <a:off x="777687" y="4586412"/>
            <a:ext cx="68938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Functional Dependencies (FDs) extracted from the table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SID, Major → Advisor</a:t>
            </a:r>
            <a:br>
              <a:rPr lang="en-US" dirty="0"/>
            </a:br>
            <a:r>
              <a:rPr lang="en-US" dirty="0"/>
              <a:t>A student taking a particular major has a fixed advisor.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Advisor → Major</a:t>
            </a:r>
            <a:br>
              <a:rPr lang="en-US" dirty="0"/>
            </a:br>
            <a:r>
              <a:rPr lang="en-US" dirty="0"/>
              <a:t>Each advisor advises exactly one major.</a:t>
            </a:r>
          </a:p>
        </p:txBody>
      </p:sp>
    </p:spTree>
    <p:extLst>
      <p:ext uri="{BB962C8B-B14F-4D97-AF65-F5344CB8AC3E}">
        <p14:creationId xmlns:p14="http://schemas.microsoft.com/office/powerpoint/2010/main" val="23658554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6000-87D8-F04A-FEED-7D3BF529C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BCNF Decomposition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E4EC1BF-D914-9E34-2E8F-22167FA5F8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7647929"/>
              </p:ext>
            </p:extLst>
          </p:nvPr>
        </p:nvGraphicFramePr>
        <p:xfrm>
          <a:off x="316004" y="2366682"/>
          <a:ext cx="6804214" cy="1828800"/>
        </p:xfrm>
        <a:graphic>
          <a:graphicData uri="http://schemas.openxmlformats.org/drawingml/2006/table">
            <a:tbl>
              <a:tblPr/>
              <a:tblGrid>
                <a:gridCol w="3402107">
                  <a:extLst>
                    <a:ext uri="{9D8B030D-6E8A-4147-A177-3AD203B41FA5}">
                      <a16:colId xmlns:a16="http://schemas.microsoft.com/office/drawing/2014/main" val="114582262"/>
                    </a:ext>
                  </a:extLst>
                </a:gridCol>
                <a:gridCol w="3402107">
                  <a:extLst>
                    <a:ext uri="{9D8B030D-6E8A-4147-A177-3AD203B41FA5}">
                      <a16:colId xmlns:a16="http://schemas.microsoft.com/office/drawing/2014/main" val="1641777239"/>
                    </a:ext>
                  </a:extLst>
                </a:gridCol>
              </a:tblGrid>
              <a:tr h="3065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Advisor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Major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238279"/>
                  </a:ext>
                </a:extLst>
              </a:tr>
              <a:tr h="306593">
                <a:tc>
                  <a:txBody>
                    <a:bodyPr/>
                    <a:lstStyle/>
                    <a:p>
                      <a:r>
                        <a:rPr lang="en-US"/>
                        <a:t>Faculty-1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547734"/>
                  </a:ext>
                </a:extLst>
              </a:tr>
              <a:tr h="306593">
                <a:tc>
                  <a:txBody>
                    <a:bodyPr/>
                    <a:lstStyle/>
                    <a:p>
                      <a:r>
                        <a:rPr lang="en-US"/>
                        <a:t>Faculty-2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742835"/>
                  </a:ext>
                </a:extLst>
              </a:tr>
              <a:tr h="306593">
                <a:tc>
                  <a:txBody>
                    <a:bodyPr/>
                    <a:lstStyle/>
                    <a:p>
                      <a:r>
                        <a:rPr lang="en-US"/>
                        <a:t>Faculty-3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34100"/>
                  </a:ext>
                </a:extLst>
              </a:tr>
              <a:tr h="306593">
                <a:tc>
                  <a:txBody>
                    <a:bodyPr/>
                    <a:lstStyle/>
                    <a:p>
                      <a:r>
                        <a:rPr lang="en-US"/>
                        <a:t>Faculty-4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97857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3E035-D23F-7E9E-26C6-D87311D6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3B54B-BAEA-983A-47F7-8224FDBB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50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91F702-EDD5-2B14-8E95-282589E94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633458"/>
              </p:ext>
            </p:extLst>
          </p:nvPr>
        </p:nvGraphicFramePr>
        <p:xfrm>
          <a:off x="7752228" y="2366682"/>
          <a:ext cx="3946714" cy="2194560"/>
        </p:xfrm>
        <a:graphic>
          <a:graphicData uri="http://schemas.openxmlformats.org/drawingml/2006/table">
            <a:tbl>
              <a:tblPr/>
              <a:tblGrid>
                <a:gridCol w="1973357">
                  <a:extLst>
                    <a:ext uri="{9D8B030D-6E8A-4147-A177-3AD203B41FA5}">
                      <a16:colId xmlns:a16="http://schemas.microsoft.com/office/drawing/2014/main" val="1206260805"/>
                    </a:ext>
                  </a:extLst>
                </a:gridCol>
                <a:gridCol w="1973357">
                  <a:extLst>
                    <a:ext uri="{9D8B030D-6E8A-4147-A177-3AD203B41FA5}">
                      <a16:colId xmlns:a16="http://schemas.microsoft.com/office/drawing/2014/main" val="2763403807"/>
                    </a:ext>
                  </a:extLst>
                </a:gridCol>
              </a:tblGrid>
              <a:tr h="27687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Advisor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467380"/>
                  </a:ext>
                </a:extLst>
              </a:tr>
              <a:tr h="276877">
                <a:tc>
                  <a:txBody>
                    <a:bodyPr/>
                    <a:lstStyle/>
                    <a:p>
                      <a:r>
                        <a:rPr lang="en-US"/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Faculty-1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0632405"/>
                  </a:ext>
                </a:extLst>
              </a:tr>
              <a:tr h="276877">
                <a:tc>
                  <a:txBody>
                    <a:bodyPr/>
                    <a:lstStyle/>
                    <a:p>
                      <a:r>
                        <a:rPr lang="en-US"/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Faculty-2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884987"/>
                  </a:ext>
                </a:extLst>
              </a:tr>
              <a:tr h="276877">
                <a:tc>
                  <a:txBody>
                    <a:bodyPr/>
                    <a:lstStyle/>
                    <a:p>
                      <a:r>
                        <a:rPr lang="en-US"/>
                        <a:t>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Faculty-3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687356"/>
                  </a:ext>
                </a:extLst>
              </a:tr>
              <a:tr h="276877">
                <a:tc>
                  <a:txBody>
                    <a:bodyPr/>
                    <a:lstStyle/>
                    <a:p>
                      <a:r>
                        <a:rPr lang="en-US"/>
                        <a:t>789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Faculty-4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484236"/>
                  </a:ext>
                </a:extLst>
              </a:tr>
              <a:tr h="276877">
                <a:tc>
                  <a:txBody>
                    <a:bodyPr/>
                    <a:lstStyle/>
                    <a:p>
                      <a:r>
                        <a:rPr lang="en-US" dirty="0"/>
                        <a:t>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Faculty-1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6044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A6109CD-4279-B7BD-E9BC-1C8CAD41D719}"/>
              </a:ext>
            </a:extLst>
          </p:cNvPr>
          <p:cNvSpPr txBox="1"/>
          <p:nvPr/>
        </p:nvSpPr>
        <p:spPr>
          <a:xfrm>
            <a:off x="316004" y="1844019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Advisor–Major relation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0A48BB-161A-DAF3-7624-4D560E76E793}"/>
              </a:ext>
            </a:extLst>
          </p:cNvPr>
          <p:cNvSpPr txBox="1"/>
          <p:nvPr/>
        </p:nvSpPr>
        <p:spPr>
          <a:xfrm>
            <a:off x="7752228" y="1832344"/>
            <a:ext cx="3037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Student–Advisor relation</a:t>
            </a:r>
          </a:p>
        </p:txBody>
      </p:sp>
    </p:spTree>
    <p:extLst>
      <p:ext uri="{BB962C8B-B14F-4D97-AF65-F5344CB8AC3E}">
        <p14:creationId xmlns:p14="http://schemas.microsoft.com/office/powerpoint/2010/main" val="16556283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E40C-239C-0202-D349-EDAEC313D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F6425-7460-5C57-F785-B8245AFC3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321"/>
            <a:ext cx="10515600" cy="4351338"/>
          </a:xfrm>
        </p:spPr>
        <p:txBody>
          <a:bodyPr/>
          <a:lstStyle/>
          <a:p>
            <a:r>
              <a:rPr lang="en-US" dirty="0" err="1"/>
              <a:t>Most_Popular_Movies_Of_The_Year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Release_Year</a:t>
            </a:r>
            <a:r>
              <a:rPr lang="en-US" dirty="0"/>
              <a:t>, </a:t>
            </a:r>
            <a:r>
              <a:rPr lang="en-US" dirty="0" err="1"/>
              <a:t>Popularity_Ranking</a:t>
            </a:r>
            <a:r>
              <a:rPr lang="en-US" dirty="0"/>
              <a:t>) → </a:t>
            </a:r>
            <a:r>
              <a:rPr lang="en-US" dirty="0" err="1"/>
              <a:t>Movie_Name</a:t>
            </a:r>
            <a:r>
              <a:rPr lang="en-US" dirty="0"/>
              <a:t>, </a:t>
            </a:r>
            <a:r>
              <a:rPr lang="en-US" dirty="0" err="1"/>
              <a:t>Release_Year_And_Month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DA9C7-702D-61AC-FFC6-7F1658B0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E1948B-9CD8-A171-B7C9-72752863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51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6E85F2-F859-F7EF-55C3-0A8FCA9E0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912805"/>
              </p:ext>
            </p:extLst>
          </p:nvPr>
        </p:nvGraphicFramePr>
        <p:xfrm>
          <a:off x="838200" y="2973070"/>
          <a:ext cx="10823620" cy="3383280"/>
        </p:xfrm>
        <a:graphic>
          <a:graphicData uri="http://schemas.openxmlformats.org/drawingml/2006/table">
            <a:tbl>
              <a:tblPr/>
              <a:tblGrid>
                <a:gridCol w="2705905">
                  <a:extLst>
                    <a:ext uri="{9D8B030D-6E8A-4147-A177-3AD203B41FA5}">
                      <a16:colId xmlns:a16="http://schemas.microsoft.com/office/drawing/2014/main" val="1358864431"/>
                    </a:ext>
                  </a:extLst>
                </a:gridCol>
                <a:gridCol w="2705905">
                  <a:extLst>
                    <a:ext uri="{9D8B030D-6E8A-4147-A177-3AD203B41FA5}">
                      <a16:colId xmlns:a16="http://schemas.microsoft.com/office/drawing/2014/main" val="3746099149"/>
                    </a:ext>
                  </a:extLst>
                </a:gridCol>
                <a:gridCol w="2705905">
                  <a:extLst>
                    <a:ext uri="{9D8B030D-6E8A-4147-A177-3AD203B41FA5}">
                      <a16:colId xmlns:a16="http://schemas.microsoft.com/office/drawing/2014/main" val="938032781"/>
                    </a:ext>
                  </a:extLst>
                </a:gridCol>
                <a:gridCol w="2705905">
                  <a:extLst>
                    <a:ext uri="{9D8B030D-6E8A-4147-A177-3AD203B41FA5}">
                      <a16:colId xmlns:a16="http://schemas.microsoft.com/office/drawing/2014/main" val="232353435"/>
                    </a:ext>
                  </a:extLst>
                </a:gridCol>
              </a:tblGrid>
              <a:tr h="339098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Release_Year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Popularity_Ranking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Movie_Name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Release_Year_And_Month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700141"/>
                  </a:ext>
                </a:extLst>
              </a:tr>
              <a:tr h="339098">
                <a:tc>
                  <a:txBody>
                    <a:bodyPr/>
                    <a:lstStyle/>
                    <a:p>
                      <a:r>
                        <a:rPr lang="en-US"/>
                        <a:t>2008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 Dark Knight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2008-07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981964"/>
                  </a:ext>
                </a:extLst>
              </a:tr>
              <a:tr h="593422">
                <a:tc>
                  <a:txBody>
                    <a:bodyPr/>
                    <a:lstStyle/>
                    <a:p>
                      <a:r>
                        <a:rPr lang="en-US"/>
                        <a:t>2008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Indiana Jones and the Kingdom…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2008-05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596082"/>
                  </a:ext>
                </a:extLst>
              </a:tr>
              <a:tr h="339098">
                <a:tc>
                  <a:txBody>
                    <a:bodyPr/>
                    <a:lstStyle/>
                    <a:p>
                      <a:r>
                        <a:rPr lang="en-US"/>
                        <a:t>2008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Kung Fu Panda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2008-06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311530"/>
                  </a:ext>
                </a:extLst>
              </a:tr>
              <a:tr h="339098">
                <a:tc>
                  <a:txBody>
                    <a:bodyPr/>
                    <a:lstStyle/>
                    <a:p>
                      <a:r>
                        <a:rPr lang="en-US"/>
                        <a:t>2009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Avatar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2009-12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923718"/>
                  </a:ext>
                </a:extLst>
              </a:tr>
              <a:tr h="593422">
                <a:tc>
                  <a:txBody>
                    <a:bodyPr/>
                    <a:lstStyle/>
                    <a:p>
                      <a:r>
                        <a:rPr lang="en-US"/>
                        <a:t>2009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Harry Potter and the Half-Blood Prince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2009-07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555679"/>
                  </a:ext>
                </a:extLst>
              </a:tr>
              <a:tr h="593422">
                <a:tc>
                  <a:txBody>
                    <a:bodyPr/>
                    <a:lstStyle/>
                    <a:p>
                      <a:r>
                        <a:rPr lang="en-US"/>
                        <a:t>2009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 Age: Dawn of the Dinosaurs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2009-07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823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6070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5A880-A2BF-87B2-7730-45B98932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Decomposition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82536DA-FF99-B080-1674-6EF5B167F6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059591"/>
              </p:ext>
            </p:extLst>
          </p:nvPr>
        </p:nvGraphicFramePr>
        <p:xfrm>
          <a:off x="709411" y="1533076"/>
          <a:ext cx="9748234" cy="2194560"/>
        </p:xfrm>
        <a:graphic>
          <a:graphicData uri="http://schemas.openxmlformats.org/drawingml/2006/table">
            <a:tbl>
              <a:tblPr/>
              <a:tblGrid>
                <a:gridCol w="4874117">
                  <a:extLst>
                    <a:ext uri="{9D8B030D-6E8A-4147-A177-3AD203B41FA5}">
                      <a16:colId xmlns:a16="http://schemas.microsoft.com/office/drawing/2014/main" val="2374957764"/>
                    </a:ext>
                  </a:extLst>
                </a:gridCol>
                <a:gridCol w="4874117">
                  <a:extLst>
                    <a:ext uri="{9D8B030D-6E8A-4147-A177-3AD203B41FA5}">
                      <a16:colId xmlns:a16="http://schemas.microsoft.com/office/drawing/2014/main" val="1510887529"/>
                    </a:ext>
                  </a:extLst>
                </a:gridCol>
              </a:tblGrid>
              <a:tr h="280907">
                <a:tc>
                  <a:txBody>
                    <a:bodyPr/>
                    <a:lstStyle/>
                    <a:p>
                      <a:r>
                        <a:rPr lang="en-US" dirty="0" err="1"/>
                        <a:t>Release_Year_And_Month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Release_Year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0145007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r>
                        <a:rPr lang="en-US"/>
                        <a:t>2008-07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958343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r>
                        <a:rPr lang="en-US"/>
                        <a:t>2008-05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069464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r>
                        <a:rPr lang="en-US"/>
                        <a:t>2008-06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927059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r>
                        <a:rPr lang="en-US"/>
                        <a:t>2009-12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062515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r>
                        <a:rPr lang="en-US"/>
                        <a:t>2009-07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47414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5377-D7C4-75DA-D2D5-099E4A8E6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646B-CCB5-49E8-954C-33AA4B03069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862B6-FAF8-73EE-C8EE-6CFD60E9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1C8A9-9457-4B4E-BB07-38A22AA22816}" type="slidenum">
              <a:rPr lang="en-US" smtClean="0"/>
              <a:t>52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5770E9-5DBD-48BB-2724-623854F5D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956199"/>
              </p:ext>
            </p:extLst>
          </p:nvPr>
        </p:nvGraphicFramePr>
        <p:xfrm>
          <a:off x="709410" y="3978592"/>
          <a:ext cx="10997484" cy="2560320"/>
        </p:xfrm>
        <a:graphic>
          <a:graphicData uri="http://schemas.openxmlformats.org/drawingml/2006/table">
            <a:tbl>
              <a:tblPr/>
              <a:tblGrid>
                <a:gridCol w="2749371">
                  <a:extLst>
                    <a:ext uri="{9D8B030D-6E8A-4147-A177-3AD203B41FA5}">
                      <a16:colId xmlns:a16="http://schemas.microsoft.com/office/drawing/2014/main" val="3452233003"/>
                    </a:ext>
                  </a:extLst>
                </a:gridCol>
                <a:gridCol w="2749371">
                  <a:extLst>
                    <a:ext uri="{9D8B030D-6E8A-4147-A177-3AD203B41FA5}">
                      <a16:colId xmlns:a16="http://schemas.microsoft.com/office/drawing/2014/main" val="505730399"/>
                    </a:ext>
                  </a:extLst>
                </a:gridCol>
                <a:gridCol w="2749371">
                  <a:extLst>
                    <a:ext uri="{9D8B030D-6E8A-4147-A177-3AD203B41FA5}">
                      <a16:colId xmlns:a16="http://schemas.microsoft.com/office/drawing/2014/main" val="4277210998"/>
                    </a:ext>
                  </a:extLst>
                </a:gridCol>
                <a:gridCol w="2749371">
                  <a:extLst>
                    <a:ext uri="{9D8B030D-6E8A-4147-A177-3AD203B41FA5}">
                      <a16:colId xmlns:a16="http://schemas.microsoft.com/office/drawing/2014/main" val="3835461435"/>
                    </a:ext>
                  </a:extLst>
                </a:gridCol>
              </a:tblGrid>
              <a:tr h="339680">
                <a:tc>
                  <a:txBody>
                    <a:bodyPr/>
                    <a:lstStyle/>
                    <a:p>
                      <a:r>
                        <a:rPr lang="en-US" dirty="0" err="1"/>
                        <a:t>Release_Year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Popularity_Ranking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Movie_Name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Release_Year_And_Month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191914"/>
                  </a:ext>
                </a:extLst>
              </a:tr>
              <a:tr h="339680">
                <a:tc>
                  <a:txBody>
                    <a:bodyPr/>
                    <a:lstStyle/>
                    <a:p>
                      <a:r>
                        <a:rPr lang="en-US"/>
                        <a:t>2008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 Dark Knight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2008-07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451845"/>
                  </a:ext>
                </a:extLst>
              </a:tr>
              <a:tr h="339680">
                <a:tc>
                  <a:txBody>
                    <a:bodyPr/>
                    <a:lstStyle/>
                    <a:p>
                      <a:r>
                        <a:rPr lang="en-US"/>
                        <a:t>2008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Indiana Jones…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2008-05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58295"/>
                  </a:ext>
                </a:extLst>
              </a:tr>
              <a:tr h="339680">
                <a:tc>
                  <a:txBody>
                    <a:bodyPr/>
                    <a:lstStyle/>
                    <a:p>
                      <a:r>
                        <a:rPr lang="en-US"/>
                        <a:t>2008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Kung Fu Panda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2008-06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57023"/>
                  </a:ext>
                </a:extLst>
              </a:tr>
              <a:tr h="339680">
                <a:tc>
                  <a:txBody>
                    <a:bodyPr/>
                    <a:lstStyle/>
                    <a:p>
                      <a:r>
                        <a:rPr lang="en-US"/>
                        <a:t>2009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Avatar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2009-12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395700"/>
                  </a:ext>
                </a:extLst>
              </a:tr>
              <a:tr h="339680">
                <a:tc>
                  <a:txBody>
                    <a:bodyPr/>
                    <a:lstStyle/>
                    <a:p>
                      <a:r>
                        <a:rPr lang="en-US"/>
                        <a:t>2009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Harry Potter…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2009-07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458544"/>
                  </a:ext>
                </a:extLst>
              </a:tr>
              <a:tr h="339680">
                <a:tc>
                  <a:txBody>
                    <a:bodyPr/>
                    <a:lstStyle/>
                    <a:p>
                      <a:r>
                        <a:rPr lang="en-US"/>
                        <a:t>2009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Ice 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2009-07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525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09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3297</Words>
  <Application>Microsoft Office PowerPoint</Application>
  <PresentationFormat>Widescreen</PresentationFormat>
  <Paragraphs>887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Office Theme</vt:lpstr>
      <vt:lpstr>Unit-3: Normalization</vt:lpstr>
      <vt:lpstr>Contents</vt:lpstr>
      <vt:lpstr>Normalization in Relational Database Design</vt:lpstr>
      <vt:lpstr>Normalization in Relational Database Design</vt:lpstr>
      <vt:lpstr>Normalization in Relational Database Design</vt:lpstr>
      <vt:lpstr>Anomalies in the Relational Model</vt:lpstr>
      <vt:lpstr>Insertion Anomalies</vt:lpstr>
      <vt:lpstr>Deletion Anomalies</vt:lpstr>
      <vt:lpstr>Modification Anomalies (Update Anomalies)</vt:lpstr>
      <vt:lpstr>Anomalies Summary</vt:lpstr>
      <vt:lpstr>Domain, Attributes, Tuples and Relations</vt:lpstr>
      <vt:lpstr>Relation Schema</vt:lpstr>
      <vt:lpstr>Attributes, Tuples and Relation</vt:lpstr>
      <vt:lpstr>Constraints in DBMS</vt:lpstr>
      <vt:lpstr>Domain Constraint</vt:lpstr>
      <vt:lpstr>Key Constraint</vt:lpstr>
      <vt:lpstr>Entity Integrity Constraints </vt:lpstr>
      <vt:lpstr>Referential Integrity Constraints</vt:lpstr>
      <vt:lpstr>Keys in Relational Model</vt:lpstr>
      <vt:lpstr>Super Key</vt:lpstr>
      <vt:lpstr>Candidate Key</vt:lpstr>
      <vt:lpstr>Primary Key</vt:lpstr>
      <vt:lpstr>Alternate Key</vt:lpstr>
      <vt:lpstr>Composite Key</vt:lpstr>
      <vt:lpstr>Foreign Key</vt:lpstr>
      <vt:lpstr>Unique Key</vt:lpstr>
      <vt:lpstr>Summary</vt:lpstr>
      <vt:lpstr>Normal Forms</vt:lpstr>
      <vt:lpstr>First Normal Form</vt:lpstr>
      <vt:lpstr>Functional Dependency</vt:lpstr>
      <vt:lpstr>Example: Checking Functional Dependency</vt:lpstr>
      <vt:lpstr>Class Exercise</vt:lpstr>
      <vt:lpstr>Types of Functional Dependency</vt:lpstr>
      <vt:lpstr>Armstrong’s Axioms</vt:lpstr>
      <vt:lpstr>Closures</vt:lpstr>
      <vt:lpstr>Closures</vt:lpstr>
      <vt:lpstr>Canonical Cover</vt:lpstr>
      <vt:lpstr>Second Normal Form (2NF) </vt:lpstr>
      <vt:lpstr>Example</vt:lpstr>
      <vt:lpstr>Example</vt:lpstr>
      <vt:lpstr>Decompose to 2NF</vt:lpstr>
      <vt:lpstr>Example Rows After Decomposition</vt:lpstr>
      <vt:lpstr>Class Exrecise</vt:lpstr>
      <vt:lpstr>Third Normal Form(3NF)</vt:lpstr>
      <vt:lpstr>Example</vt:lpstr>
      <vt:lpstr>Example </vt:lpstr>
      <vt:lpstr>Exercise</vt:lpstr>
      <vt:lpstr>BCNF</vt:lpstr>
      <vt:lpstr>Example</vt:lpstr>
      <vt:lpstr>BCNF Decomposition</vt:lpstr>
      <vt:lpstr>Example</vt:lpstr>
      <vt:lpstr>Example Decomposition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Unit-3: Normalization</dc:title>
  <dc:creator>dipesh poudel</dc:creator>
  <cp:lastModifiedBy>dipesh poudel</cp:lastModifiedBy>
  <cp:revision>86</cp:revision>
  <dcterms:created xsi:type="dcterms:W3CDTF">2025-11-16T23:04:01Z</dcterms:created>
  <dcterms:modified xsi:type="dcterms:W3CDTF">2025-11-27T00:03:48Z</dcterms:modified>
</cp:coreProperties>
</file>