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89"/>
  </p:normalViewPr>
  <p:slideViewPr>
    <p:cSldViewPr snapToGrid="0">
      <p:cViewPr varScale="1">
        <p:scale>
          <a:sx n="147" d="100"/>
          <a:sy n="147" d="100"/>
        </p:scale>
        <p:origin x="10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C183-01E4-CA5E-5830-0C46DB05A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131B7-B661-231F-6A57-47CA9E9BE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57DAD-2B2D-6AE0-D2E0-0A631D6C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CD75-81D6-0340-9D03-8074D97AE273}" type="datetimeFigureOut">
              <a:rPr lang="en-NP" smtClean="0"/>
              <a:t>07/09/2025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12473-5A81-6473-C235-A45337A5D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702F4-B216-141E-CC19-0E17B8ADD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7229-F834-DA4F-8CB9-03FADC67F24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502405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4E2B2-86CF-6DB9-F768-BFCD2B970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387EE-A247-EAD7-8DFC-C905AAC8B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0D4AB-493C-60CA-C54C-BB6AB15EA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CD75-81D6-0340-9D03-8074D97AE273}" type="datetimeFigureOut">
              <a:rPr lang="en-NP" smtClean="0"/>
              <a:t>07/09/2025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F9CA6-2859-5208-73F8-6ABCFDB92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3EEF3-E71F-6FCF-6770-4576B712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7229-F834-DA4F-8CB9-03FADC67F24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954303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BF12-0A7B-8B26-B3EE-26D899A57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D8176-A61A-14F1-58DE-03B860E2F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A0137-3940-DDBF-8542-B7564266F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CD75-81D6-0340-9D03-8074D97AE273}" type="datetimeFigureOut">
              <a:rPr lang="en-NP" smtClean="0"/>
              <a:t>07/09/2025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4474-672C-D9A6-AF93-339096C0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6EA85-7E3F-A5D7-9F92-434B0BAF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7229-F834-DA4F-8CB9-03FADC67F24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56396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A9C3D-8B17-08D4-149B-212CB858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1A64D-C4F1-F836-A2DA-67073877F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EDE08-A187-364F-1800-3349F7828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D23E2-BF89-9372-9F0C-0BCEA73C2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CD75-81D6-0340-9D03-8074D97AE273}" type="datetimeFigureOut">
              <a:rPr lang="en-NP" smtClean="0"/>
              <a:t>07/09/2025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04F95-E347-AA4F-3FD2-AC973AED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67E27-D560-952D-55AE-2F600A86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7229-F834-DA4F-8CB9-03FADC67F24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438853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0420E-B484-4043-ED18-7C6467087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F8C1-28F0-6FAA-9019-EE423F1A0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9FC64-734B-0A77-783F-22F388B9F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32DAF0-016E-C50D-B713-02CB524CA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942263-1145-3FA6-8E7C-03E795E24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2179A7-986B-76D9-1B9D-790A763AF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CD75-81D6-0340-9D03-8074D97AE273}" type="datetimeFigureOut">
              <a:rPr lang="en-NP" smtClean="0"/>
              <a:t>07/09/2025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56BE4A-AEC3-7F4E-CEA1-EFFF40667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C84A30-E203-23C4-D17A-95C617AC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7229-F834-DA4F-8CB9-03FADC67F24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676251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60490-A07E-DAE5-BA97-B8C2DDD2C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385BCD-9CB4-AB18-A6CD-2D7DCC0F9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CD75-81D6-0340-9D03-8074D97AE273}" type="datetimeFigureOut">
              <a:rPr lang="en-NP" smtClean="0"/>
              <a:t>07/09/2025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06575-80BA-5276-42E4-025E1809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1BA64-6160-0753-6C61-6BFEE30B4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7229-F834-DA4F-8CB9-03FADC67F24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53605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A4BD3-D23E-F627-0033-57B0E3236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CD75-81D6-0340-9D03-8074D97AE273}" type="datetimeFigureOut">
              <a:rPr lang="en-NP" smtClean="0"/>
              <a:t>07/09/2025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28B8A4-DF61-F497-6B5B-D7B85B9E3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3C095-97AB-C795-9D87-74E779039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7229-F834-DA4F-8CB9-03FADC67F24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031638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2061-D90F-ED61-5FD3-31EDBD781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671C6-62A4-EB6A-D217-7ACD97331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3291F-07E1-53A2-CCF3-F24617725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84A7E-6CEC-BC2F-CDCE-6D6992B6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CD75-81D6-0340-9D03-8074D97AE273}" type="datetimeFigureOut">
              <a:rPr lang="en-NP" smtClean="0"/>
              <a:t>07/09/2025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42B64-A763-5354-07D7-DB27B9E9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99934-35E7-8071-D0AD-F07828DF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7229-F834-DA4F-8CB9-03FADC67F24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768627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4E337-14E8-E68E-148D-4FF1622F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7DFF8-0D70-9187-2CC6-296823F835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1798A-1E26-6C83-1AC3-FE53B47AE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A432E-4CA9-B8B5-531A-1609668BB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CD75-81D6-0340-9D03-8074D97AE273}" type="datetimeFigureOut">
              <a:rPr lang="en-NP" smtClean="0"/>
              <a:t>07/09/2025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D3E20-2770-1650-3B70-997F3130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AB543-C208-53C4-562B-97DD6EF0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7229-F834-DA4F-8CB9-03FADC67F24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85604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6DB8-50F7-23B2-2248-ACFAA2CE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9ACC9D-9466-0D43-C7B0-0F8E953BE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56897-CAB1-5F5A-09E1-11BCC609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CD75-81D6-0340-9D03-8074D97AE273}" type="datetimeFigureOut">
              <a:rPr lang="en-NP" smtClean="0"/>
              <a:t>07/09/2025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F587B-AB40-13DB-6E05-AA82D9F83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37B9-1B19-6019-E2EA-4E762B28D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7229-F834-DA4F-8CB9-03FADC67F24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73037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F8CB6E-3925-20AD-9F98-C29269E951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97D1A-CAAE-10EC-7549-C56D80D2C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0BAF2-48A8-929C-9C7D-8B3825BDF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ACD75-81D6-0340-9D03-8074D97AE273}" type="datetimeFigureOut">
              <a:rPr lang="en-NP" smtClean="0"/>
              <a:t>07/09/2025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96E5-DCE8-49B8-5980-9D393CE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70B42-C153-5FB3-CECC-5EFBCD64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57229-F834-DA4F-8CB9-03FADC67F24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51431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324DA-F6B2-C45B-9078-8C9FF41AC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E1459-C773-EBB9-C33E-09E1AF5D7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D1EA2-DC81-D5FF-0A27-D898C0A81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ACD75-81D6-0340-9D03-8074D97AE273}" type="datetimeFigureOut">
              <a:rPr lang="en-NP" smtClean="0"/>
              <a:t>07/09/2025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0815D-8C8B-03F3-796B-94620566F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B2A3D-F0EA-BBB0-E1FA-97119647B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57229-F834-DA4F-8CB9-03FADC67F240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116645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BA75E-41F2-E34D-EF81-DEF8225A2F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P" dirty="0"/>
              <a:t>Requirement Elicitation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7564F-191D-775B-4D75-02E585D712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P" dirty="0"/>
              <a:t>Requirement gathering</a:t>
            </a:r>
          </a:p>
        </p:txBody>
      </p:sp>
    </p:spTree>
    <p:extLst>
      <p:ext uri="{BB962C8B-B14F-4D97-AF65-F5344CB8AC3E}">
        <p14:creationId xmlns:p14="http://schemas.microsoft.com/office/powerpoint/2010/main" val="2034538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6624-5304-1EEF-603A-7D0FA2DA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201"/>
          </a:xfrm>
        </p:spPr>
        <p:txBody>
          <a:bodyPr>
            <a:normAutofit/>
          </a:bodyPr>
          <a:lstStyle/>
          <a:p>
            <a:r>
              <a:rPr lang="en-US" b="1" dirty="0"/>
              <a:t>2.1.1 Requirement Fundamentals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A3294-CEB4-75A0-94D0-AF15A8729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5326"/>
            <a:ext cx="10515600" cy="511193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What is a Requirement?</a:t>
            </a:r>
            <a:endParaRPr lang="en-US" dirty="0"/>
          </a:p>
          <a:p>
            <a:pPr lvl="1"/>
            <a:r>
              <a:rPr lang="en-US" dirty="0"/>
              <a:t>A condition or capability needed by a user to solve a problem or achieve an objective.</a:t>
            </a:r>
          </a:p>
          <a:p>
            <a:pPr lvl="1"/>
            <a:r>
              <a:rPr lang="en-US" b="1" dirty="0"/>
              <a:t>Business Requirement:</a:t>
            </a:r>
            <a:r>
              <a:rPr lang="en-US" dirty="0"/>
              <a:t> High-level goal of the organization (e.g., "Increase online sales by 20%").</a:t>
            </a:r>
          </a:p>
          <a:p>
            <a:pPr lvl="1"/>
            <a:r>
              <a:rPr lang="en-US" b="1" dirty="0"/>
              <a:t>User Requirement:</a:t>
            </a:r>
            <a:r>
              <a:rPr lang="en-US" dirty="0"/>
              <a:t> Goal a user must be able to achieve (e.g., "As a customer, I want to filter products by size so that I can find clothes that fit me.").</a:t>
            </a:r>
          </a:p>
          <a:p>
            <a:pPr lvl="1"/>
            <a:r>
              <a:rPr lang="en-US" b="1" dirty="0"/>
              <a:t>Functional Requirement:</a:t>
            </a:r>
            <a:r>
              <a:rPr lang="en-US" dirty="0"/>
              <a:t> A specific behavior or function of the system (e.g., "The system shall calculate tax based on the user's shipping address.").</a:t>
            </a:r>
          </a:p>
          <a:p>
            <a:pPr lvl="1"/>
            <a:r>
              <a:rPr lang="en-US" b="1" dirty="0"/>
              <a:t>Non-Functional Requirement:</a:t>
            </a:r>
            <a:r>
              <a:rPr lang="en-US" dirty="0"/>
              <a:t> A quality constraint or standard (e.g., "The website must load in under 2 seconds.").</a:t>
            </a:r>
          </a:p>
          <a:p>
            <a:r>
              <a:rPr lang="en-US" b="1" dirty="0"/>
              <a:t>Why are they important?</a:t>
            </a:r>
            <a:endParaRPr lang="en-US" dirty="0"/>
          </a:p>
          <a:p>
            <a:pPr lvl="1"/>
            <a:r>
              <a:rPr lang="en-US" dirty="0"/>
              <a:t>Reduce project risk and cost of changes.</a:t>
            </a:r>
          </a:p>
          <a:p>
            <a:pPr lvl="1"/>
            <a:r>
              <a:rPr lang="en-US" dirty="0"/>
              <a:t>Form a contract between stakeholders and the development team.</a:t>
            </a:r>
          </a:p>
          <a:p>
            <a:pPr lvl="1"/>
            <a:r>
              <a:rPr lang="en-US" dirty="0"/>
              <a:t>Provide a clear basis for planning, estimation, and testing.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630236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73D4F-39FF-67C8-ED45-AF3663BC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4704"/>
          </a:xfrm>
        </p:spPr>
        <p:txBody>
          <a:bodyPr/>
          <a:lstStyle/>
          <a:p>
            <a:r>
              <a:rPr lang="en-US" b="1" dirty="0"/>
              <a:t>2.1.2 Requirement Elicitation Techniques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6D984-E0FF-DD02-E701-51F3B51BD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830"/>
            <a:ext cx="10515600" cy="5277393"/>
          </a:xfrm>
        </p:spPr>
        <p:txBody>
          <a:bodyPr>
            <a:normAutofit/>
          </a:bodyPr>
          <a:lstStyle/>
          <a:p>
            <a:r>
              <a:rPr lang="en-US" b="1" dirty="0"/>
              <a:t>Discovering the True Needs</a:t>
            </a:r>
            <a:endParaRPr lang="en-US" dirty="0"/>
          </a:p>
          <a:p>
            <a:pPr lvl="1"/>
            <a:r>
              <a:rPr lang="en-US" dirty="0"/>
              <a:t>The process of researching and discovering the requirements of a system from users, customers, and other stakeholders.</a:t>
            </a:r>
          </a:p>
          <a:p>
            <a:r>
              <a:rPr lang="en-US" b="1" dirty="0"/>
              <a:t>Common Techniques:</a:t>
            </a:r>
            <a:endParaRPr lang="en-US" dirty="0"/>
          </a:p>
          <a:p>
            <a:pPr lvl="1"/>
            <a:r>
              <a:rPr lang="en-US" b="1" dirty="0"/>
              <a:t>Interviews:</a:t>
            </a:r>
            <a:r>
              <a:rPr lang="en-US" dirty="0"/>
              <a:t> One-on-one sessions to gather detailed, qualitative information.</a:t>
            </a:r>
          </a:p>
          <a:p>
            <a:pPr lvl="1"/>
            <a:r>
              <a:rPr lang="en-US" b="1" dirty="0"/>
              <a:t>Workshops:</a:t>
            </a:r>
            <a:r>
              <a:rPr lang="en-US" dirty="0"/>
              <a:t> Facilitated group sessions (e.g., JAD sessions) to build consensus and generate ideas.</a:t>
            </a:r>
          </a:p>
          <a:p>
            <a:pPr lvl="1"/>
            <a:r>
              <a:rPr lang="en-US" b="1" dirty="0"/>
              <a:t>Surveys &amp; Questionnaires:</a:t>
            </a:r>
            <a:r>
              <a:rPr lang="en-US" dirty="0"/>
              <a:t> Gather quantitative data from a large group of stakeholders quickly.</a:t>
            </a:r>
          </a:p>
          <a:p>
            <a:pPr lvl="1"/>
            <a:r>
              <a:rPr lang="en-US" b="1" dirty="0"/>
              <a:t>Observation:</a:t>
            </a:r>
            <a:r>
              <a:rPr lang="en-US" dirty="0"/>
              <a:t> Watching users perform their jobs in their natural environment to understand context and unstated needs.</a:t>
            </a:r>
          </a:p>
        </p:txBody>
      </p:sp>
    </p:spTree>
    <p:extLst>
      <p:ext uri="{BB962C8B-B14F-4D97-AF65-F5344CB8AC3E}">
        <p14:creationId xmlns:p14="http://schemas.microsoft.com/office/powerpoint/2010/main" val="3652398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076DD-0806-9D6F-D427-239AF3643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2.1.3 Requirement Analysis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67F98-B0E0-2C15-B6BF-078DFE980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206"/>
            <a:ext cx="10515600" cy="526868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Making Sense of the Information</a:t>
            </a:r>
            <a:endParaRPr lang="en-US" dirty="0"/>
          </a:p>
          <a:p>
            <a:pPr lvl="1"/>
            <a:r>
              <a:rPr lang="en-US" dirty="0"/>
              <a:t>The process of organizing, prioritizing, and ensuring the feasibility of elicited requirements.</a:t>
            </a:r>
          </a:p>
          <a:p>
            <a:r>
              <a:rPr lang="en-US" b="1" dirty="0"/>
              <a:t>Key Activities:</a:t>
            </a:r>
            <a:endParaRPr lang="en-US" dirty="0"/>
          </a:p>
          <a:p>
            <a:pPr lvl="1"/>
            <a:r>
              <a:rPr lang="en-US" b="1" dirty="0"/>
              <a:t>Prioritization:</a:t>
            </a:r>
            <a:r>
              <a:rPr lang="en-US" dirty="0"/>
              <a:t> Classifying requirements (e.g., </a:t>
            </a:r>
            <a:r>
              <a:rPr lang="en-US" dirty="0" err="1"/>
              <a:t>MoSCoW</a:t>
            </a:r>
            <a:r>
              <a:rPr lang="en-US" dirty="0"/>
              <a:t>: </a:t>
            </a:r>
            <a:r>
              <a:rPr lang="en-US" b="1" dirty="0"/>
              <a:t>M</a:t>
            </a:r>
            <a:r>
              <a:rPr lang="en-US" dirty="0"/>
              <a:t>ust have, </a:t>
            </a:r>
            <a:r>
              <a:rPr lang="en-US" b="1" dirty="0"/>
              <a:t>S</a:t>
            </a:r>
            <a:r>
              <a:rPr lang="en-US" dirty="0"/>
              <a:t>hould have, </a:t>
            </a:r>
            <a:r>
              <a:rPr lang="en-US" b="1" dirty="0"/>
              <a:t>C</a:t>
            </a:r>
            <a:r>
              <a:rPr lang="en-US" dirty="0"/>
              <a:t>ould have, </a:t>
            </a:r>
            <a:r>
              <a:rPr lang="en-US" b="1" dirty="0"/>
              <a:t>W</a:t>
            </a:r>
            <a:r>
              <a:rPr lang="en-US" dirty="0"/>
              <a:t>on't have).</a:t>
            </a:r>
          </a:p>
          <a:p>
            <a:pPr lvl="1"/>
            <a:r>
              <a:rPr lang="en-US" b="1" dirty="0"/>
              <a:t>Clarification &amp; Refinement:</a:t>
            </a:r>
            <a:r>
              <a:rPr lang="en-US" dirty="0"/>
              <a:t> Removing ambiguity and ensuring requirements are clear and concise.</a:t>
            </a:r>
          </a:p>
          <a:p>
            <a:pPr lvl="1"/>
            <a:r>
              <a:rPr lang="en-US" b="1" dirty="0"/>
              <a:t>Feasibility Study:</a:t>
            </a:r>
            <a:r>
              <a:rPr lang="en-US" dirty="0"/>
              <a:t> Assessing if requirements are technically and financially viable.</a:t>
            </a:r>
          </a:p>
          <a:p>
            <a:pPr lvl="1"/>
            <a:r>
              <a:rPr lang="en-US" b="1" dirty="0"/>
              <a:t>Modeling:</a:t>
            </a:r>
            <a:r>
              <a:rPr lang="en-US" dirty="0"/>
              <a:t> Creating visual models (e.g., process flows, data models, user stories) to represent requirements.</a:t>
            </a:r>
          </a:p>
          <a:p>
            <a:pPr lvl="1"/>
            <a:r>
              <a:rPr lang="en-US" b="1" dirty="0"/>
              <a:t>Conflict Resolution:</a:t>
            </a:r>
            <a:r>
              <a:rPr lang="en-US" dirty="0"/>
              <a:t> Identifying and resolving conflicting requirements from different stakeholders.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962033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8BF6D-D97E-8123-63A7-0ED758E2D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2.1.4 Requirement Specification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8CA8C-1850-E026-A6A6-78FDB1E24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Documenting the Agreement</a:t>
            </a:r>
            <a:endParaRPr lang="en-US" dirty="0"/>
          </a:p>
          <a:p>
            <a:pPr lvl="1"/>
            <a:r>
              <a:rPr lang="en-US" dirty="0"/>
              <a:t>The process of formally documenting the requirements in a clear, consistent, and verifiable manner.</a:t>
            </a:r>
          </a:p>
          <a:p>
            <a:r>
              <a:rPr lang="en-US" b="1" dirty="0"/>
              <a:t>Common Outputs:</a:t>
            </a:r>
            <a:endParaRPr lang="en-US" dirty="0"/>
          </a:p>
          <a:p>
            <a:pPr lvl="1"/>
            <a:r>
              <a:rPr lang="en-US" b="1" dirty="0"/>
              <a:t>Software Requirements Specification (SRS):</a:t>
            </a:r>
            <a:r>
              <a:rPr lang="en-US" dirty="0"/>
              <a:t> A comprehensive description of the system's functions, performance, and constraints.</a:t>
            </a:r>
          </a:p>
          <a:p>
            <a:pPr lvl="1"/>
            <a:r>
              <a:rPr lang="en-US" b="1" dirty="0"/>
              <a:t>User Stories:</a:t>
            </a:r>
            <a:r>
              <a:rPr lang="en-US" dirty="0"/>
              <a:t> Short, simple descriptions of a feature told from the user's perspective (common in Agile).</a:t>
            </a:r>
          </a:p>
          <a:p>
            <a:pPr lvl="2"/>
            <a:r>
              <a:rPr lang="en-US" b="1" dirty="0"/>
              <a:t>Format:</a:t>
            </a:r>
            <a:r>
              <a:rPr lang="en-US" dirty="0"/>
              <a:t> "As a [type of user], I want [some goal] so that [some reason]."</a:t>
            </a:r>
          </a:p>
          <a:p>
            <a:r>
              <a:rPr lang="en-US" b="1" dirty="0"/>
              <a:t>Use Case Specifications:</a:t>
            </a:r>
            <a:r>
              <a:rPr lang="en-US" dirty="0"/>
              <a:t> Detailed descriptions of the steps for each user-system interaction.</a:t>
            </a:r>
          </a:p>
          <a:p>
            <a:r>
              <a:rPr lang="en-US" b="1" dirty="0"/>
              <a:t>Qualities of a Good Requirement:</a:t>
            </a:r>
            <a:br>
              <a:rPr lang="en-US" dirty="0"/>
            </a:br>
            <a:r>
              <a:rPr lang="en-US" b="1" dirty="0"/>
              <a:t>SMART</a:t>
            </a:r>
            <a:r>
              <a:rPr lang="en-US" dirty="0"/>
              <a:t> - </a:t>
            </a:r>
            <a:r>
              <a:rPr lang="en-US" b="1" dirty="0"/>
              <a:t>S</a:t>
            </a:r>
            <a:r>
              <a:rPr lang="en-US" dirty="0"/>
              <a:t>pecific, </a:t>
            </a:r>
            <a:r>
              <a:rPr lang="en-US" b="1" dirty="0"/>
              <a:t>M</a:t>
            </a:r>
            <a:r>
              <a:rPr lang="en-US" dirty="0"/>
              <a:t>easurable, </a:t>
            </a:r>
            <a:r>
              <a:rPr lang="en-US" b="1" dirty="0"/>
              <a:t>A</a:t>
            </a:r>
            <a:r>
              <a:rPr lang="en-US" dirty="0"/>
              <a:t>chievable, </a:t>
            </a:r>
            <a:r>
              <a:rPr lang="en-US" b="1" dirty="0"/>
              <a:t>R</a:t>
            </a:r>
            <a:r>
              <a:rPr lang="en-US" dirty="0"/>
              <a:t>elevant, </a:t>
            </a:r>
            <a:r>
              <a:rPr lang="en-US" b="1" dirty="0"/>
              <a:t>T</a:t>
            </a:r>
            <a:r>
              <a:rPr lang="en-US" dirty="0"/>
              <a:t>raceable.</a:t>
            </a:r>
          </a:p>
          <a:p>
            <a:pPr marL="0" indent="0">
              <a:buNone/>
            </a:pP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97934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DF168-D36D-BB39-B030-DA7AD5210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2.1.5 Requirement Validation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5A07A-BECD-BD4D-16A9-792EA1797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Did We Build the Right Thing?</a:t>
            </a:r>
            <a:endParaRPr lang="en-US" dirty="0"/>
          </a:p>
          <a:p>
            <a:pPr lvl="1"/>
            <a:r>
              <a:rPr lang="en-US" dirty="0"/>
              <a:t>The process of ensuring the requirements define the system the customer actually wants.</a:t>
            </a:r>
          </a:p>
          <a:p>
            <a:r>
              <a:rPr lang="en-US" b="1" dirty="0"/>
              <a:t>Key Validation Techniques:</a:t>
            </a:r>
            <a:endParaRPr lang="en-US" dirty="0"/>
          </a:p>
          <a:p>
            <a:pPr lvl="1"/>
            <a:r>
              <a:rPr lang="en-US" b="1" dirty="0"/>
              <a:t>Reviews &amp; Walkthroughs:</a:t>
            </a:r>
            <a:r>
              <a:rPr lang="en-US" dirty="0"/>
              <a:t> Formal meetings where stakeholders inspect the requirements document.</a:t>
            </a:r>
          </a:p>
          <a:p>
            <a:pPr lvl="1"/>
            <a:r>
              <a:rPr lang="en-US" b="1" dirty="0"/>
              <a:t>Prototyping:</a:t>
            </a:r>
            <a:r>
              <a:rPr lang="en-US" dirty="0"/>
              <a:t> Using a tangible model to get stakeholder sign-off before development.</a:t>
            </a:r>
          </a:p>
          <a:p>
            <a:pPr lvl="1"/>
            <a:r>
              <a:rPr lang="en-US" b="1" dirty="0"/>
              <a:t>Test Case Development:</a:t>
            </a:r>
            <a:r>
              <a:rPr lang="en-US" dirty="0"/>
              <a:t> Writing acceptance tests based on requirements. If you can't test it, it's not a good requirement.</a:t>
            </a:r>
          </a:p>
          <a:p>
            <a:pPr lvl="1"/>
            <a:r>
              <a:rPr lang="en-US" b="1" dirty="0"/>
              <a:t>Sign-Off:</a:t>
            </a:r>
            <a:r>
              <a:rPr lang="en-US" dirty="0"/>
              <a:t> Obtaining formal agreement from stakeholders that the documented requirements are correct and complete.</a:t>
            </a:r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r>
              <a:rPr lang="en-US" b="1" dirty="0"/>
              <a:t>Goal:</a:t>
            </a:r>
            <a:r>
              <a:rPr lang="en-US" dirty="0"/>
              <a:t> To catch errors and misunderstandings </a:t>
            </a:r>
            <a:r>
              <a:rPr lang="en-US" b="1" dirty="0"/>
              <a:t>early</a:t>
            </a:r>
            <a:r>
              <a:rPr lang="en-US" dirty="0"/>
              <a:t>, before they become expensive to fix in code.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244318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C702-B2EC-4A9D-2742-00C78BE2B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Summary: The Requirement Engineering Lifecycle</a:t>
            </a:r>
            <a:br>
              <a:rPr lang="en-US" dirty="0"/>
            </a:b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003FE-F7FD-01E5-7BEF-19BB1ECF6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497"/>
            <a:ext cx="10515600" cy="478100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4000" b="1" dirty="0"/>
              <a:t>Elicit:</a:t>
            </a:r>
            <a:r>
              <a:rPr lang="en-US" sz="4000" dirty="0"/>
              <a:t> Discover needs through interviews, workshops, etc.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b="1" dirty="0"/>
              <a:t>Analyze:</a:t>
            </a:r>
            <a:r>
              <a:rPr lang="en-US" sz="4000" dirty="0"/>
              <a:t> Prioritize, clarify, and model the requirements.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b="1" dirty="0"/>
              <a:t>Specify:</a:t>
            </a:r>
            <a:r>
              <a:rPr lang="en-US" sz="4000" dirty="0"/>
              <a:t> Document them clearly in an SRS or user stories.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b="1" dirty="0"/>
              <a:t>Validate:</a:t>
            </a:r>
            <a:r>
              <a:rPr lang="en-US" sz="4000" dirty="0"/>
              <a:t> Review and get sign-off to ensure accuracy.</a:t>
            </a:r>
          </a:p>
        </p:txBody>
      </p:sp>
    </p:spTree>
    <p:extLst>
      <p:ext uri="{BB962C8B-B14F-4D97-AF65-F5344CB8AC3E}">
        <p14:creationId xmlns:p14="http://schemas.microsoft.com/office/powerpoint/2010/main" val="3852334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661</Words>
  <Application>Microsoft Macintosh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Requirement Elicitation</vt:lpstr>
      <vt:lpstr>2.1.1 Requirement Fundamentals</vt:lpstr>
      <vt:lpstr>2.1.2 Requirement Elicitation Techniques</vt:lpstr>
      <vt:lpstr>2.1.3 Requirement Analysis</vt:lpstr>
      <vt:lpstr>2.1.4 Requirement Specification</vt:lpstr>
      <vt:lpstr>2.1.5 Requirement Validation</vt:lpstr>
      <vt:lpstr>Summary: The Requirement Engineering Lifecycle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 Gautam</dc:creator>
  <cp:lastModifiedBy>Ram  Gautam</cp:lastModifiedBy>
  <cp:revision>6</cp:revision>
  <dcterms:created xsi:type="dcterms:W3CDTF">2025-09-07T13:21:34Z</dcterms:created>
  <dcterms:modified xsi:type="dcterms:W3CDTF">2025-09-07T13:38:50Z</dcterms:modified>
</cp:coreProperties>
</file>