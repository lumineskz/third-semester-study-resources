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7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5" r:id="rId20"/>
    <p:sldId id="272" r:id="rId21"/>
    <p:sldId id="276" r:id="rId22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52"/>
    <p:restoredTop sz="94760"/>
  </p:normalViewPr>
  <p:slideViewPr>
    <p:cSldViewPr snapToGrid="0">
      <p:cViewPr varScale="1">
        <p:scale>
          <a:sx n="134" d="100"/>
          <a:sy n="134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3D6C1-6BDF-49E2-F320-189307B39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2AE2C-D901-8821-5B6C-D320CA065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AC00-1127-7C2A-4719-D1CA790C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98516-80D6-24A1-22AD-433D9D05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16DB2-902A-4C0A-397F-F2DA4571B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29316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AFA8-ED39-BE27-AC82-A6D2282E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DAF1-9704-7C83-E0D0-2B488F517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73B11-D972-4F43-944F-4FA4BFAD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5EC72-0279-40A5-E51B-13F73545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A23BD-8ACD-42DA-4E47-24E95F56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25315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7F945-B62D-AB6F-6A68-8E3C073D8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CF64A-06F4-558E-126A-E7C754AA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13C1F-87A5-EF8E-C728-A8E59C4A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F9CD2-3645-787F-1DE6-A8FECD2A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9C484-D289-F619-1E80-1D764BA6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09607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94175-907F-3B2E-0379-3F3B6F8DC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461A-C077-0334-382D-D04EA0F27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68E34-2FA0-7C33-83B2-32846381D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F9035-D512-7517-83C6-A6A6A90A4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2FC52-2F1A-6FF2-7598-C2A52C66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E0F1-5676-B717-1B07-EE065C89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5330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6E6D-7F15-8708-A70A-B005DBEC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2795D-BCB4-2774-7AA5-6AB0CE06A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131C9-5DD8-97BE-FA53-6CBF58B6E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3AB62-2AE3-D36F-6D09-D9BB207EF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8E712-C6D9-4725-A657-2FC618DF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D629BC-F330-AA34-A350-4A4E4854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E90D2-7C5B-F326-E366-9324743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5EA59-7E89-9AF5-8C4D-15F4AAA9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2642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B20B-0A7B-3E41-2AF3-D9C23CF6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A7E31-5333-E901-6517-A7FDA0777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B668D-00C6-3373-0C95-233F6174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41CBE-CDAE-C3BA-E644-5324B4DA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2215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795CC-302C-BCC5-DE5C-0818515D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95845-CB2D-2C76-B2D0-251D28E4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4A1E2-1E3B-9BD6-A072-476C9A66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0748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BDC2-A0EA-540A-26FB-875109F2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A4B01-6337-D6AE-6CA5-328637710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1035D-9A3F-9BDC-6D2E-829275123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13DC3-6FF8-FE38-B5F8-E6B5BCE1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E2DC6-0E94-E991-59BB-130745BC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7B602-A220-DACB-8C44-F32F657E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4427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0E01-5300-789C-D924-DDF118FD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D753B-180F-6A30-AB83-CBBC4DB1A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28323-6B5F-E8DA-540A-670595447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76BA1-A919-B214-4C5A-A3E369A0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BA5D8-64F4-5853-FE13-97A8B813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80C05-8D5E-4CEF-23DA-E5563E6D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0324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EA4B0-31D2-9DC1-3290-25A539AF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14EF9-4280-34D3-6FA5-9A47C7584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0F227-C200-64A8-CE76-FA207489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B3CF1-1267-1DAF-CA85-13DB18F3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97AA5-32C4-481A-E71D-22FC02852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133847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5F5F3-DCCC-B0D5-1AFC-831AC1759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D5EB6-0B96-056F-4531-F7DD962F4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1E983-6D01-6BF4-024C-0DA58E40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57500-3DFC-EACE-5653-29578D5F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3FFE6-ADCC-FB9D-352C-A5F27806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95849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4FB089-3D40-4821-FB22-0DB089A3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AE436-C3C7-CD29-A724-998B67B54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970FD-D90D-C2A5-670B-62F40D18D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0836B-5928-5345-86B7-D18A8E71300D}" type="datetimeFigureOut">
              <a:rPr lang="en-NP" smtClean="0"/>
              <a:t>21/11/2025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44CD-4AD5-9F5D-B4E0-F93C1A662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4657A-5121-46C7-717D-27F18FBBF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6FEC2-ED71-534B-90F1-7A557A7E5F3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78042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B87E-F4DF-C1E6-AD68-4AF1392545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 4: Object-Oriented Modeling Using UML</a:t>
            </a:r>
            <a:br>
              <a:rPr lang="en-US" dirty="0"/>
            </a:br>
            <a:r>
              <a:rPr lang="en-US" dirty="0"/>
              <a:t>Notation</a:t>
            </a:r>
            <a:endParaRPr lang="en-NP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A269D-B351-D2C0-A86E-4D91DA1E64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66246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9CCB-5B60-F125-1106-CBB7351B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4: Object-Oriented Modeling Using UML Notation</a:t>
            </a:r>
            <a:endParaRPr lang="en-NP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BBEA08-92CB-F7A4-1109-331A6B6385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3"/>
            <a:ext cx="770755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 Modeling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 &amp; Communication Diagrams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Reuse and Variability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Actors, Components, and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235103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07468-6B8E-591F-2D50-D973085D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 Elaborating Use Cases and Use Case Diagram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07816-4F43-A8D1-4B2E-85E7A0D4B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Are Use Cases?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457200" lvl="1" indent="0">
              <a:buNone/>
            </a:pPr>
            <a:r>
              <a:rPr lang="en-US" dirty="0"/>
              <a:t>A </a:t>
            </a:r>
            <a:r>
              <a:rPr lang="en-US" b="1" dirty="0"/>
              <a:t>use case</a:t>
            </a:r>
            <a:r>
              <a:rPr lang="en-US" dirty="0"/>
              <a:t> describes </a:t>
            </a:r>
            <a:r>
              <a:rPr lang="en-US" i="1" dirty="0"/>
              <a:t>how actors interact with a system</a:t>
            </a:r>
            <a:r>
              <a:rPr lang="en-US" dirty="0"/>
              <a:t> to achieve a business goal.</a:t>
            </a:r>
          </a:p>
          <a:p>
            <a:r>
              <a:rPr lang="en-US" b="1" dirty="0"/>
              <a:t>Purpose</a:t>
            </a:r>
          </a:p>
          <a:p>
            <a:pPr lvl="1"/>
            <a:r>
              <a:rPr lang="en-US" dirty="0"/>
              <a:t>Capture functional requirements</a:t>
            </a:r>
          </a:p>
          <a:p>
            <a:pPr lvl="1"/>
            <a:r>
              <a:rPr lang="en-US" dirty="0"/>
              <a:t>Describe system behavior from the user perspective</a:t>
            </a:r>
          </a:p>
          <a:p>
            <a:pPr lvl="1"/>
            <a:r>
              <a:rPr lang="en-US" dirty="0"/>
              <a:t>Establish common understanding between business &amp; development teams</a:t>
            </a:r>
          </a:p>
          <a:p>
            <a:r>
              <a:rPr lang="en-US" b="1" dirty="0"/>
              <a:t>Key Elements</a:t>
            </a:r>
          </a:p>
          <a:p>
            <a:pPr lvl="1"/>
            <a:r>
              <a:rPr lang="en-US" dirty="0"/>
              <a:t>Actor</a:t>
            </a:r>
          </a:p>
          <a:p>
            <a:pPr lvl="1"/>
            <a:r>
              <a:rPr lang="en-US" dirty="0"/>
              <a:t>Use case name</a:t>
            </a:r>
          </a:p>
          <a:p>
            <a:pPr lvl="1"/>
            <a:r>
              <a:rPr lang="en-US" dirty="0"/>
              <a:t>Pre-conditions &amp; Post-conditions</a:t>
            </a:r>
          </a:p>
          <a:p>
            <a:pPr lvl="1"/>
            <a:r>
              <a:rPr lang="en-US" dirty="0"/>
              <a:t>Main &amp; alternative flows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42826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D65C-144E-D795-26A5-A7A4D974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62BBF-0B4D-D3BA-C0E4-C4F7E932C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3200" b="1"/>
              <a:t>How to Elaborate a Use Case</a:t>
            </a:r>
          </a:p>
          <a:p>
            <a:pPr lvl="1"/>
            <a:r>
              <a:rPr lang="en-US" sz="3200"/>
              <a:t>Identify </a:t>
            </a:r>
            <a:r>
              <a:rPr lang="en-US" sz="3200" b="1"/>
              <a:t>primary actor</a:t>
            </a:r>
            <a:r>
              <a:rPr lang="en-US" sz="3200"/>
              <a:t> and goal</a:t>
            </a:r>
          </a:p>
          <a:p>
            <a:pPr lvl="1"/>
            <a:r>
              <a:rPr lang="en-US" sz="3200"/>
              <a:t>Describe </a:t>
            </a:r>
            <a:r>
              <a:rPr lang="en-US" sz="3200" b="1"/>
              <a:t>main success scenario</a:t>
            </a:r>
            <a:endParaRPr lang="en-US" sz="3200"/>
          </a:p>
          <a:p>
            <a:pPr lvl="1"/>
            <a:r>
              <a:rPr lang="en-US" sz="3200"/>
              <a:t>List </a:t>
            </a:r>
            <a:r>
              <a:rPr lang="en-US" sz="3200" b="1"/>
              <a:t>extensions / alternate flows</a:t>
            </a:r>
            <a:endParaRPr lang="en-US" sz="3200"/>
          </a:p>
          <a:p>
            <a:pPr lvl="1"/>
            <a:r>
              <a:rPr lang="en-US" sz="3200"/>
              <a:t>Add </a:t>
            </a:r>
            <a:r>
              <a:rPr lang="en-US" sz="3200" b="1"/>
              <a:t>business rules</a:t>
            </a:r>
            <a:r>
              <a:rPr lang="en-US" sz="3200"/>
              <a:t> and constraints</a:t>
            </a:r>
          </a:p>
          <a:p>
            <a:pPr lvl="1"/>
            <a:r>
              <a:rPr lang="en-US" sz="3200"/>
              <a:t>Specify </a:t>
            </a:r>
            <a:r>
              <a:rPr lang="en-US" sz="3200" b="1"/>
              <a:t>triggers</a:t>
            </a:r>
            <a:r>
              <a:rPr lang="en-US" sz="3200"/>
              <a:t>, </a:t>
            </a:r>
            <a:r>
              <a:rPr lang="en-US" sz="3200" b="1"/>
              <a:t>preconditions</a:t>
            </a:r>
            <a:r>
              <a:rPr lang="en-US" sz="3200"/>
              <a:t>, and </a:t>
            </a:r>
            <a:r>
              <a:rPr lang="en-US" sz="3200" b="1"/>
              <a:t>postconditions</a:t>
            </a:r>
            <a:endParaRPr lang="en-US" sz="3200"/>
          </a:p>
          <a:p>
            <a:r>
              <a:rPr lang="en-US" sz="3200" b="1"/>
              <a:t>Outcome</a:t>
            </a:r>
          </a:p>
          <a:p>
            <a:pPr lvl="1"/>
            <a:r>
              <a:rPr lang="en-US" sz="3200"/>
              <a:t>Well-structured, complete, and testable requirement specification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09310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801B-52F9-E513-7669-879C60A4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 Overview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E7EF7-743C-4AC8-2C3D-BBF1FAD9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39748" cy="4779570"/>
          </a:xfrm>
        </p:spPr>
        <p:txBody>
          <a:bodyPr>
            <a:normAutofit fontScale="92500"/>
          </a:bodyPr>
          <a:lstStyle/>
          <a:p>
            <a:r>
              <a:rPr lang="en-US" sz="3200" b="1" dirty="0"/>
              <a:t>Purpose</a:t>
            </a:r>
          </a:p>
          <a:p>
            <a:pPr lvl="1"/>
            <a:r>
              <a:rPr lang="en-US" sz="3200" dirty="0"/>
              <a:t>Visualize actors and their interactions with the system</a:t>
            </a:r>
          </a:p>
          <a:p>
            <a:pPr lvl="1"/>
            <a:r>
              <a:rPr lang="en-US" sz="3200" dirty="0"/>
              <a:t>Provide a high-level overview of system functionality</a:t>
            </a:r>
          </a:p>
          <a:p>
            <a:r>
              <a:rPr lang="en-US" sz="3200" b="1" dirty="0"/>
              <a:t>Major Components</a:t>
            </a:r>
          </a:p>
          <a:p>
            <a:pPr lvl="1"/>
            <a:r>
              <a:rPr lang="en-US" sz="3200" dirty="0"/>
              <a:t>Actors</a:t>
            </a:r>
          </a:p>
          <a:p>
            <a:pPr lvl="1"/>
            <a:r>
              <a:rPr lang="en-US" sz="3200" dirty="0"/>
              <a:t>Use cases</a:t>
            </a:r>
          </a:p>
          <a:p>
            <a:pPr lvl="1"/>
            <a:r>
              <a:rPr lang="en-US" sz="3200" dirty="0"/>
              <a:t>Associations</a:t>
            </a:r>
          </a:p>
          <a:p>
            <a:pPr lvl="1"/>
            <a:r>
              <a:rPr lang="en-US" sz="3200" dirty="0"/>
              <a:t>Include/Extend relationships</a:t>
            </a:r>
          </a:p>
          <a:p>
            <a:pPr lvl="1"/>
            <a:r>
              <a:rPr lang="en-US" sz="3200" dirty="0"/>
              <a:t>System boundary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5598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92BF0-42EB-7BC2-AD58-B87FCA696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 dirty="0"/>
              <a:t>Example Use Case Diagram</a:t>
            </a:r>
            <a:endParaRPr lang="en-NP" sz="4800" dirty="0"/>
          </a:p>
        </p:txBody>
      </p:sp>
      <p:sp>
        <p:nvSpPr>
          <p:cNvPr id="207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874D55-4CC0-3BDE-46A8-08AD1EE9C8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1263" y="457200"/>
            <a:ext cx="6007608" cy="19293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Actors: </a:t>
            </a:r>
            <a:r>
              <a:rPr kumimoji="0" lang="en-NP" altLang="en-NP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Customer, Payment Gateway, Admin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Cases</a:t>
            </a:r>
            <a:r>
              <a:rPr kumimoji="0" lang="en-NP" altLang="en-NP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Browse Items, Add to Cart, Checkout, Make Payment, Manage Products</a:t>
            </a: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4FE9A79C-6EC5-DC9B-04A8-1B0811121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136" y="2386583"/>
            <a:ext cx="5766167" cy="418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089763BB-A1AA-5896-60F6-27BDA68E1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2570279"/>
            <a:ext cx="5616344" cy="377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32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7E5A-55B3-23B2-0ACF-FCA13499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4.1.1 Use Cases for Reuse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9F1F-8462-3D5C-0DBA-78AE123E7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81746" cy="4768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Use Cases for Reuse Concept</a:t>
            </a:r>
          </a:p>
          <a:p>
            <a:r>
              <a:rPr lang="en-US" sz="3200" b="1" dirty="0"/>
              <a:t>Why Reuse Use Cases?</a:t>
            </a:r>
          </a:p>
          <a:p>
            <a:pPr lvl="1"/>
            <a:r>
              <a:rPr lang="en-US" sz="3200" dirty="0"/>
              <a:t>Reduces duplication</a:t>
            </a:r>
          </a:p>
          <a:p>
            <a:pPr lvl="1"/>
            <a:r>
              <a:rPr lang="en-US" sz="3200" dirty="0"/>
              <a:t>Improves maintainability</a:t>
            </a:r>
          </a:p>
          <a:p>
            <a:pPr lvl="1"/>
            <a:r>
              <a:rPr lang="en-US" sz="3200" dirty="0"/>
              <a:t>Ensures consistent behavior across modules</a:t>
            </a:r>
          </a:p>
          <a:p>
            <a:r>
              <a:rPr lang="en-US" sz="3200" b="1" dirty="0"/>
              <a:t>Reuse Mechanisms</a:t>
            </a:r>
          </a:p>
          <a:p>
            <a:pPr lvl="1"/>
            <a:r>
              <a:rPr lang="en-US" sz="3200" i="1" dirty="0"/>
              <a:t>&lt;&lt;include&gt;&gt;</a:t>
            </a:r>
            <a:r>
              <a:rPr lang="en-US" sz="3200" dirty="0"/>
              <a:t> for mandatory behavior</a:t>
            </a:r>
          </a:p>
          <a:p>
            <a:pPr lvl="1"/>
            <a:r>
              <a:rPr lang="en-US" sz="3200" i="1" dirty="0"/>
              <a:t>&lt;&lt;extend&gt;&gt;</a:t>
            </a:r>
            <a:r>
              <a:rPr lang="en-US" sz="3200" dirty="0"/>
              <a:t> for optional behavior</a:t>
            </a:r>
          </a:p>
          <a:p>
            <a:pPr lvl="1"/>
            <a:r>
              <a:rPr lang="en-US" sz="3200" dirty="0"/>
              <a:t>Generalized use cases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960758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9" name="Rectangle 410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33821-7AA1-AABA-BA9A-D5B4F0FA0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Assumptions for Include/Extend</a:t>
            </a:r>
            <a:endParaRPr lang="en-NP" sz="3600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03B594-9F37-2591-B10B-C08422723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3093" y="2003669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Checkout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NP" altLang="en-NP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includes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NP" altLang="en-NP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 to Cart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(cart review always part of checkout).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Make Payment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NP" altLang="en-NP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includes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NP" altLang="en-NP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Checkout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(payment always follows checkout).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Payment Failed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NP" altLang="en-NP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extends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NP" altLang="en-NP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Make Payment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Apply Discount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NP" altLang="en-NP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extends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NP" altLang="en-NP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Checkout</a:t>
            </a:r>
            <a:r>
              <a:rPr kumimoji="0" lang="en-NP" altLang="en-NP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(optional behavior).</a:t>
            </a:r>
          </a:p>
        </p:txBody>
      </p:sp>
      <p:sp>
        <p:nvSpPr>
          <p:cNvPr id="4108" name="Rectangle 410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2" name="Rectangle 411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D8F8681B-1C1E-233A-6EEA-26143A4E5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7361" y="525982"/>
            <a:ext cx="7737211" cy="586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589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101B-E216-425E-4228-B7D6F722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69" y="189279"/>
            <a:ext cx="10515600" cy="1325563"/>
          </a:xfrm>
        </p:spPr>
        <p:txBody>
          <a:bodyPr/>
          <a:lstStyle/>
          <a:p>
            <a:r>
              <a:rPr lang="en-US" dirty="0"/>
              <a:t>Relationship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0C93-1C86-3842-F541-CBF4FC5DC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5" y="1342046"/>
            <a:ext cx="10117015" cy="5067545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b="1" dirty="0"/>
              <a:t>&lt;&lt;include&gt;&gt; Relationship</a:t>
            </a:r>
          </a:p>
          <a:p>
            <a:r>
              <a:rPr lang="en-US" dirty="0"/>
              <a:t>Represents </a:t>
            </a:r>
            <a:r>
              <a:rPr lang="en-US" b="1" dirty="0"/>
              <a:t>common functionality</a:t>
            </a:r>
            <a:r>
              <a:rPr lang="en-US" dirty="0"/>
              <a:t> used by multiple use cases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sz="2800" dirty="0"/>
              <a:t>“Login” included by:</a:t>
            </a:r>
          </a:p>
          <a:p>
            <a:pPr lvl="2"/>
            <a:r>
              <a:rPr lang="en-US" sz="2800" dirty="0"/>
              <a:t>Place Order</a:t>
            </a:r>
          </a:p>
          <a:p>
            <a:pPr lvl="2"/>
            <a:r>
              <a:rPr lang="en-US" sz="2800" dirty="0"/>
              <a:t>View Profile</a:t>
            </a:r>
          </a:p>
          <a:p>
            <a:pPr lvl="2"/>
            <a:r>
              <a:rPr lang="en-US" sz="2800" dirty="0"/>
              <a:t>Manage Products</a:t>
            </a:r>
          </a:p>
          <a:p>
            <a:pPr marL="914400" lvl="2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&lt;&lt;extend&gt;&gt; Relationship</a:t>
            </a:r>
          </a:p>
          <a:p>
            <a:r>
              <a:rPr lang="en-US" dirty="0"/>
              <a:t>Represents </a:t>
            </a:r>
            <a:r>
              <a:rPr lang="en-US" b="1" dirty="0"/>
              <a:t>optional or conditional functionality</a:t>
            </a:r>
            <a:endParaRPr lang="en-US" dirty="0"/>
          </a:p>
          <a:p>
            <a:r>
              <a:rPr lang="en-US" b="1" dirty="0"/>
              <a:t>Example</a:t>
            </a:r>
          </a:p>
          <a:p>
            <a:pPr lvl="1"/>
            <a:r>
              <a:rPr lang="en-US" sz="2800" dirty="0"/>
              <a:t>“Apply Discount Coupon” extends “Checkout”</a:t>
            </a:r>
          </a:p>
          <a:p>
            <a:pPr lvl="1"/>
            <a:r>
              <a:rPr lang="en-US" sz="2800" dirty="0"/>
              <a:t>Executed only if the system detects a valid coupon</a:t>
            </a:r>
          </a:p>
          <a:p>
            <a:pPr lvl="2"/>
            <a:endParaRPr lang="en-US" sz="2800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796361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3917D-C285-5665-8392-63284DFE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Rules and line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53DD2-1E37-B425-E9E5-FA0E1013E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62138" cy="4531213"/>
          </a:xfrm>
        </p:spPr>
        <p:txBody>
          <a:bodyPr numCol="2">
            <a:normAutofit fontScale="77500" lnSpcReduction="20000"/>
          </a:bodyPr>
          <a:lstStyle/>
          <a:p>
            <a:r>
              <a:rPr lang="en-US" b="1" dirty="0"/>
              <a:t>«include» Relationship</a:t>
            </a:r>
          </a:p>
          <a:p>
            <a:r>
              <a:rPr lang="en-US" b="1" dirty="0"/>
              <a:t>Meaning</a:t>
            </a:r>
          </a:p>
          <a:p>
            <a:pPr lvl="1"/>
            <a:r>
              <a:rPr lang="en-US" dirty="0"/>
              <a:t>One use case </a:t>
            </a:r>
            <a:r>
              <a:rPr lang="en-US" b="1" dirty="0"/>
              <a:t>always</a:t>
            </a:r>
            <a:r>
              <a:rPr lang="en-US" dirty="0"/>
              <a:t> calls another use case.</a:t>
            </a:r>
          </a:p>
          <a:p>
            <a:pPr lvl="1"/>
            <a:r>
              <a:rPr lang="en-US" dirty="0"/>
              <a:t>The included use case is </a:t>
            </a:r>
            <a:r>
              <a:rPr lang="en-US" b="1" dirty="0"/>
              <a:t>mandatory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represents </a:t>
            </a:r>
            <a:r>
              <a:rPr lang="en-US" b="1" dirty="0"/>
              <a:t>common, reusable behavior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i="1" dirty="0"/>
              <a:t>Checkout</a:t>
            </a:r>
            <a:r>
              <a:rPr lang="en-US" dirty="0"/>
              <a:t> </a:t>
            </a:r>
            <a:r>
              <a:rPr lang="en-US" b="1" dirty="0"/>
              <a:t>includes</a:t>
            </a:r>
            <a:r>
              <a:rPr lang="en-US" dirty="0"/>
              <a:t> </a:t>
            </a:r>
            <a:r>
              <a:rPr lang="en-US" i="1" dirty="0"/>
              <a:t>Calculate Total Price</a:t>
            </a:r>
            <a:br>
              <a:rPr lang="en-US" dirty="0"/>
            </a:br>
            <a:r>
              <a:rPr lang="en-US" dirty="0"/>
              <a:t>(because every checkout MUST calculate the total)</a:t>
            </a:r>
          </a:p>
          <a:p>
            <a:r>
              <a:rPr lang="en-US" b="1" dirty="0"/>
              <a:t>Line Style</a:t>
            </a:r>
          </a:p>
          <a:p>
            <a:pPr lvl="1"/>
            <a:r>
              <a:rPr lang="en-US" dirty="0"/>
              <a:t>✔️ </a:t>
            </a:r>
            <a:r>
              <a:rPr lang="en-US" b="1" dirty="0"/>
              <a:t>Dashed line</a:t>
            </a:r>
            <a:br>
              <a:rPr lang="en-US" dirty="0"/>
            </a:br>
            <a:r>
              <a:rPr lang="en-US" dirty="0"/>
              <a:t>✔️ </a:t>
            </a:r>
            <a:r>
              <a:rPr lang="en-US" b="1" dirty="0"/>
              <a:t>Arrow pointing to the included use case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«extend» Relationship</a:t>
            </a:r>
          </a:p>
          <a:p>
            <a:r>
              <a:rPr lang="en-US" b="1" dirty="0"/>
              <a:t>Meaning</a:t>
            </a:r>
          </a:p>
          <a:p>
            <a:pPr lvl="1"/>
            <a:r>
              <a:rPr lang="en-US" dirty="0"/>
              <a:t>Optional or conditional behavior.</a:t>
            </a:r>
          </a:p>
          <a:p>
            <a:pPr lvl="1"/>
            <a:r>
              <a:rPr lang="en-US" dirty="0"/>
              <a:t>The extending use case occurs </a:t>
            </a:r>
            <a:r>
              <a:rPr lang="en-US" b="1" dirty="0"/>
              <a:t>only under certain conditions</a:t>
            </a:r>
            <a:r>
              <a:rPr lang="en-US" dirty="0"/>
              <a:t>.</a:t>
            </a:r>
          </a:p>
          <a:p>
            <a:r>
              <a:rPr lang="en-US" dirty="0"/>
              <a:t>Base use case remains complete without the extension.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i="1" dirty="0"/>
              <a:t>Place Order</a:t>
            </a:r>
            <a:r>
              <a:rPr lang="en-US" dirty="0"/>
              <a:t> </a:t>
            </a:r>
            <a:r>
              <a:rPr lang="en-US" b="1" dirty="0"/>
              <a:t>extends</a:t>
            </a:r>
            <a:r>
              <a:rPr lang="en-US" dirty="0"/>
              <a:t> </a:t>
            </a:r>
            <a:r>
              <a:rPr lang="en-US" i="1" dirty="0"/>
              <a:t>Apply Discount</a:t>
            </a:r>
            <a:br>
              <a:rPr lang="en-US" dirty="0"/>
            </a:br>
            <a:r>
              <a:rPr lang="en-US" dirty="0"/>
              <a:t>(only if a discount coupon is applied)</a:t>
            </a:r>
          </a:p>
          <a:p>
            <a:r>
              <a:rPr lang="en-US" b="1" dirty="0"/>
              <a:t>Line Style</a:t>
            </a:r>
          </a:p>
          <a:p>
            <a:pPr lvl="1"/>
            <a:r>
              <a:rPr lang="en-US" dirty="0"/>
              <a:t>✔️ </a:t>
            </a:r>
            <a:r>
              <a:rPr lang="en-US" b="1" dirty="0"/>
              <a:t>Dashed line</a:t>
            </a:r>
            <a:br>
              <a:rPr lang="en-US" dirty="0"/>
            </a:br>
            <a:r>
              <a:rPr lang="en-US" dirty="0"/>
              <a:t>✔️ </a:t>
            </a:r>
            <a:r>
              <a:rPr lang="en-US" b="1" dirty="0"/>
              <a:t>Arrow points from extension → base use case</a:t>
            </a:r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523381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A525-717E-D90A-E511-902FE473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4.1.2 Use Cases and Components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435A1-B110-4373-002C-DEF1CC0A9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Why Link Use Cases to Components?</a:t>
            </a:r>
          </a:p>
          <a:p>
            <a:pPr lvl="1"/>
            <a:r>
              <a:rPr lang="en-US" sz="3200" dirty="0"/>
              <a:t>Ensures system architecture supports functional requirements</a:t>
            </a:r>
          </a:p>
          <a:p>
            <a:pPr lvl="1"/>
            <a:r>
              <a:rPr lang="en-US" sz="3200" dirty="0"/>
              <a:t>Maps user interactions to backend modules</a:t>
            </a:r>
          </a:p>
          <a:p>
            <a:r>
              <a:rPr lang="en-US" sz="3200" b="1" dirty="0"/>
              <a:t>Component Mapping</a:t>
            </a:r>
          </a:p>
          <a:p>
            <a:pPr lvl="1"/>
            <a:r>
              <a:rPr lang="en-US" sz="3200" dirty="0"/>
              <a:t>Use case elements → service components</a:t>
            </a:r>
          </a:p>
          <a:p>
            <a:pPr lvl="1"/>
            <a:r>
              <a:rPr lang="en-US" sz="3200" dirty="0"/>
              <a:t>Actor actions → APIs or controllers</a:t>
            </a:r>
          </a:p>
          <a:p>
            <a:pPr lvl="1"/>
            <a:r>
              <a:rPr lang="en-US" sz="3200" dirty="0"/>
              <a:t>Business rules → domain logic components</a:t>
            </a:r>
          </a:p>
          <a:p>
            <a:endParaRPr lang="en-NP" sz="3200" dirty="0"/>
          </a:p>
        </p:txBody>
      </p:sp>
    </p:spTree>
    <p:extLst>
      <p:ext uri="{BB962C8B-B14F-4D97-AF65-F5344CB8AC3E}">
        <p14:creationId xmlns:p14="http://schemas.microsoft.com/office/powerpoint/2010/main" val="36287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BA15-8B36-352F-C6C4-43836888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38" y="160337"/>
            <a:ext cx="10515600" cy="1325563"/>
          </a:xfrm>
        </p:spPr>
        <p:txBody>
          <a:bodyPr/>
          <a:lstStyle/>
          <a:p>
            <a:r>
              <a:rPr lang="en-US" dirty="0"/>
              <a:t>Benefits of Mapping Use Cases to Components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BA6D4-AD17-EB8A-70D2-800FCA3DB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83008" cy="5211763"/>
          </a:xfrm>
        </p:spPr>
        <p:txBody>
          <a:bodyPr>
            <a:normAutofit fontScale="92500" lnSpcReduction="10000"/>
          </a:bodyPr>
          <a:lstStyle/>
          <a:p>
            <a:r>
              <a:rPr lang="en-NP" b="1" dirty="0"/>
              <a:t> </a:t>
            </a:r>
            <a:r>
              <a:rPr lang="en-US" b="1" dirty="0"/>
              <a:t>What Is “Mapping Use Cases to Components”?</a:t>
            </a:r>
          </a:p>
          <a:p>
            <a:pPr lvl="1"/>
            <a:r>
              <a:rPr lang="en-US" dirty="0"/>
              <a:t>Mapping use cases to components is the process of connecting what the system must do (</a:t>
            </a:r>
            <a:r>
              <a:rPr lang="en-US" b="1" dirty="0"/>
              <a:t>use cases</a:t>
            </a:r>
            <a:r>
              <a:rPr lang="en-US" dirty="0"/>
              <a:t>) to how the system is organized internally (</a:t>
            </a:r>
            <a:r>
              <a:rPr lang="en-US" b="1" dirty="0"/>
              <a:t>components</a:t>
            </a:r>
            <a:r>
              <a:rPr lang="en-US" dirty="0"/>
              <a:t>).</a:t>
            </a:r>
          </a:p>
          <a:p>
            <a:r>
              <a:rPr lang="en-NP" b="1" dirty="0"/>
              <a:t>👉 </a:t>
            </a:r>
            <a:r>
              <a:rPr lang="en-US" b="1" dirty="0"/>
              <a:t>Use Case = </a:t>
            </a:r>
            <a:r>
              <a:rPr lang="en-US" b="1" i="1" dirty="0"/>
              <a:t>User goal or system behavior from the user’s perspective</a:t>
            </a:r>
            <a:endParaRPr lang="en-US" b="1" dirty="0"/>
          </a:p>
          <a:p>
            <a:pPr lvl="1"/>
            <a:r>
              <a:rPr lang="en-US" dirty="0"/>
              <a:t>Example: </a:t>
            </a:r>
            <a:r>
              <a:rPr lang="en-US" i="1" dirty="0"/>
              <a:t>“Checkout Order,” “Make Payment,” “Search Books.”</a:t>
            </a:r>
            <a:endParaRPr lang="en-US" dirty="0"/>
          </a:p>
          <a:p>
            <a:r>
              <a:rPr lang="en-NP" b="1" dirty="0"/>
              <a:t>👉 </a:t>
            </a:r>
            <a:r>
              <a:rPr lang="en-US" b="1" dirty="0"/>
              <a:t>Component = </a:t>
            </a:r>
            <a:r>
              <a:rPr lang="en-US" b="1" i="1" dirty="0"/>
              <a:t>Modular building block of the system</a:t>
            </a:r>
            <a:endParaRPr lang="en-US" b="1" dirty="0"/>
          </a:p>
          <a:p>
            <a:pPr lvl="1"/>
            <a:r>
              <a:rPr lang="en-US" dirty="0"/>
              <a:t>Example: </a:t>
            </a:r>
            <a:r>
              <a:rPr lang="en-US" i="1" dirty="0"/>
              <a:t>“Payment Service,” “Order Manager,” “Inventory Component.”</a:t>
            </a:r>
            <a:endParaRPr lang="en-US" dirty="0"/>
          </a:p>
          <a:p>
            <a:r>
              <a:rPr lang="en-US" b="1" dirty="0"/>
              <a:t>Mapping them means:</a:t>
            </a:r>
          </a:p>
          <a:p>
            <a:r>
              <a:rPr lang="en-US" dirty="0"/>
              <a:t>You take each </a:t>
            </a:r>
            <a:r>
              <a:rPr lang="en-US" b="1" dirty="0"/>
              <a:t>use case</a:t>
            </a:r>
            <a:r>
              <a:rPr lang="en-US" dirty="0"/>
              <a:t> and identify which </a:t>
            </a:r>
            <a:r>
              <a:rPr lang="en-US" b="1" dirty="0"/>
              <a:t>components</a:t>
            </a:r>
            <a:r>
              <a:rPr lang="en-US" dirty="0"/>
              <a:t> must work together to fulfill it.</a:t>
            </a:r>
          </a:p>
          <a:p>
            <a:r>
              <a:rPr lang="en-NP" dirty="0"/>
              <a:t>📌 </a:t>
            </a:r>
            <a:r>
              <a:rPr lang="en-US" dirty="0"/>
              <a:t>It answers the key question:</a:t>
            </a:r>
            <a:br>
              <a:rPr lang="en-US" dirty="0"/>
            </a:br>
            <a:r>
              <a:rPr lang="en-US" b="1" dirty="0"/>
              <a:t>“Which part of the system is responsible for implementing this use case?”</a:t>
            </a:r>
            <a:endParaRPr lang="en-US" dirty="0"/>
          </a:p>
          <a:p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124463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74AA-BD4E-1F59-F33E-756F96AE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69" y="96183"/>
            <a:ext cx="10515600" cy="1325563"/>
          </a:xfrm>
        </p:spPr>
        <p:txBody>
          <a:bodyPr/>
          <a:lstStyle/>
          <a:p>
            <a:r>
              <a:rPr lang="en-US" dirty="0"/>
              <a:t>Mapping Use Cases to Components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9133C-9263-BB37-C7E2-F2FFE3975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69" y="1162237"/>
            <a:ext cx="10515600" cy="2454925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Why Do We Do This?</a:t>
            </a:r>
          </a:p>
          <a:p>
            <a:pPr lvl="1"/>
            <a:r>
              <a:rPr lang="en-US" dirty="0"/>
              <a:t>To ensure the system architecture supports all required functionalities</a:t>
            </a:r>
          </a:p>
          <a:p>
            <a:pPr lvl="1"/>
            <a:r>
              <a:rPr lang="en-US" dirty="0"/>
              <a:t>To assign responsibilities to correct components</a:t>
            </a:r>
          </a:p>
          <a:p>
            <a:pPr lvl="1"/>
            <a:r>
              <a:rPr lang="en-US" dirty="0"/>
              <a:t>To help developers understand which component implements which feature</a:t>
            </a:r>
          </a:p>
          <a:p>
            <a:pPr lvl="1"/>
            <a:r>
              <a:rPr lang="en-US" dirty="0"/>
              <a:t>To simplify maintenance, traceability, and testing</a:t>
            </a:r>
          </a:p>
          <a:p>
            <a:r>
              <a:rPr lang="en-US" b="1" dirty="0"/>
              <a:t>How To Map Use Cases to Components (Step-by-Step)</a:t>
            </a:r>
          </a:p>
          <a:p>
            <a:pPr lvl="1"/>
            <a:endParaRPr lang="en-US" dirty="0"/>
          </a:p>
          <a:p>
            <a:endParaRPr lang="en-NP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2AAFC1-8A50-B215-C44B-0123E56AE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611079"/>
              </p:ext>
            </p:extLst>
          </p:nvPr>
        </p:nvGraphicFramePr>
        <p:xfrm>
          <a:off x="609600" y="3505200"/>
          <a:ext cx="997633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5446">
                  <a:extLst>
                    <a:ext uri="{9D8B030D-6E8A-4147-A177-3AD203B41FA5}">
                      <a16:colId xmlns:a16="http://schemas.microsoft.com/office/drawing/2014/main" val="3638591104"/>
                    </a:ext>
                  </a:extLst>
                </a:gridCol>
                <a:gridCol w="3325446">
                  <a:extLst>
                    <a:ext uri="{9D8B030D-6E8A-4147-A177-3AD203B41FA5}">
                      <a16:colId xmlns:a16="http://schemas.microsoft.com/office/drawing/2014/main" val="1646560530"/>
                    </a:ext>
                  </a:extLst>
                </a:gridCol>
                <a:gridCol w="3325446">
                  <a:extLst>
                    <a:ext uri="{9D8B030D-6E8A-4147-A177-3AD203B41FA5}">
                      <a16:colId xmlns:a16="http://schemas.microsoft.com/office/drawing/2014/main" val="3258505999"/>
                    </a:ext>
                  </a:extLst>
                </a:gridCol>
              </a:tblGrid>
              <a:tr h="335279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Step 1: Identify Use Cases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Start with the use case diagram or list.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Example Use Cases:</a:t>
                      </a:r>
                    </a:p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Browse Items</a:t>
                      </a:r>
                    </a:p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Add to Cart</a:t>
                      </a:r>
                    </a:p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Checkout</a:t>
                      </a:r>
                    </a:p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Make Payment</a:t>
                      </a:r>
                    </a:p>
                    <a:p>
                      <a:endParaRPr lang="en-NP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Step 2: Identify System Components</a:t>
                      </a:r>
                    </a:p>
                    <a:p>
                      <a:r>
                        <a:rPr lang="en-US" dirty="0"/>
                        <a:t>Break the system into modules/components.</a:t>
                      </a:r>
                    </a:p>
                    <a:p>
                      <a:r>
                        <a:rPr lang="en-US" dirty="0"/>
                        <a:t>Example Components: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Product Catalog Component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Cart Component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Order Management Component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Payment Gateway Component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User Management Component</a:t>
                      </a:r>
                    </a:p>
                    <a:p>
                      <a:endParaRPr lang="en-NP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Step 3: Determine Which Component Handles Each Use Case</a:t>
                      </a:r>
                    </a:p>
                    <a:p>
                      <a:r>
                        <a:rPr lang="en-US" dirty="0"/>
                        <a:t>For each use case, ask:</a:t>
                      </a:r>
                    </a:p>
                    <a:p>
                      <a:r>
                        <a:rPr lang="en-NP" b="0" dirty="0"/>
                        <a:t>👉 </a:t>
                      </a:r>
                      <a:r>
                        <a:rPr lang="en-US" b="0" i="1" dirty="0"/>
                        <a:t>Which component contains the logic to do this?</a:t>
                      </a:r>
                      <a:br>
                        <a:rPr lang="en-US" b="0" dirty="0"/>
                      </a:br>
                      <a:r>
                        <a:rPr lang="en-NP" b="0" dirty="0"/>
                        <a:t>👉 </a:t>
                      </a:r>
                      <a:r>
                        <a:rPr lang="en-US" b="0" i="1" dirty="0"/>
                        <a:t>Which component provides data for this operation?</a:t>
                      </a:r>
                      <a:br>
                        <a:rPr lang="en-US" b="0" dirty="0"/>
                      </a:br>
                      <a:r>
                        <a:rPr lang="en-NP" b="0" dirty="0"/>
                        <a:t>👉 </a:t>
                      </a:r>
                      <a:r>
                        <a:rPr lang="en-US" b="0" i="1" dirty="0"/>
                        <a:t>Which components must collaborate?</a:t>
                      </a:r>
                      <a:endParaRPr lang="en-US" b="0" dirty="0"/>
                    </a:p>
                    <a:p>
                      <a:endParaRPr lang="en-NP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963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63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3C8E-BB99-4549-639C-1E12414D9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NP" altLang="en-NP" sz="2000" b="1" dirty="0">
                <a:latin typeface="Arial" panose="020B0604020202020204" pitchFamily="34" charset="0"/>
              </a:rPr>
              <a:t>Step 4: Create a Mapping Table or Diagram</a:t>
            </a:r>
            <a:br>
              <a:rPr lang="en-NP" altLang="en-NP" sz="2000" b="1" dirty="0">
                <a:latin typeface="Arial" panose="020B0604020202020204" pitchFamily="34" charset="0"/>
              </a:rPr>
            </a:br>
            <a:r>
              <a:rPr lang="en-NP" altLang="en-NP" sz="2000" dirty="0">
                <a:latin typeface="Arial" panose="020B0604020202020204" pitchFamily="34" charset="0"/>
              </a:rPr>
              <a:t>A simple table, matrix, or UML component diagram shows the mapping.</a:t>
            </a:r>
            <a:br>
              <a:rPr lang="en-NP" altLang="en-NP" sz="2000" b="1" dirty="0">
                <a:latin typeface="Arial" panose="020B0604020202020204" pitchFamily="34" charset="0"/>
              </a:rPr>
            </a:br>
            <a:r>
              <a:rPr lang="en-NP" altLang="en-NP" sz="2000" b="1" dirty="0">
                <a:latin typeface="Arial" panose="020B0604020202020204" pitchFamily="34" charset="0"/>
              </a:rPr>
              <a:t>Example: Mapping Matrix</a:t>
            </a:r>
            <a:br>
              <a:rPr lang="en-NP" altLang="en-NP" b="1" dirty="0">
                <a:latin typeface="Arial" panose="020B0604020202020204" pitchFamily="34" charset="0"/>
              </a:rPr>
            </a:br>
            <a:endParaRPr lang="en-NP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A24DCE-161C-13E6-78CB-50F2070460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7992712"/>
              </p:ext>
            </p:extLst>
          </p:nvPr>
        </p:nvGraphicFramePr>
        <p:xfrm>
          <a:off x="596153" y="2053264"/>
          <a:ext cx="10515600" cy="21031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2216749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293206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775335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904229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02336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Case → / Component 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Catalog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297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Browse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18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to Cart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17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46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Make 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dirty="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dirty="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6217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25EBA93-1523-BD16-CAE7-7DE26990C1A7}"/>
              </a:ext>
            </a:extLst>
          </p:cNvPr>
          <p:cNvSpPr txBox="1"/>
          <p:nvPr/>
        </p:nvSpPr>
        <p:spPr>
          <a:xfrm>
            <a:off x="412376" y="4518960"/>
            <a:ext cx="63907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Benefits of Mapping Use Cases to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how use cases relate to system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Strengthening architecture design through clear 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Supporting both analysis and implementation phases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911974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9FA42-C932-4D8E-73EE-076C3373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71" y="132042"/>
            <a:ext cx="10515600" cy="1325563"/>
          </a:xfrm>
        </p:spPr>
        <p:txBody>
          <a:bodyPr/>
          <a:lstStyle/>
          <a:p>
            <a:r>
              <a:rPr lang="en-US" dirty="0"/>
              <a:t>4.1.3 Separation of Variant Behavior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E17D0-A749-C8F1-0989-1F3288EB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Variant Behavior in Use Cases</a:t>
            </a:r>
          </a:p>
          <a:p>
            <a:r>
              <a:rPr lang="en-US" b="1" dirty="0"/>
              <a:t>What Is Variant Behavior?</a:t>
            </a:r>
          </a:p>
          <a:p>
            <a:r>
              <a:rPr lang="en-US" dirty="0"/>
              <a:t>Behavior that </a:t>
            </a:r>
            <a:r>
              <a:rPr lang="en-US" b="1" dirty="0"/>
              <a:t>changes based on conditions</a:t>
            </a:r>
            <a:r>
              <a:rPr lang="en-US" dirty="0"/>
              <a:t>, user types, environment, etc.</a:t>
            </a:r>
          </a:p>
          <a:p>
            <a:r>
              <a:rPr lang="en-US" b="1" dirty="0"/>
              <a:t>Examples</a:t>
            </a:r>
          </a:p>
          <a:p>
            <a:pPr lvl="1"/>
            <a:r>
              <a:rPr lang="en-US" dirty="0"/>
              <a:t>Payment flow differs for Credit Card vs Wallet</a:t>
            </a:r>
          </a:p>
          <a:p>
            <a:pPr lvl="1"/>
            <a:r>
              <a:rPr lang="en-US" dirty="0"/>
              <a:t>Admin features differ from User features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131648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9" name="Rectangle 3108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77759-85CE-E293-3B47-293FFB1CF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en-US" sz="4200"/>
              <a:t>How to Model Variant Behavior</a:t>
            </a:r>
            <a:endParaRPr lang="en-NP" sz="4200"/>
          </a:p>
        </p:txBody>
      </p:sp>
      <p:sp>
        <p:nvSpPr>
          <p:cNvPr id="3111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6FB7-212B-7C79-4BEA-1F4E6F62E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>
            <a:normAutofit/>
          </a:bodyPr>
          <a:lstStyle/>
          <a:p>
            <a:r>
              <a:rPr lang="en-US" sz="1700" b="1"/>
              <a:t>Techniques</a:t>
            </a:r>
          </a:p>
          <a:p>
            <a:pPr lvl="1"/>
            <a:r>
              <a:rPr lang="en-US" sz="1700" i="1"/>
              <a:t>&lt;&lt;extend&gt;&gt;</a:t>
            </a:r>
            <a:r>
              <a:rPr lang="en-US" sz="1700"/>
              <a:t> for optional/conditional behavior</a:t>
            </a:r>
          </a:p>
          <a:p>
            <a:pPr lvl="1"/>
            <a:r>
              <a:rPr lang="en-US" sz="1700"/>
              <a:t>Generalization of use cases</a:t>
            </a:r>
          </a:p>
          <a:p>
            <a:pPr lvl="1"/>
            <a:r>
              <a:rPr lang="en-US" sz="1700"/>
              <a:t>Using activity/decision nodes</a:t>
            </a:r>
          </a:p>
          <a:p>
            <a:pPr lvl="1"/>
            <a:r>
              <a:rPr lang="en-US" sz="1700"/>
              <a:t>Creating scenario-based variants</a:t>
            </a:r>
          </a:p>
          <a:p>
            <a:r>
              <a:rPr lang="en-US" sz="1700" b="1"/>
              <a:t>Outcome</a:t>
            </a:r>
          </a:p>
          <a:p>
            <a:r>
              <a:rPr lang="en-US" sz="1700"/>
              <a:t>Flexible, scalable requirements modeling</a:t>
            </a:r>
          </a:p>
          <a:p>
            <a:endParaRPr lang="en-NP" sz="17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3AF5524-E180-F1C2-C39E-F4419E4A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9351" y="146304"/>
            <a:ext cx="2713297" cy="345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47E7DA1-4A01-D901-04DE-9EBE192FA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4142" y="1105416"/>
            <a:ext cx="4793316" cy="92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E935518F-F93C-2DE5-9888-4A3AA5BA8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7335" y="4626441"/>
            <a:ext cx="3885105" cy="92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DDA802D-4633-1377-5EB6-98FF6545E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7888" y="3811344"/>
            <a:ext cx="3785616" cy="154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ADDC9-5648-A1BE-92D7-1CC2737384E1}"/>
              </a:ext>
            </a:extLst>
          </p:cNvPr>
          <p:cNvSpPr txBox="1"/>
          <p:nvPr/>
        </p:nvSpPr>
        <p:spPr>
          <a:xfrm>
            <a:off x="8659906" y="833718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NP" dirty="0"/>
              <a:t>cenario based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5085D-F204-9F06-C9F9-DE4C33217D27}"/>
              </a:ext>
            </a:extLst>
          </p:cNvPr>
          <p:cNvSpPr txBox="1"/>
          <p:nvPr/>
        </p:nvSpPr>
        <p:spPr>
          <a:xfrm>
            <a:off x="4908275" y="4072493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Optional or conditional </a:t>
            </a:r>
            <a:endParaRPr lang="en-N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8F850-C941-443B-54C2-8934C26E6013}"/>
              </a:ext>
            </a:extLst>
          </p:cNvPr>
          <p:cNvSpPr txBox="1"/>
          <p:nvPr/>
        </p:nvSpPr>
        <p:spPr>
          <a:xfrm>
            <a:off x="8899084" y="3268187"/>
            <a:ext cx="2483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Generalization of use cases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073294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0466-C73E-714C-A1AA-890F2555B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4.1.4 Generalization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5FB30-22CB-1871-B331-B57937534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Definition</a:t>
            </a:r>
          </a:p>
          <a:p>
            <a:pPr lvl="1"/>
            <a:r>
              <a:rPr lang="en-US" dirty="0"/>
              <a:t>A relationship where a child use case </a:t>
            </a:r>
            <a:r>
              <a:rPr lang="en-US" b="1" dirty="0"/>
              <a:t>inherits</a:t>
            </a:r>
            <a:r>
              <a:rPr lang="en-US" dirty="0"/>
              <a:t> behavior from a parent use case.</a:t>
            </a:r>
          </a:p>
          <a:p>
            <a:r>
              <a:rPr lang="en-US" b="1" dirty="0"/>
              <a:t>What is Use Case Generalization?</a:t>
            </a:r>
          </a:p>
          <a:p>
            <a:r>
              <a:rPr lang="en-US" dirty="0"/>
              <a:t>Use Case Generalization is a UML mechanism where: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parent (base) use case</a:t>
            </a:r>
            <a:r>
              <a:rPr lang="en-US" dirty="0"/>
              <a:t> defines common behavior.</a:t>
            </a:r>
          </a:p>
          <a:p>
            <a:pPr lvl="1"/>
            <a:r>
              <a:rPr lang="en-US" b="1" dirty="0"/>
              <a:t>Child (specialized) use cases</a:t>
            </a:r>
            <a:r>
              <a:rPr lang="en-US" dirty="0"/>
              <a:t> inherit that behavior and add their own unique steps.</a:t>
            </a:r>
          </a:p>
          <a:p>
            <a:r>
              <a:rPr lang="en-US" dirty="0"/>
              <a:t>It models </a:t>
            </a:r>
            <a:r>
              <a:rPr lang="en-US" b="1" dirty="0"/>
              <a:t>alternative ways</a:t>
            </a:r>
            <a:r>
              <a:rPr lang="en-US" dirty="0"/>
              <a:t> of achieving a similar goal.</a:t>
            </a:r>
          </a:p>
          <a:p>
            <a:pPr marL="0" indent="0">
              <a:buNone/>
            </a:pPr>
            <a:r>
              <a:rPr lang="en-US" b="1" dirty="0"/>
              <a:t>➜ Think of it as:</a:t>
            </a:r>
          </a:p>
          <a:p>
            <a:pPr lvl="1"/>
            <a:r>
              <a:rPr lang="en-US" b="1" dirty="0"/>
              <a:t>“Different versions of the same use case.”</a:t>
            </a:r>
            <a:endParaRPr lang="en-US" dirty="0"/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220299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EAAEA-08EC-1652-106A-62EF5276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/>
              <a:t>When to Use Generalization?</a:t>
            </a:r>
            <a:endParaRPr lang="en-NP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873FC8-4CE1-E62E-F9EF-F3AEB822B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9" b="1196"/>
          <a:stretch>
            <a:fillRect/>
          </a:stretch>
        </p:blipFill>
        <p:spPr bwMode="auto"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1502E-0651-2740-AC58-AF6FDC7B5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300" b="1" dirty="0"/>
              <a:t>When to Use</a:t>
            </a:r>
          </a:p>
          <a:p>
            <a:pPr lvl="1"/>
            <a:r>
              <a:rPr lang="en-US" sz="1300" dirty="0"/>
              <a:t>When multiple use cases share a common base flow</a:t>
            </a:r>
          </a:p>
          <a:p>
            <a:pPr lvl="1"/>
            <a:r>
              <a:rPr lang="en-US" sz="1300" dirty="0"/>
              <a:t>When specializations are required</a:t>
            </a:r>
          </a:p>
          <a:p>
            <a:r>
              <a:rPr lang="en-US" sz="1300" dirty="0"/>
              <a:t>Use generalization when:</a:t>
            </a:r>
          </a:p>
          <a:p>
            <a:pPr marL="0" indent="0">
              <a:buNone/>
            </a:pPr>
            <a:r>
              <a:rPr lang="en-NP" sz="1300" b="1" dirty="0"/>
              <a:t>🔸 </a:t>
            </a:r>
            <a:r>
              <a:rPr lang="en-US" sz="1300" b="1" dirty="0"/>
              <a:t>Different use cases achieve the same goal in different ways</a:t>
            </a:r>
          </a:p>
          <a:p>
            <a:r>
              <a:rPr lang="en-US" sz="1300" dirty="0"/>
              <a:t>Example:</a:t>
            </a:r>
          </a:p>
          <a:p>
            <a:r>
              <a:rPr lang="en-US" sz="1300" dirty="0"/>
              <a:t>Pay by Card</a:t>
            </a:r>
          </a:p>
          <a:p>
            <a:r>
              <a:rPr lang="en-US" sz="1300" dirty="0"/>
              <a:t>Pay by UPI</a:t>
            </a:r>
          </a:p>
          <a:p>
            <a:r>
              <a:rPr lang="en-US" sz="1300" dirty="0"/>
              <a:t>Pay by Wallet</a:t>
            </a:r>
            <a:br>
              <a:rPr lang="en-US" sz="1300" dirty="0"/>
            </a:br>
            <a:r>
              <a:rPr lang="en-US" sz="1300" dirty="0"/>
              <a:t>All are variations of </a:t>
            </a:r>
            <a:r>
              <a:rPr lang="en-US" sz="1300" b="1" dirty="0"/>
              <a:t>Make Payment</a:t>
            </a:r>
            <a:r>
              <a:rPr lang="en-US" sz="1300" dirty="0"/>
              <a:t>.</a:t>
            </a:r>
          </a:p>
          <a:p>
            <a:pPr marL="0" indent="0">
              <a:buNone/>
            </a:pPr>
            <a:r>
              <a:rPr lang="en-NP" sz="1300" b="1" dirty="0"/>
              <a:t>🔸 </a:t>
            </a:r>
            <a:r>
              <a:rPr lang="en-US" sz="1300" b="1" dirty="0"/>
              <a:t>Variants have different flows, rules, or constraints</a:t>
            </a:r>
          </a:p>
          <a:p>
            <a:r>
              <a:rPr lang="en-US" sz="1300" dirty="0"/>
              <a:t>Example:</a:t>
            </a:r>
          </a:p>
          <a:p>
            <a:r>
              <a:rPr lang="en-US" sz="1300" dirty="0"/>
              <a:t>Login via Password</a:t>
            </a:r>
          </a:p>
          <a:p>
            <a:r>
              <a:rPr lang="en-US" sz="1300" dirty="0"/>
              <a:t>Login via OTP</a:t>
            </a:r>
          </a:p>
          <a:p>
            <a:r>
              <a:rPr lang="en-US" sz="1300" dirty="0"/>
              <a:t>Login via Social Media</a:t>
            </a:r>
          </a:p>
          <a:p>
            <a:pPr marL="0" indent="0">
              <a:buNone/>
            </a:pPr>
            <a:r>
              <a:rPr lang="en-NP" sz="1300" b="1" dirty="0"/>
              <a:t>🔸 </a:t>
            </a:r>
            <a:r>
              <a:rPr lang="en-US" sz="1300" b="1" dirty="0"/>
              <a:t>Variant behavior could be independent use cases</a:t>
            </a:r>
          </a:p>
          <a:p>
            <a:r>
              <a:rPr lang="en-US" sz="1300" dirty="0"/>
              <a:t>Not optional (like extend), but alternative ways of accomplishing a task.</a:t>
            </a:r>
          </a:p>
          <a:p>
            <a:endParaRPr lang="en-US" sz="1300" dirty="0"/>
          </a:p>
          <a:p>
            <a:endParaRPr lang="en-NP" sz="1300" dirty="0"/>
          </a:p>
        </p:txBody>
      </p:sp>
    </p:spTree>
    <p:extLst>
      <p:ext uri="{BB962C8B-B14F-4D97-AF65-F5344CB8AC3E}">
        <p14:creationId xmlns:p14="http://schemas.microsoft.com/office/powerpoint/2010/main" val="2955566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7A46-7440-7365-CCEE-E5A782BCA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P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CD54D4-CFC2-6A5F-AE1A-A349AA0C1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6853325"/>
              </p:ext>
            </p:extLst>
          </p:nvPr>
        </p:nvGraphicFramePr>
        <p:xfrm>
          <a:off x="685800" y="2033542"/>
          <a:ext cx="10515600" cy="2286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363852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329040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676893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46125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When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87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include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Reusable mandatory sub-flow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steps needed in multiple use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dashed arrow with «include»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859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extend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 / conditional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Additional behavior only sometimes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dashed arrow with «extend»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601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generalization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Alternative ways of same parent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Variants with unique 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solid line with closed arrow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779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336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1D3B-615C-8FCA-BBCE-183087295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Examples of Use Case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88200-9F8E-35B7-F500-BA275ADF4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1608" cy="4667250"/>
          </a:xfrm>
        </p:spPr>
        <p:txBody>
          <a:bodyPr numCol="4">
            <a:normAutofit/>
          </a:bodyPr>
          <a:lstStyle/>
          <a:p>
            <a:r>
              <a:rPr lang="en-NP" b="1" dirty="0"/>
              <a:t>🔹 </a:t>
            </a:r>
            <a:r>
              <a:rPr lang="en-US" b="1" dirty="0"/>
              <a:t>Order Delivery</a:t>
            </a:r>
          </a:p>
          <a:p>
            <a:r>
              <a:rPr lang="en-US" dirty="0"/>
              <a:t>Deliver Order (parent)</a:t>
            </a:r>
          </a:p>
          <a:p>
            <a:pPr lvl="1"/>
            <a:r>
              <a:rPr lang="en-US" dirty="0"/>
              <a:t>Home Delivery</a:t>
            </a:r>
          </a:p>
          <a:p>
            <a:pPr lvl="1"/>
            <a:r>
              <a:rPr lang="en-US" dirty="0"/>
              <a:t>Pickup Point Delivery</a:t>
            </a:r>
          </a:p>
          <a:p>
            <a:pPr lvl="1"/>
            <a:r>
              <a:rPr lang="en-US" dirty="0"/>
              <a:t>Drone Delivery</a:t>
            </a:r>
          </a:p>
          <a:p>
            <a:endParaRPr lang="en-NP" b="1" dirty="0"/>
          </a:p>
          <a:p>
            <a:endParaRPr lang="en-US" b="1" dirty="0"/>
          </a:p>
          <a:p>
            <a:r>
              <a:rPr lang="en-US" b="1" dirty="0"/>
              <a:t>Authentication</a:t>
            </a:r>
          </a:p>
          <a:p>
            <a:r>
              <a:rPr lang="en-US" dirty="0"/>
              <a:t>Authenticate User (parent)</a:t>
            </a:r>
          </a:p>
          <a:p>
            <a:pPr lvl="1"/>
            <a:r>
              <a:rPr lang="en-US" dirty="0"/>
              <a:t>Login with Password</a:t>
            </a:r>
          </a:p>
          <a:p>
            <a:pPr lvl="1"/>
            <a:r>
              <a:rPr lang="en-US" dirty="0"/>
              <a:t>Login with OTP</a:t>
            </a:r>
          </a:p>
          <a:p>
            <a:pPr lvl="1"/>
            <a:r>
              <a:rPr lang="en-US" dirty="0"/>
              <a:t>Login with Biometrics</a:t>
            </a:r>
          </a:p>
          <a:p>
            <a:pPr marL="0" indent="0">
              <a:buNone/>
            </a:pPr>
            <a:endParaRPr lang="en-NP" b="1" dirty="0"/>
          </a:p>
          <a:p>
            <a:endParaRPr lang="en-NP" b="1" dirty="0"/>
          </a:p>
          <a:p>
            <a:endParaRPr lang="en-NP" b="1" dirty="0"/>
          </a:p>
          <a:p>
            <a:r>
              <a:rPr lang="en-US" b="1" dirty="0"/>
              <a:t>Search</a:t>
            </a:r>
          </a:p>
          <a:p>
            <a:r>
              <a:rPr lang="en-US" dirty="0"/>
              <a:t>Search Items (parent)</a:t>
            </a:r>
          </a:p>
          <a:p>
            <a:pPr lvl="1"/>
            <a:r>
              <a:rPr lang="en-US" dirty="0"/>
              <a:t>Search By Name</a:t>
            </a:r>
          </a:p>
          <a:p>
            <a:pPr lvl="1"/>
            <a:r>
              <a:rPr lang="en-US" dirty="0"/>
              <a:t>Search By Category</a:t>
            </a:r>
          </a:p>
          <a:p>
            <a:pPr lvl="1"/>
            <a:r>
              <a:rPr lang="en-US" dirty="0"/>
              <a:t>Search By Filters</a:t>
            </a:r>
          </a:p>
          <a:p>
            <a:endParaRPr lang="en-NP" b="1" dirty="0"/>
          </a:p>
          <a:p>
            <a:r>
              <a:rPr lang="en-US" b="1" dirty="0"/>
              <a:t>Booking</a:t>
            </a:r>
          </a:p>
          <a:p>
            <a:r>
              <a:rPr lang="en-US" dirty="0"/>
              <a:t>Book Ticket (parent)</a:t>
            </a:r>
          </a:p>
          <a:p>
            <a:pPr lvl="1"/>
            <a:r>
              <a:rPr lang="en-US" dirty="0"/>
              <a:t>Book Flight</a:t>
            </a:r>
          </a:p>
          <a:p>
            <a:pPr lvl="1"/>
            <a:r>
              <a:rPr lang="en-US" dirty="0"/>
              <a:t>Book Bus</a:t>
            </a:r>
          </a:p>
          <a:p>
            <a:pPr lvl="1"/>
            <a:r>
              <a:rPr lang="en-US" dirty="0"/>
              <a:t>Book Train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864400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37725-1DC7-45C3-6E2C-518BA9FC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4.1.5 Actor as Classes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14425-F46E-9B24-681D-297BED48A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Actors as Classes Concept</a:t>
            </a:r>
          </a:p>
          <a:p>
            <a:r>
              <a:rPr lang="en-US" b="1" dirty="0"/>
              <a:t>Why Treat Actors as Classes?</a:t>
            </a:r>
          </a:p>
          <a:p>
            <a:pPr lvl="1"/>
            <a:r>
              <a:rPr lang="en-US" dirty="0"/>
              <a:t>Actors have attributes (ID, role, permissions)</a:t>
            </a:r>
          </a:p>
          <a:p>
            <a:pPr lvl="1"/>
            <a:r>
              <a:rPr lang="en-US" dirty="0"/>
              <a:t>Actors exhibit behaviors (log in, request services)</a:t>
            </a:r>
          </a:p>
          <a:p>
            <a:r>
              <a:rPr lang="en-US" b="1" dirty="0"/>
              <a:t>Benefits</a:t>
            </a:r>
          </a:p>
          <a:p>
            <a:pPr lvl="1"/>
            <a:r>
              <a:rPr lang="en-US" dirty="0"/>
              <a:t>Helps build </a:t>
            </a:r>
            <a:r>
              <a:rPr lang="en-US" b="1" dirty="0"/>
              <a:t>domain models</a:t>
            </a:r>
            <a:endParaRPr lang="en-US" dirty="0"/>
          </a:p>
          <a:p>
            <a:pPr lvl="1"/>
            <a:r>
              <a:rPr lang="en-US" dirty="0"/>
              <a:t>Clarifies responsibilities</a:t>
            </a:r>
          </a:p>
          <a:p>
            <a:pPr lvl="1"/>
            <a:r>
              <a:rPr lang="en-US" dirty="0"/>
              <a:t>Ensures consistent system interaction</a:t>
            </a:r>
          </a:p>
          <a:p>
            <a:r>
              <a:rPr lang="en-US" b="1" dirty="0"/>
              <a:t>Example</a:t>
            </a:r>
          </a:p>
          <a:p>
            <a:r>
              <a:rPr lang="en-US" b="1" dirty="0"/>
              <a:t>Actor: Customer</a:t>
            </a:r>
          </a:p>
          <a:p>
            <a:pPr lvl="1"/>
            <a:r>
              <a:rPr lang="en-US" dirty="0"/>
              <a:t>Attributes: </a:t>
            </a:r>
            <a:r>
              <a:rPr lang="en-US" dirty="0" err="1"/>
              <a:t>CustomerID</a:t>
            </a:r>
            <a:r>
              <a:rPr lang="en-US" dirty="0"/>
              <a:t>, Name, Email</a:t>
            </a:r>
          </a:p>
          <a:p>
            <a:pPr lvl="1"/>
            <a:r>
              <a:rPr lang="en-US" dirty="0"/>
              <a:t>Methods: Login(), </a:t>
            </a:r>
            <a:r>
              <a:rPr lang="en-US" dirty="0" err="1"/>
              <a:t>ViewItems</a:t>
            </a:r>
            <a:r>
              <a:rPr lang="en-US" dirty="0"/>
              <a:t>(), </a:t>
            </a:r>
            <a:r>
              <a:rPr lang="en-US" dirty="0" err="1"/>
              <a:t>PlaceOrder</a:t>
            </a:r>
            <a:r>
              <a:rPr lang="en-US" dirty="0"/>
              <a:t>()</a:t>
            </a:r>
          </a:p>
          <a:p>
            <a:endParaRPr lang="en-US" dirty="0"/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94856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1326</Words>
  <Application>Microsoft Macintosh PowerPoint</Application>
  <PresentationFormat>Widescreen</PresentationFormat>
  <Paragraphs>256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Unit 4: Object-Oriented Modeling Using UML Notation</vt:lpstr>
      <vt:lpstr>Unit 4: Object-Oriented Modeling Using UML Notation</vt:lpstr>
      <vt:lpstr>4.1 Elaborating Use Cases and Use Case Diagram</vt:lpstr>
      <vt:lpstr>PowerPoint Presentation</vt:lpstr>
      <vt:lpstr>Use Case Diagram Overview</vt:lpstr>
      <vt:lpstr>Example Use Case Diagram</vt:lpstr>
      <vt:lpstr>4.1.1 Use Cases for Reuse</vt:lpstr>
      <vt:lpstr>Assumptions for Include/Extend</vt:lpstr>
      <vt:lpstr>Relationship</vt:lpstr>
      <vt:lpstr>Rules and line style</vt:lpstr>
      <vt:lpstr>4.1.2 Use Cases and Components</vt:lpstr>
      <vt:lpstr>Benefits of Mapping Use Cases to Components</vt:lpstr>
      <vt:lpstr>Mapping Use Cases to Components</vt:lpstr>
      <vt:lpstr>Step 4: Create a Mapping Table or Diagram A simple table, matrix, or UML component diagram shows the mapping. Example: Mapping Matrix </vt:lpstr>
      <vt:lpstr>4.1.3 Separation of Variant Behavior</vt:lpstr>
      <vt:lpstr>How to Model Variant Behavior</vt:lpstr>
      <vt:lpstr>4.1.4 Generalization</vt:lpstr>
      <vt:lpstr>When to Use Generalization?</vt:lpstr>
      <vt:lpstr>PowerPoint Presentation</vt:lpstr>
      <vt:lpstr>Real-World Examples of Use Case Generalization</vt:lpstr>
      <vt:lpstr>4.1.5 Actor as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 Gautam</dc:creator>
  <cp:lastModifiedBy>Ram  Gautam</cp:lastModifiedBy>
  <cp:revision>15</cp:revision>
  <dcterms:created xsi:type="dcterms:W3CDTF">2025-11-17T16:34:13Z</dcterms:created>
  <dcterms:modified xsi:type="dcterms:W3CDTF">2025-11-21T03:15:34Z</dcterms:modified>
</cp:coreProperties>
</file>