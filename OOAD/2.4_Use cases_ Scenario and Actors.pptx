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9"/>
  </p:normalViewPr>
  <p:slideViewPr>
    <p:cSldViewPr snapToGrid="0">
      <p:cViewPr varScale="1">
        <p:scale>
          <a:sx n="145" d="100"/>
          <a:sy n="145" d="100"/>
        </p:scale>
        <p:origin x="11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EBE08-17EA-08E0-4CD8-9E9ECDA3AD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A380FFE0-CBEC-A394-EFF4-64639BE5C8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FB3D7FBD-58BD-1229-4034-6B63607C9A7E}"/>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5" name="Footer Placeholder 4">
            <a:extLst>
              <a:ext uri="{FF2B5EF4-FFF2-40B4-BE49-F238E27FC236}">
                <a16:creationId xmlns:a16="http://schemas.microsoft.com/office/drawing/2014/main" id="{5D8FC307-C839-5F9B-3F9C-9503A31290BC}"/>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17682A14-8192-BD0C-1DE4-D50182A81BBB}"/>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71575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9304-151E-7BB8-2688-CA5EFC567433}"/>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E04DA04F-24F2-F9FF-72D2-C6239DCF70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1D90BBC-3B65-EE22-D816-40DB1D203F83}"/>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5" name="Footer Placeholder 4">
            <a:extLst>
              <a:ext uri="{FF2B5EF4-FFF2-40B4-BE49-F238E27FC236}">
                <a16:creationId xmlns:a16="http://schemas.microsoft.com/office/drawing/2014/main" id="{DE7E2F19-ECC0-D7EC-40D1-AEBE3F9834C8}"/>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3B49F719-AC17-1551-9660-BE796E498995}"/>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3412542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672E-7835-7F94-366C-DC5C0E35B5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9D0047EC-7A06-1105-3F60-3034BB2757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31E5D3-61D4-10C8-A021-D0A75AE60CC9}"/>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5" name="Footer Placeholder 4">
            <a:extLst>
              <a:ext uri="{FF2B5EF4-FFF2-40B4-BE49-F238E27FC236}">
                <a16:creationId xmlns:a16="http://schemas.microsoft.com/office/drawing/2014/main" id="{2DCD7BA3-C448-9B00-8BE3-DA0BD6E81C4B}"/>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739CE92E-1CEB-779E-B029-4D37E98CD8E3}"/>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3223391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86A7-8B30-7B23-A2C6-330B0B7A1AE2}"/>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79B6D573-F313-0BE0-28F5-B2BFCE2A10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5B61187A-08E1-D8B9-BDAF-55A408A386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44697A42-97F2-32A0-B71F-7200ADDFBF6A}"/>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6" name="Footer Placeholder 5">
            <a:extLst>
              <a:ext uri="{FF2B5EF4-FFF2-40B4-BE49-F238E27FC236}">
                <a16:creationId xmlns:a16="http://schemas.microsoft.com/office/drawing/2014/main" id="{06DA0EAE-896C-4DCD-B277-5D232CE8F8B8}"/>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0C200EA-67FF-2183-0D48-CDD0BBB801B2}"/>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3478054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2B1B-C476-4679-ED37-D5C60D0A3C19}"/>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6820AC1F-9A59-E0A7-345D-833E660882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886C95-50B3-0BB6-4D2A-BFB3EFBB35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4E71A877-6562-AA03-734E-672096A1EF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EDE0EA-36C2-EB30-2218-A5812E48AE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85D92426-3781-675F-E1AC-8D7CBA6A74F2}"/>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8" name="Footer Placeholder 7">
            <a:extLst>
              <a:ext uri="{FF2B5EF4-FFF2-40B4-BE49-F238E27FC236}">
                <a16:creationId xmlns:a16="http://schemas.microsoft.com/office/drawing/2014/main" id="{138CB111-3DCC-AAD5-732F-AD4E0A674DCE}"/>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2C17B273-A335-9D67-A885-582CEF9746DA}"/>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298947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6744-F918-3CAD-08BF-902EA4461C5D}"/>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7CB55235-86F1-053C-F4F9-6A72F20D55C1}"/>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4" name="Footer Placeholder 3">
            <a:extLst>
              <a:ext uri="{FF2B5EF4-FFF2-40B4-BE49-F238E27FC236}">
                <a16:creationId xmlns:a16="http://schemas.microsoft.com/office/drawing/2014/main" id="{2F19A63F-9EED-0B61-98B9-2F4EA78D3995}"/>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AFF645A5-5C9A-514D-7D41-802699F2C4B7}"/>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2711586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51705-ABE0-D20B-0D5C-078CA6AE27EC}"/>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3" name="Footer Placeholder 2">
            <a:extLst>
              <a:ext uri="{FF2B5EF4-FFF2-40B4-BE49-F238E27FC236}">
                <a16:creationId xmlns:a16="http://schemas.microsoft.com/office/drawing/2014/main" id="{36FF277E-AC85-E28E-1080-B25C9828C1CF}"/>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7FEFC0A3-01A6-F630-4E77-653B7706DA11}"/>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747760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F5764-8B66-9A6B-A328-B39FA605EB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5AD3C9B0-02F7-E999-4DDB-4009710BF5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C698B811-2E83-C788-8B92-038778528B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A21C8-4502-8E07-10A9-7A6384482BA8}"/>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6" name="Footer Placeholder 5">
            <a:extLst>
              <a:ext uri="{FF2B5EF4-FFF2-40B4-BE49-F238E27FC236}">
                <a16:creationId xmlns:a16="http://schemas.microsoft.com/office/drawing/2014/main" id="{331BA974-3207-45F8-4A99-63CC9E1E4A77}"/>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E8A4F322-9666-6D83-E2B3-2E44713D0A84}"/>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213949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6DB5A-726B-411D-3EAE-FAE23CE259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C3DE30F4-4EA7-03A0-9587-13008DD2B6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6DFBF889-D30B-B682-36AE-BF4308CEB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AC8FE-CB20-5BFC-C032-F098EDD80E25}"/>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6" name="Footer Placeholder 5">
            <a:extLst>
              <a:ext uri="{FF2B5EF4-FFF2-40B4-BE49-F238E27FC236}">
                <a16:creationId xmlns:a16="http://schemas.microsoft.com/office/drawing/2014/main" id="{C6690276-55CA-B84C-B28B-62D44D4DDA98}"/>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BFF226F3-0E70-4782-11C8-9F3B16E36E40}"/>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320379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66FB-70D0-97F8-3E71-DEEBF6674332}"/>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C336F19B-159D-929B-6BC5-0FE2819AFC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00A85E2C-B2F6-C769-D0AB-8CE20D624911}"/>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5" name="Footer Placeholder 4">
            <a:extLst>
              <a:ext uri="{FF2B5EF4-FFF2-40B4-BE49-F238E27FC236}">
                <a16:creationId xmlns:a16="http://schemas.microsoft.com/office/drawing/2014/main" id="{9916F0BF-61BB-3D2A-6CCF-5E30193EF738}"/>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B49822B8-21E6-4431-2AA7-EF6FE60250FD}"/>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245567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13D712-BB1A-D660-87BB-7E344C269E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8304FA93-D841-6991-1581-BF752D780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B5A91E67-2DD4-0016-667C-7FD61184EEFD}"/>
              </a:ext>
            </a:extLst>
          </p:cNvPr>
          <p:cNvSpPr>
            <a:spLocks noGrp="1"/>
          </p:cNvSpPr>
          <p:nvPr>
            <p:ph type="dt" sz="half" idx="10"/>
          </p:nvPr>
        </p:nvSpPr>
        <p:spPr/>
        <p:txBody>
          <a:bodyPr/>
          <a:lstStyle/>
          <a:p>
            <a:fld id="{37B04A7F-0764-654C-A4FE-A8B748FB76DF}" type="datetimeFigureOut">
              <a:rPr lang="en-NP" smtClean="0"/>
              <a:t>29/10/2025</a:t>
            </a:fld>
            <a:endParaRPr lang="en-NP"/>
          </a:p>
        </p:txBody>
      </p:sp>
      <p:sp>
        <p:nvSpPr>
          <p:cNvPr id="5" name="Footer Placeholder 4">
            <a:extLst>
              <a:ext uri="{FF2B5EF4-FFF2-40B4-BE49-F238E27FC236}">
                <a16:creationId xmlns:a16="http://schemas.microsoft.com/office/drawing/2014/main" id="{A5B350EF-8976-8DBC-ADB7-D4AB136CF175}"/>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ADC7C01B-CE69-2D88-6161-6DC000CA68DB}"/>
              </a:ext>
            </a:extLst>
          </p:cNvPr>
          <p:cNvSpPr>
            <a:spLocks noGrp="1"/>
          </p:cNvSpPr>
          <p:nvPr>
            <p:ph type="sldNum" sz="quarter" idx="12"/>
          </p:nvPr>
        </p:nvSpPr>
        <p:spPr/>
        <p:txBody>
          <a:bodyPr/>
          <a:lstStyle/>
          <a:p>
            <a:fld id="{12C0D533-F6C3-BE4E-9910-D83B574DE181}" type="slidenum">
              <a:rPr lang="en-NP" smtClean="0"/>
              <a:t>‹#›</a:t>
            </a:fld>
            <a:endParaRPr lang="en-NP"/>
          </a:p>
        </p:txBody>
      </p:sp>
    </p:spTree>
    <p:extLst>
      <p:ext uri="{BB962C8B-B14F-4D97-AF65-F5344CB8AC3E}">
        <p14:creationId xmlns:p14="http://schemas.microsoft.com/office/powerpoint/2010/main" val="3069205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C8EE8-750C-B117-740D-DE7FA3D6A1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6ED0ECA5-3945-8781-5A42-8497E42A0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D1B034C9-B4DB-011B-0E5F-D190769BD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B04A7F-0764-654C-A4FE-A8B748FB76DF}" type="datetimeFigureOut">
              <a:rPr lang="en-NP" smtClean="0"/>
              <a:t>29/10/2025</a:t>
            </a:fld>
            <a:endParaRPr lang="en-NP"/>
          </a:p>
        </p:txBody>
      </p:sp>
      <p:sp>
        <p:nvSpPr>
          <p:cNvPr id="5" name="Footer Placeholder 4">
            <a:extLst>
              <a:ext uri="{FF2B5EF4-FFF2-40B4-BE49-F238E27FC236}">
                <a16:creationId xmlns:a16="http://schemas.microsoft.com/office/drawing/2014/main" id="{AFE63D37-F5A7-7A8E-BC28-5172A0AB29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P"/>
          </a:p>
        </p:txBody>
      </p:sp>
      <p:sp>
        <p:nvSpPr>
          <p:cNvPr id="6" name="Slide Number Placeholder 5">
            <a:extLst>
              <a:ext uri="{FF2B5EF4-FFF2-40B4-BE49-F238E27FC236}">
                <a16:creationId xmlns:a16="http://schemas.microsoft.com/office/drawing/2014/main" id="{418C973B-042D-DC9D-F656-06E4281C7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C0D533-F6C3-BE4E-9910-D83B574DE181}" type="slidenum">
              <a:rPr lang="en-NP" smtClean="0"/>
              <a:t>‹#›</a:t>
            </a:fld>
            <a:endParaRPr lang="en-NP"/>
          </a:p>
        </p:txBody>
      </p:sp>
    </p:spTree>
    <p:extLst>
      <p:ext uri="{BB962C8B-B14F-4D97-AF65-F5344CB8AC3E}">
        <p14:creationId xmlns:p14="http://schemas.microsoft.com/office/powerpoint/2010/main" val="4214418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0E72-19B9-4974-C8B8-D6FF0D5D2AE5}"/>
              </a:ext>
            </a:extLst>
          </p:cNvPr>
          <p:cNvSpPr>
            <a:spLocks noGrp="1"/>
          </p:cNvSpPr>
          <p:nvPr>
            <p:ph type="ctrTitle"/>
          </p:nvPr>
        </p:nvSpPr>
        <p:spPr/>
        <p:txBody>
          <a:bodyPr/>
          <a:lstStyle/>
          <a:p>
            <a:r>
              <a:rPr lang="en-NP" dirty="0"/>
              <a:t>2.4 Use cases, Scenario and Actors</a:t>
            </a:r>
          </a:p>
        </p:txBody>
      </p:sp>
      <p:sp>
        <p:nvSpPr>
          <p:cNvPr id="3" name="Subtitle 2">
            <a:extLst>
              <a:ext uri="{FF2B5EF4-FFF2-40B4-BE49-F238E27FC236}">
                <a16:creationId xmlns:a16="http://schemas.microsoft.com/office/drawing/2014/main" id="{B2C59319-FB16-6A85-F61D-B95F3CBFA540}"/>
              </a:ext>
            </a:extLst>
          </p:cNvPr>
          <p:cNvSpPr>
            <a:spLocks noGrp="1"/>
          </p:cNvSpPr>
          <p:nvPr>
            <p:ph type="subTitle" idx="1"/>
          </p:nvPr>
        </p:nvSpPr>
        <p:spPr/>
        <p:txBody>
          <a:bodyPr/>
          <a:lstStyle/>
          <a:p>
            <a:endParaRPr lang="en-NP"/>
          </a:p>
        </p:txBody>
      </p:sp>
    </p:spTree>
    <p:extLst>
      <p:ext uri="{BB962C8B-B14F-4D97-AF65-F5344CB8AC3E}">
        <p14:creationId xmlns:p14="http://schemas.microsoft.com/office/powerpoint/2010/main" val="3848408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A8A0E-96EE-E3FE-F862-59951B3285BD}"/>
              </a:ext>
            </a:extLst>
          </p:cNvPr>
          <p:cNvSpPr>
            <a:spLocks noGrp="1"/>
          </p:cNvSpPr>
          <p:nvPr>
            <p:ph type="title"/>
          </p:nvPr>
        </p:nvSpPr>
        <p:spPr>
          <a:xfrm>
            <a:off x="521677" y="206864"/>
            <a:ext cx="10515600" cy="1325563"/>
          </a:xfrm>
        </p:spPr>
        <p:txBody>
          <a:bodyPr/>
          <a:lstStyle/>
          <a:p>
            <a:r>
              <a:rPr lang="en-NP" dirty="0"/>
              <a:t>Use Case Diagram</a:t>
            </a:r>
          </a:p>
        </p:txBody>
      </p:sp>
      <p:sp>
        <p:nvSpPr>
          <p:cNvPr id="3" name="Content Placeholder 2">
            <a:extLst>
              <a:ext uri="{FF2B5EF4-FFF2-40B4-BE49-F238E27FC236}">
                <a16:creationId xmlns:a16="http://schemas.microsoft.com/office/drawing/2014/main" id="{BDBD8CD3-6201-90FD-E43F-AD6E7E28AE78}"/>
              </a:ext>
            </a:extLst>
          </p:cNvPr>
          <p:cNvSpPr>
            <a:spLocks noGrp="1"/>
          </p:cNvSpPr>
          <p:nvPr>
            <p:ph idx="1"/>
          </p:nvPr>
        </p:nvSpPr>
        <p:spPr>
          <a:xfrm>
            <a:off x="521677" y="1183786"/>
            <a:ext cx="10714892" cy="5269767"/>
          </a:xfrm>
        </p:spPr>
        <p:txBody>
          <a:bodyPr>
            <a:normAutofit fontScale="92500" lnSpcReduction="10000"/>
          </a:bodyPr>
          <a:lstStyle/>
          <a:p>
            <a:r>
              <a:rPr lang="en-NP" dirty="0"/>
              <a:t>A use case digram pressents interations between the system and other systems or with the system’s user, who are called actors.</a:t>
            </a:r>
          </a:p>
          <a:p>
            <a:r>
              <a:rPr lang="en-NP" b="1" dirty="0"/>
              <a:t>Actors</a:t>
            </a:r>
            <a:r>
              <a:rPr lang="en-NP" dirty="0"/>
              <a:t> represent roles which may include human users , external hardware or other systems.</a:t>
            </a:r>
          </a:p>
          <a:p>
            <a:r>
              <a:rPr lang="en-NP" dirty="0"/>
              <a:t>It describes who will use the sysem and the ways in which a user will interact with the system to achieve a certain goal.</a:t>
            </a:r>
          </a:p>
          <a:p>
            <a:r>
              <a:rPr lang="en-NP" dirty="0"/>
              <a:t>Usually, the diagram is accompanied by a narrative description, which details , in a structure manner, the steps of each interaction.</a:t>
            </a:r>
          </a:p>
          <a:p>
            <a:r>
              <a:rPr lang="en-US" b="1" dirty="0"/>
              <a:t>Use Case</a:t>
            </a:r>
            <a:r>
              <a:rPr lang="en-US" dirty="0"/>
              <a:t>: Describes how users (actors) interact with the system to achieve goals.</a:t>
            </a:r>
          </a:p>
          <a:p>
            <a:r>
              <a:rPr lang="en-US" b="1" dirty="0"/>
              <a:t>Scenario: </a:t>
            </a:r>
            <a:r>
              <a:rPr lang="en-US" dirty="0"/>
              <a:t>A specific instance or flow within a use case.</a:t>
            </a:r>
          </a:p>
          <a:p>
            <a:r>
              <a:rPr lang="en-US" b="1" dirty="0"/>
              <a:t>Actors: </a:t>
            </a:r>
            <a:r>
              <a:rPr lang="en-US" dirty="0"/>
              <a:t>External entities interacting with the system (users, devices, other systems).</a:t>
            </a:r>
            <a:endParaRPr lang="en-NP" dirty="0"/>
          </a:p>
          <a:p>
            <a:endParaRPr lang="en-NP" dirty="0"/>
          </a:p>
          <a:p>
            <a:endParaRPr lang="en-NP" dirty="0"/>
          </a:p>
          <a:p>
            <a:pPr lvl="1"/>
            <a:endParaRPr lang="en-NP" dirty="0"/>
          </a:p>
          <a:p>
            <a:endParaRPr lang="en-NP" dirty="0"/>
          </a:p>
        </p:txBody>
      </p:sp>
    </p:spTree>
    <p:extLst>
      <p:ext uri="{BB962C8B-B14F-4D97-AF65-F5344CB8AC3E}">
        <p14:creationId xmlns:p14="http://schemas.microsoft.com/office/powerpoint/2010/main" val="1510105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BFC08-30A3-8D6D-4140-6F6FBB36262C}"/>
              </a:ext>
            </a:extLst>
          </p:cNvPr>
          <p:cNvSpPr>
            <a:spLocks noGrp="1"/>
          </p:cNvSpPr>
          <p:nvPr>
            <p:ph type="title"/>
          </p:nvPr>
        </p:nvSpPr>
        <p:spPr/>
        <p:txBody>
          <a:bodyPr/>
          <a:lstStyle/>
          <a:p>
            <a:endParaRPr lang="en-NP"/>
          </a:p>
        </p:txBody>
      </p:sp>
      <p:sp>
        <p:nvSpPr>
          <p:cNvPr id="3" name="Content Placeholder 2">
            <a:extLst>
              <a:ext uri="{FF2B5EF4-FFF2-40B4-BE49-F238E27FC236}">
                <a16:creationId xmlns:a16="http://schemas.microsoft.com/office/drawing/2014/main" id="{485C5135-59E2-FB26-128C-CFA94BA0D9EF}"/>
              </a:ext>
            </a:extLst>
          </p:cNvPr>
          <p:cNvSpPr>
            <a:spLocks noGrp="1"/>
          </p:cNvSpPr>
          <p:nvPr>
            <p:ph idx="1"/>
          </p:nvPr>
        </p:nvSpPr>
        <p:spPr/>
        <p:txBody>
          <a:bodyPr>
            <a:normAutofit fontScale="92500" lnSpcReduction="10000"/>
          </a:bodyPr>
          <a:lstStyle/>
          <a:p>
            <a:r>
              <a:rPr lang="en-NP" dirty="0"/>
              <a:t>The use case technique enables creating an initial description of the uers’ needs, so that later on the system’s behaviour can be defined by using other means, for example sequence or collaboaration diagrams.</a:t>
            </a:r>
          </a:p>
          <a:p>
            <a:r>
              <a:rPr lang="en-US" b="1" dirty="0"/>
              <a:t>Actors:</a:t>
            </a:r>
            <a:endParaRPr lang="en-US" dirty="0"/>
          </a:p>
          <a:p>
            <a:pPr lvl="1"/>
            <a:r>
              <a:rPr lang="en-US" dirty="0"/>
              <a:t>Librarian</a:t>
            </a:r>
          </a:p>
          <a:p>
            <a:pPr lvl="1"/>
            <a:r>
              <a:rPr lang="en-US" dirty="0"/>
              <a:t>Member (Student/Faculty)</a:t>
            </a:r>
          </a:p>
          <a:p>
            <a:pPr lvl="1"/>
            <a:r>
              <a:rPr lang="en-US" dirty="0"/>
              <a:t>System Database</a:t>
            </a:r>
          </a:p>
          <a:p>
            <a:r>
              <a:rPr lang="en-US" i="1" dirty="0"/>
              <a:t>Example:</a:t>
            </a:r>
            <a:br>
              <a:rPr lang="en-US" dirty="0"/>
            </a:br>
            <a:r>
              <a:rPr lang="en-US" b="1" dirty="0"/>
              <a:t>Use Case </a:t>
            </a:r>
            <a:r>
              <a:rPr lang="en-US" dirty="0"/>
              <a:t>– </a:t>
            </a:r>
            <a:r>
              <a:rPr lang="en-US" i="1" dirty="0"/>
              <a:t>Borrow Book</a:t>
            </a:r>
            <a:br>
              <a:rPr lang="en-US" dirty="0"/>
            </a:br>
            <a:r>
              <a:rPr lang="en-US" b="1" dirty="0"/>
              <a:t>Actor </a:t>
            </a:r>
            <a:r>
              <a:rPr lang="en-US" dirty="0"/>
              <a:t>– </a:t>
            </a:r>
            <a:r>
              <a:rPr lang="en-US" i="1" dirty="0"/>
              <a:t>Member</a:t>
            </a:r>
            <a:br>
              <a:rPr lang="en-US" dirty="0"/>
            </a:br>
            <a:r>
              <a:rPr lang="en-US" b="1" dirty="0"/>
              <a:t>Scenario </a:t>
            </a:r>
            <a:r>
              <a:rPr lang="en-US" dirty="0"/>
              <a:t>– Member searches book → system checks availability → book is issued.</a:t>
            </a:r>
          </a:p>
          <a:p>
            <a:endParaRPr lang="en-NP" dirty="0"/>
          </a:p>
        </p:txBody>
      </p:sp>
    </p:spTree>
    <p:extLst>
      <p:ext uri="{BB962C8B-B14F-4D97-AF65-F5344CB8AC3E}">
        <p14:creationId xmlns:p14="http://schemas.microsoft.com/office/powerpoint/2010/main" val="3493720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313B8-348B-5DC2-5A16-145EAF6DF8F0}"/>
              </a:ext>
            </a:extLst>
          </p:cNvPr>
          <p:cNvSpPr>
            <a:spLocks noGrp="1"/>
          </p:cNvSpPr>
          <p:nvPr>
            <p:ph type="title"/>
          </p:nvPr>
        </p:nvSpPr>
        <p:spPr/>
        <p:txBody>
          <a:bodyPr/>
          <a:lstStyle/>
          <a:p>
            <a:r>
              <a:rPr lang="en-NP" dirty="0"/>
              <a:t>Use Case Eample (LMS)</a:t>
            </a:r>
          </a:p>
        </p:txBody>
      </p:sp>
      <p:sp>
        <p:nvSpPr>
          <p:cNvPr id="3" name="Content Placeholder 2">
            <a:extLst>
              <a:ext uri="{FF2B5EF4-FFF2-40B4-BE49-F238E27FC236}">
                <a16:creationId xmlns:a16="http://schemas.microsoft.com/office/drawing/2014/main" id="{5954E085-0617-99C4-755B-473D29E2C4BA}"/>
              </a:ext>
            </a:extLst>
          </p:cNvPr>
          <p:cNvSpPr>
            <a:spLocks noGrp="1"/>
          </p:cNvSpPr>
          <p:nvPr>
            <p:ph idx="1"/>
          </p:nvPr>
        </p:nvSpPr>
        <p:spPr/>
        <p:txBody>
          <a:bodyPr>
            <a:normAutofit fontScale="92500" lnSpcReduction="20000"/>
          </a:bodyPr>
          <a:lstStyle/>
          <a:p>
            <a:r>
              <a:rPr lang="en-US" b="1" dirty="0"/>
              <a:t>Use Case:</a:t>
            </a:r>
            <a:r>
              <a:rPr lang="en-US" dirty="0"/>
              <a:t> Issue Book</a:t>
            </a:r>
          </a:p>
          <a:p>
            <a:r>
              <a:rPr lang="en-US" b="1" dirty="0"/>
              <a:t>Actors:</a:t>
            </a:r>
            <a:endParaRPr lang="en-US" dirty="0"/>
          </a:p>
          <a:p>
            <a:pPr lvl="1"/>
            <a:r>
              <a:rPr lang="en-US" dirty="0"/>
              <a:t>Member</a:t>
            </a:r>
          </a:p>
          <a:p>
            <a:pPr lvl="1"/>
            <a:r>
              <a:rPr lang="en-US" dirty="0"/>
              <a:t>Librarian</a:t>
            </a:r>
          </a:p>
          <a:p>
            <a:pPr lvl="1"/>
            <a:r>
              <a:rPr lang="en-US" dirty="0"/>
              <a:t>System</a:t>
            </a:r>
          </a:p>
          <a:p>
            <a:r>
              <a:rPr lang="en-US" b="1" dirty="0"/>
              <a:t>Main Flow:</a:t>
            </a:r>
            <a:endParaRPr lang="en-US" dirty="0"/>
          </a:p>
          <a:p>
            <a:pPr lvl="1"/>
            <a:r>
              <a:rPr lang="en-US" dirty="0"/>
              <a:t>Member requests book.</a:t>
            </a:r>
          </a:p>
          <a:p>
            <a:pPr lvl="1"/>
            <a:r>
              <a:rPr lang="en-US" dirty="0"/>
              <a:t>System verifies availability.</a:t>
            </a:r>
          </a:p>
          <a:p>
            <a:pPr lvl="1"/>
            <a:r>
              <a:rPr lang="en-US" dirty="0"/>
              <a:t>Librarian issues the book.</a:t>
            </a:r>
          </a:p>
          <a:p>
            <a:pPr lvl="1"/>
            <a:r>
              <a:rPr lang="en-US" dirty="0"/>
              <a:t>System updates inventory.</a:t>
            </a:r>
          </a:p>
          <a:p>
            <a:r>
              <a:rPr lang="en-US" b="1" dirty="0"/>
              <a:t>Alternate Flow:</a:t>
            </a:r>
            <a:br>
              <a:rPr lang="en-US" dirty="0"/>
            </a:br>
            <a:r>
              <a:rPr lang="en-US" dirty="0"/>
              <a:t>If unavailable → system adds member to reservation list.</a:t>
            </a:r>
          </a:p>
          <a:p>
            <a:endParaRPr lang="en-NP" dirty="0"/>
          </a:p>
        </p:txBody>
      </p:sp>
    </p:spTree>
    <p:extLst>
      <p:ext uri="{BB962C8B-B14F-4D97-AF65-F5344CB8AC3E}">
        <p14:creationId xmlns:p14="http://schemas.microsoft.com/office/powerpoint/2010/main" val="3145717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268</Words>
  <Application>Microsoft Macintosh PowerPoint</Application>
  <PresentationFormat>Widescreen</PresentationFormat>
  <Paragraphs>29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2.4 Use cases, Scenario and Actors</vt:lpstr>
      <vt:lpstr>Use Case Diagram</vt:lpstr>
      <vt:lpstr>PowerPoint Presentation</vt:lpstr>
      <vt:lpstr>Use Case Eample (LMS)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  Gautam</dc:creator>
  <cp:lastModifiedBy>Ram  Gautam</cp:lastModifiedBy>
  <cp:revision>2</cp:revision>
  <dcterms:created xsi:type="dcterms:W3CDTF">2025-10-28T23:48:54Z</dcterms:created>
  <dcterms:modified xsi:type="dcterms:W3CDTF">2025-10-29T00:44:32Z</dcterms:modified>
</cp:coreProperties>
</file>