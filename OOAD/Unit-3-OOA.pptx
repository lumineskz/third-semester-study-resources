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9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C3C1-BA6E-680D-18F9-F4397053C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402FB-8028-841A-ABBC-3F0F70AF5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55634-8BA6-7DCC-87E4-3A9C5901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E3F7B-54B7-CCD4-88FD-EC63EC9E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5F777-C874-22E2-ACE5-5A93C0A4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3153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F8FC-34DB-7411-7F20-0AD30A3E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2B01C-A039-6C4B-C21F-CF62ADC82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51FF-F5A8-A68E-4CE0-5475D693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D16CB-2839-3B27-F046-48935FAF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03493-16F0-47C7-7407-DFDD0EE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0095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9A59-1FA0-0507-119D-096FA870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25EE3-786D-57DC-10B0-BF251EE51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B3AA-9596-96D3-8576-4AA26E30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F7965-8F64-D6A7-90D3-2B7101F2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5F831-26E7-41A7-F12D-19B4013A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4067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E5EE-1661-B148-5D80-7E39F519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DFA1-3FD3-22DD-5134-64F3AF764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0E035-053C-2AFE-7E2E-6117A24CF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0F33F-7983-B830-6409-D9697421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4384E-4356-43EA-3EF0-49647ACF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4A2B3-967D-E5B2-271D-F7C7701F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5829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95B7-7713-1F49-EB35-6666D7D3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BD26A-4FED-3050-9CE8-2F010B47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0645A-E53F-E7F0-08C9-FA2FE4912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571A13-8A12-162F-CA6E-386BA3BCD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29DE5-7316-8853-40AD-64CA9C0F0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4FBD7-CF1F-5072-3A31-7715B56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4F144-66F3-C6B8-83A5-43358EB3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420B1-3278-D014-ACA4-98DAEF2F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7130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8FC1-EE7A-B5ED-E949-C06B4186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1AC2E-5A6E-D82E-4838-B242C011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BEC8E-C544-5ECA-8BE0-8F695DA9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E625C-96E5-181B-00E8-FEBE7B7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09733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CC864-0306-CACD-DA99-3F2213DB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D36004-A196-3DDE-4C5F-A19815EC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DAF3-1B30-F276-B296-B3A5AFD8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212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24B9-ACFF-A8E9-D45E-F752898C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1D8E-1663-5A60-2239-3423DC8AB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2704B-CDDC-045B-87B2-5AF81CCB4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499E-D32E-FF3B-7FDC-E04DD9D5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0EC34-59E1-1A19-A045-ADC5D5E6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F31C7-3DA4-4050-D9B9-67B0F7D3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4595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C565-31CA-8211-6D26-3FDFB6D0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CD898-E2E0-58E6-5CE6-9F17EA0C1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87165-2E7D-9C0A-35F3-449A065A6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FA99A-CE67-72ED-56C8-8A07DF48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C5AC4-5465-E3AE-24F2-BCC4A413B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A9917-4F5A-AB0D-F410-B485AF08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4887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CAE5-1196-6BD6-425D-2CD46BFF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39A6C-A7F3-8D87-2DE5-A857DD83B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31B66-E44E-082B-633F-CC374CE9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628B-0D9D-4974-9606-D26150EC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70E7C-918C-20E0-A4FC-9CE1EC2F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438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523F48-51B3-B7C2-E345-2E61F9B9A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DB55E-4E1E-A595-4D5B-635F17BD5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60D9-E8CC-C4BA-5FDC-6BDE3D80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530E3-1F9C-1840-5D62-FB667293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5E805-D071-5E05-0B0B-07842F07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8271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283D4-657B-4C8C-06FB-64F26FD0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D1AE9-2163-EFF0-E775-A14F947BC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BAEE2-83D5-C1FA-BF38-90568B654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75894-23C2-6A49-80AB-862CA0CE5D86}" type="datetimeFigureOut">
              <a:rPr lang="en-NP" smtClean="0"/>
              <a:t>11/25/2025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9CC91-0DDB-A117-5EFD-8F51CCF01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AABB8-D535-7799-43EA-B1DCA2955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B9236-EFAF-A948-AAB7-E5C100C5417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3220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BDE2-6888-C3DB-CACF-171BB77C8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P" dirty="0"/>
              <a:t>Unit 3: Object oriented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FB931-B9C2-87DF-D6A4-DEA489441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and create domain and concept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key classes, their attributes, and methods.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object behavior using state and activity diagrams.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8242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77AD-B13B-ABD4-6638-F8381C54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197" y="11295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Introduction to Object-Oriented Analysis (OOA)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4D4D3-F88D-343A-5F82-DA723400D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27" y="1438518"/>
            <a:ext cx="10783198" cy="5419482"/>
          </a:xfrm>
        </p:spPr>
        <p:txBody>
          <a:bodyPr>
            <a:noAutofit/>
          </a:bodyPr>
          <a:lstStyle/>
          <a:p>
            <a:r>
              <a:rPr lang="en-US" sz="3200" b="1" dirty="0"/>
              <a:t>What is Object-Oriented Analysis?</a:t>
            </a:r>
            <a:endParaRPr lang="en-US" sz="3200" dirty="0"/>
          </a:p>
          <a:p>
            <a:pPr lvl="1"/>
            <a:r>
              <a:rPr lang="en-US" sz="3200" dirty="0"/>
              <a:t>A process of discovering and defining the core requirements of a system from an object-oriented perspective.</a:t>
            </a:r>
          </a:p>
          <a:p>
            <a:pPr lvl="1"/>
            <a:r>
              <a:rPr lang="en-US" sz="3200" dirty="0"/>
              <a:t>Focuses on </a:t>
            </a:r>
            <a:r>
              <a:rPr lang="en-US" sz="3200" b="1" dirty="0"/>
              <a:t>what</a:t>
            </a:r>
            <a:r>
              <a:rPr lang="en-US" sz="3200" dirty="0"/>
              <a:t> the system must do, not </a:t>
            </a:r>
            <a:r>
              <a:rPr lang="en-US" sz="3200" b="1" dirty="0"/>
              <a:t>how</a:t>
            </a:r>
            <a:r>
              <a:rPr lang="en-US" sz="3200" dirty="0"/>
              <a:t> it will do it (which is design).</a:t>
            </a:r>
          </a:p>
          <a:p>
            <a:pPr lvl="1"/>
            <a:r>
              <a:rPr lang="en-US" sz="3200" dirty="0"/>
              <a:t>The goal is to create a model of the problem domain.</a:t>
            </a:r>
          </a:p>
          <a:p>
            <a:r>
              <a:rPr lang="en-US" sz="3200" b="1" dirty="0"/>
              <a:t>Core Outputs of OOA:</a:t>
            </a:r>
            <a:endParaRPr lang="en-US" sz="3200" dirty="0"/>
          </a:p>
          <a:p>
            <a:pPr lvl="1"/>
            <a:r>
              <a:rPr lang="en-US" sz="3200" dirty="0"/>
              <a:t>A </a:t>
            </a:r>
            <a:r>
              <a:rPr lang="en-US" sz="3200" b="1" dirty="0"/>
              <a:t>Conceptual Model</a:t>
            </a:r>
            <a:r>
              <a:rPr lang="en-US" sz="3200" dirty="0"/>
              <a:t> of the system.</a:t>
            </a:r>
          </a:p>
          <a:p>
            <a:pPr lvl="1"/>
            <a:r>
              <a:rPr lang="en-US" sz="3200" dirty="0"/>
              <a:t>Identified </a:t>
            </a:r>
            <a:r>
              <a:rPr lang="en-US" sz="3200" b="1" dirty="0"/>
              <a:t>Classes &amp; Objects</a:t>
            </a:r>
            <a:r>
              <a:rPr lang="en-US" sz="3200" dirty="0"/>
              <a:t>.</a:t>
            </a:r>
          </a:p>
          <a:p>
            <a:pPr lvl="1"/>
            <a:r>
              <a:rPr lang="en-US" sz="3200" dirty="0"/>
              <a:t>Defined </a:t>
            </a:r>
            <a:r>
              <a:rPr lang="en-US" sz="3200" b="1" dirty="0"/>
              <a:t>Interactions</a:t>
            </a:r>
            <a:r>
              <a:rPr lang="en-US" sz="3200" dirty="0"/>
              <a:t> and </a:t>
            </a:r>
            <a:r>
              <a:rPr lang="en-US" sz="3200" b="1" dirty="0"/>
              <a:t>Behaviors</a:t>
            </a:r>
            <a:r>
              <a:rPr lang="en-US" sz="3200" dirty="0"/>
              <a:t>.</a:t>
            </a:r>
          </a:p>
          <a:p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31064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9068-C6F0-8D99-EE1D-4AE81C14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63" y="22527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3.1 Domain Modeling &amp; Concept Modeling Relationships</a:t>
            </a:r>
            <a:br>
              <a:rPr lang="en-US" b="1" dirty="0"/>
            </a:b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BA11C-3EB1-B224-8C35-0541EAC36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1" y="1376979"/>
            <a:ext cx="10972800" cy="525574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Domain Model</a:t>
            </a:r>
            <a:endParaRPr lang="en-US" dirty="0"/>
          </a:p>
          <a:p>
            <a:r>
              <a:rPr lang="en-US" dirty="0"/>
              <a:t>A visual representation of real-world concepts and their relationships within a problem domain.</a:t>
            </a:r>
          </a:p>
          <a:p>
            <a:r>
              <a:rPr lang="en-US" dirty="0"/>
              <a:t>A domain model is a visual representation of conceptual classes or real-situation objects in a domain.</a:t>
            </a:r>
          </a:p>
          <a:p>
            <a:r>
              <a:rPr lang="en-US" dirty="0"/>
              <a:t>It is a </a:t>
            </a:r>
            <a:r>
              <a:rPr lang="en-US" b="1" dirty="0"/>
              <a:t>conceptual model</a:t>
            </a:r>
            <a:r>
              <a:rPr lang="en-US" dirty="0"/>
              <a:t>, not a software component model.</a:t>
            </a:r>
          </a:p>
          <a:p>
            <a:r>
              <a:rPr lang="en-US" dirty="0"/>
              <a:t>Often presented as a set of </a:t>
            </a:r>
            <a:r>
              <a:rPr lang="en-US" b="1" dirty="0"/>
              <a:t>class diagrams</a:t>
            </a:r>
            <a:r>
              <a:rPr lang="en-US" dirty="0"/>
              <a:t> (without methods).</a:t>
            </a:r>
          </a:p>
          <a:p>
            <a:r>
              <a:rPr lang="en-US" dirty="0"/>
              <a:t>“Domain Model” means a representation of real-situation conceptual classes, not of software objects.</a:t>
            </a:r>
          </a:p>
          <a:p>
            <a:r>
              <a:rPr lang="en-US" dirty="0"/>
              <a:t> The term does not mean a set of diagrams describing software classes, the domain layer of a software architecture, or software objects with responsibilities.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8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D582-4C38-1B05-EFB6-F6C7F28B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18255"/>
            <a:ext cx="10515600" cy="896145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NP" dirty="0"/>
              <a:t>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57047-5E65-3CDE-4D7E-8551D0697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106" y="1040317"/>
            <a:ext cx="11156576" cy="538199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Purpose:</a:t>
            </a:r>
            <a:endParaRPr lang="en-US" dirty="0"/>
          </a:p>
          <a:p>
            <a:pPr lvl="1"/>
            <a:r>
              <a:rPr lang="en-US" dirty="0"/>
              <a:t>To establish a common vocabulary between developers and domain experts.</a:t>
            </a:r>
          </a:p>
          <a:p>
            <a:pPr lvl="1"/>
            <a:r>
              <a:rPr lang="en-US" dirty="0"/>
              <a:t>To identify the key entities ("things") in the system and how they are connected.</a:t>
            </a:r>
          </a:p>
          <a:p>
            <a:r>
              <a:rPr lang="en-US" i="1" dirty="0"/>
              <a:t>provides a</a:t>
            </a:r>
            <a:endParaRPr lang="en-US" dirty="0"/>
          </a:p>
          <a:p>
            <a:pPr lvl="1"/>
            <a:r>
              <a:rPr lang="en-US" i="1" dirty="0"/>
              <a:t>conceptual perspective. It may show:</a:t>
            </a:r>
            <a:endParaRPr lang="en-US" dirty="0"/>
          </a:p>
          <a:p>
            <a:pPr lvl="1"/>
            <a:r>
              <a:rPr lang="en-US" i="1" dirty="0"/>
              <a:t>■ domain objects or conceptual classes</a:t>
            </a:r>
            <a:endParaRPr lang="en-US" dirty="0"/>
          </a:p>
          <a:p>
            <a:pPr lvl="1"/>
            <a:r>
              <a:rPr lang="en-US" i="1" dirty="0"/>
              <a:t>■ associations between conceptual classes</a:t>
            </a:r>
            <a:endParaRPr lang="en-US" dirty="0"/>
          </a:p>
          <a:p>
            <a:pPr lvl="1"/>
            <a:r>
              <a:rPr lang="en-US" i="1" dirty="0"/>
              <a:t>■ attributes of conceptual classes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Example Domain: Library System</a:t>
            </a:r>
            <a:endParaRPr lang="en-US" dirty="0"/>
          </a:p>
          <a:p>
            <a:r>
              <a:rPr lang="en-US" dirty="0"/>
              <a:t>Concepts: Book, Member, Librarian, Loan, Reservation</a:t>
            </a:r>
          </a:p>
          <a:p>
            <a:r>
              <a:rPr lang="en-US" dirty="0"/>
              <a:t>Relationships: A Member </a:t>
            </a:r>
            <a:r>
              <a:rPr lang="en-US" i="1" dirty="0"/>
              <a:t>borrows</a:t>
            </a:r>
            <a:r>
              <a:rPr lang="en-US" dirty="0"/>
              <a:t> a Book. A Book </a:t>
            </a:r>
            <a:r>
              <a:rPr lang="en-US" i="1" dirty="0"/>
              <a:t>can have</a:t>
            </a:r>
            <a:r>
              <a:rPr lang="en-US" dirty="0"/>
              <a:t> a Reservation.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31277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DBABFC-1388-BE12-D10C-33C0ADD18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2715" y="-46855"/>
            <a:ext cx="6456037" cy="69048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CCB98D-04C8-B4BA-EA07-45E7E1151C52}"/>
              </a:ext>
            </a:extLst>
          </p:cNvPr>
          <p:cNvSpPr txBox="1"/>
          <p:nvPr/>
        </p:nvSpPr>
        <p:spPr>
          <a:xfrm>
            <a:off x="0" y="175847"/>
            <a:ext cx="641714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Business Rules &amp; Constraints</a:t>
            </a:r>
          </a:p>
          <a:p>
            <a:r>
              <a:rPr lang="en-US" b="1" dirty="0"/>
              <a:t>1. Membership Rules</a:t>
            </a:r>
          </a:p>
          <a:p>
            <a:r>
              <a:rPr lang="en-US" dirty="0"/>
              <a:t>A member can have maximum 5 active loans at a time</a:t>
            </a:r>
          </a:p>
          <a:p>
            <a:r>
              <a:rPr lang="en-US" dirty="0"/>
              <a:t>Members must have unique email and </a:t>
            </a:r>
            <a:r>
              <a:rPr lang="en-US" dirty="0" err="1"/>
              <a:t>memberID</a:t>
            </a:r>
            <a:endParaRPr lang="en-US" dirty="0"/>
          </a:p>
          <a:p>
            <a:r>
              <a:rPr lang="en-US" dirty="0"/>
              <a:t>Member status must be "Active" to borrow books</a:t>
            </a:r>
          </a:p>
          <a:p>
            <a:endParaRPr lang="en-US" b="1" dirty="0"/>
          </a:p>
          <a:p>
            <a:r>
              <a:rPr lang="en-US" b="1" dirty="0"/>
              <a:t>2. Loan Rules</a:t>
            </a:r>
          </a:p>
          <a:p>
            <a:r>
              <a:rPr lang="en-US" dirty="0"/>
              <a:t>Loan duration: 14 days</a:t>
            </a:r>
          </a:p>
          <a:p>
            <a:r>
              <a:rPr lang="en-US" dirty="0"/>
              <a:t>Maximum renewals: 2 times</a:t>
            </a:r>
          </a:p>
          <a:p>
            <a:r>
              <a:rPr lang="en-US" dirty="0"/>
              <a:t>Fine calculation: $0.50 per day overdue</a:t>
            </a:r>
          </a:p>
          <a:p>
            <a:endParaRPr lang="en-US" b="1" dirty="0"/>
          </a:p>
          <a:p>
            <a:r>
              <a:rPr lang="en-US" b="1" dirty="0"/>
              <a:t>3. Reservation Rules</a:t>
            </a:r>
          </a:p>
          <a:p>
            <a:r>
              <a:rPr lang="en-US" dirty="0"/>
              <a:t>A book can have only one active reservation at a time</a:t>
            </a:r>
          </a:p>
          <a:p>
            <a:r>
              <a:rPr lang="en-US" dirty="0"/>
              <a:t>Reservation expires after 3 days if not fulfilled</a:t>
            </a:r>
          </a:p>
          <a:p>
            <a:r>
              <a:rPr lang="en-US" dirty="0"/>
              <a:t>A member can have maximum 3 active reservations</a:t>
            </a:r>
          </a:p>
          <a:p>
            <a:endParaRPr lang="en-US" b="1" dirty="0"/>
          </a:p>
          <a:p>
            <a:r>
              <a:rPr lang="en-US" b="1" dirty="0"/>
              <a:t>4. Book Rules</a:t>
            </a:r>
          </a:p>
          <a:p>
            <a:r>
              <a:rPr lang="en-US" dirty="0"/>
              <a:t>A book can be loaned only if </a:t>
            </a:r>
            <a:r>
              <a:rPr lang="en-US" dirty="0" err="1"/>
              <a:t>isAvailable</a:t>
            </a:r>
            <a:r>
              <a:rPr lang="en-US" dirty="0"/>
              <a:t> = true</a:t>
            </a:r>
          </a:p>
          <a:p>
            <a:r>
              <a:rPr lang="en-US" dirty="0"/>
              <a:t>Books with reservations must be held for the reserving member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628869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C0C0-C7E3-534C-9021-C774531C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Identifying Classes, Attributes, and Methods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07AA2-8F49-0228-F95C-0D60532E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learn how to identify </a:t>
            </a:r>
            <a:r>
              <a:rPr lang="en-US" b="1" dirty="0"/>
              <a:t>key classes</a:t>
            </a:r>
            <a:r>
              <a:rPr lang="en-US" dirty="0"/>
              <a:t> from system requirements.</a:t>
            </a:r>
          </a:p>
          <a:p>
            <a:r>
              <a:rPr lang="en-US" dirty="0"/>
              <a:t>To define </a:t>
            </a:r>
            <a:r>
              <a:rPr lang="en-US" b="1" dirty="0"/>
              <a:t>attributes</a:t>
            </a:r>
            <a:r>
              <a:rPr lang="en-US" dirty="0"/>
              <a:t> and </a:t>
            </a:r>
            <a:r>
              <a:rPr lang="en-US" b="1" dirty="0"/>
              <a:t>methods</a:t>
            </a:r>
            <a:r>
              <a:rPr lang="en-US" dirty="0"/>
              <a:t> for each class.</a:t>
            </a:r>
          </a:p>
          <a:p>
            <a:r>
              <a:rPr lang="en-US" dirty="0"/>
              <a:t>To prepare for </a:t>
            </a:r>
            <a:r>
              <a:rPr lang="en-US" b="1" dirty="0"/>
              <a:t>Object Modeling</a:t>
            </a:r>
            <a:r>
              <a:rPr lang="en-US" dirty="0"/>
              <a:t> and </a:t>
            </a:r>
            <a:r>
              <a:rPr lang="en-US" b="1" dirty="0"/>
              <a:t>Design</a:t>
            </a:r>
            <a:r>
              <a:rPr lang="en-US" dirty="0"/>
              <a:t> stages.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90098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C9A4-A1B2-6719-5A33-C9428C18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Classes?</a:t>
            </a:r>
            <a:endParaRPr lang="en-NP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38924D-D711-E186-7FF7-9DB44DDD6E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492" y="2454103"/>
            <a:ext cx="927295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NP" altLang="en-NP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a </a:t>
            </a:r>
            <a:r>
              <a:rPr kumimoji="0" lang="en-NP" altLang="en-NP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concept, entity, or object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in the problem domain.</a:t>
            </a:r>
            <a:r>
              <a:rPr kumimoji="0" lang="en-US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endParaRPr kumimoji="0" lang="en-NP" altLang="en-NP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defines a </a:t>
            </a:r>
            <a:r>
              <a:rPr kumimoji="0" lang="en-NP" altLang="en-NP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blueprint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for objects.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NP" altLang="en-NP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NP" altLang="en-NP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NP" altLang="en-NP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  <a:endParaRPr kumimoji="0" lang="en-NP" altLang="en-NP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P" altLang="en-N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01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C102-25DC-EF09-22EB-4B78FCAB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Classes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A491C-1D1F-1FD5-021B-F49E573B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Techniques: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Noun Identification Technique</a:t>
            </a:r>
            <a:endParaRPr lang="en-US" dirty="0"/>
          </a:p>
          <a:p>
            <a:pPr lvl="1"/>
            <a:r>
              <a:rPr lang="en-US" dirty="0"/>
              <a:t>Extract nouns from requirement statements.</a:t>
            </a:r>
          </a:p>
          <a:p>
            <a:pPr lvl="1"/>
            <a:r>
              <a:rPr lang="en-US" dirty="0"/>
              <a:t>Example: “A </a:t>
            </a:r>
            <a:r>
              <a:rPr lang="en-US" i="1" dirty="0"/>
              <a:t>student</a:t>
            </a:r>
            <a:r>
              <a:rPr lang="en-US" dirty="0"/>
              <a:t> borrows a </a:t>
            </a:r>
            <a:r>
              <a:rPr lang="en-US" i="1" dirty="0"/>
              <a:t>book</a:t>
            </a:r>
            <a:r>
              <a:rPr lang="en-US" dirty="0"/>
              <a:t> from the </a:t>
            </a:r>
            <a:r>
              <a:rPr lang="en-US" i="1" dirty="0"/>
              <a:t>library</a:t>
            </a:r>
            <a:r>
              <a:rPr lang="en-US" dirty="0"/>
              <a:t>.”</a:t>
            </a:r>
            <a:br>
              <a:rPr lang="en-US" dirty="0"/>
            </a:br>
            <a:r>
              <a:rPr lang="en-US" dirty="0"/>
              <a:t>→ Possible classes: </a:t>
            </a:r>
            <a:r>
              <a:rPr lang="en-US" i="1" dirty="0"/>
              <a:t>Student, Book, Library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Domain Knowledge</a:t>
            </a:r>
            <a:endParaRPr lang="en-US" dirty="0"/>
          </a:p>
          <a:p>
            <a:pPr lvl="1"/>
            <a:r>
              <a:rPr lang="en-US" dirty="0"/>
              <a:t>Use existing understanding of the problem domain.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Use Case Analysis</a:t>
            </a:r>
            <a:endParaRPr lang="en-US" dirty="0"/>
          </a:p>
          <a:p>
            <a:pPr lvl="1"/>
            <a:r>
              <a:rPr lang="en-US" dirty="0"/>
              <a:t>Derive classes based on </a:t>
            </a:r>
            <a:r>
              <a:rPr lang="en-US" b="1" dirty="0"/>
              <a:t>actors</a:t>
            </a:r>
            <a:r>
              <a:rPr lang="en-US" dirty="0"/>
              <a:t> and </a:t>
            </a:r>
            <a:r>
              <a:rPr lang="en-US" b="1" dirty="0"/>
              <a:t>use case interactions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59868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8933-E775-F098-2294-F275BE19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  <a:endParaRPr lang="en-NP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B5759F-E265-7917-4DE0-FD2F3A545D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846" y="1804406"/>
            <a:ext cx="998513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NP" altLang="en-N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Properties or data members that describe the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NP" altLang="en-N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the </a:t>
            </a:r>
            <a:r>
              <a:rPr kumimoji="0" lang="en-NP" altLang="en-N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en-NP" altLang="en-N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an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NP" altLang="en-NP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Student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name, rollNo, email</a:t>
            </a:r>
            <a:endParaRPr kumimoji="0" lang="en-NP" altLang="en-NP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Book</a:t>
            </a:r>
            <a:r>
              <a:rPr kumimoji="0" lang="en-NP" altLang="en-NP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title, author, ISBN</a:t>
            </a:r>
            <a:endParaRPr kumimoji="0" lang="en-NP" altLang="en-NP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P" altLang="en-N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409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EE78-82B6-2114-67A4-7DE4623E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Attributes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3B09-8182-3867-25A7-22126F5A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 for </a:t>
            </a:r>
            <a:r>
              <a:rPr lang="en-US" b="1" dirty="0"/>
              <a:t>descriptive words</a:t>
            </a:r>
            <a:r>
              <a:rPr lang="en-US" dirty="0"/>
              <a:t> (adjectives or possessive nouns).</a:t>
            </a:r>
          </a:p>
          <a:p>
            <a:pPr lvl="1"/>
            <a:r>
              <a:rPr lang="en-US" dirty="0"/>
              <a:t>“A book has a title and author.”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</a:t>
            </a:r>
            <a:r>
              <a:rPr lang="en-US" b="1" dirty="0"/>
              <a:t>data items</a:t>
            </a:r>
            <a:r>
              <a:rPr lang="en-US" dirty="0"/>
              <a:t> that need to be recorded.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Ensure attributes are </a:t>
            </a:r>
            <a:r>
              <a:rPr lang="en-US" b="1" dirty="0"/>
              <a:t>relevant and unique</a:t>
            </a:r>
            <a:r>
              <a:rPr lang="en-US" dirty="0"/>
              <a:t> to the class.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13923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989A-00CE-97D7-CD49-0FF096F4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FB3E-33C7-A05B-668C-F8D576FE9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/>
              <a:t>Definition:</a:t>
            </a:r>
            <a:r>
              <a:rPr lang="en-US" sz="3600" dirty="0"/>
              <a:t> Actions or behaviors that a class can perform.</a:t>
            </a:r>
          </a:p>
          <a:p>
            <a:r>
              <a:rPr lang="en-US" sz="3600" dirty="0"/>
              <a:t>Represent </a:t>
            </a:r>
            <a:r>
              <a:rPr lang="en-US" sz="3600" b="1" dirty="0"/>
              <a:t>operations</a:t>
            </a:r>
            <a:r>
              <a:rPr lang="en-US" sz="3600" dirty="0"/>
              <a:t> or </a:t>
            </a:r>
            <a:r>
              <a:rPr lang="en-US" sz="3600" b="1" dirty="0"/>
              <a:t>services</a:t>
            </a:r>
            <a:r>
              <a:rPr lang="en-US" sz="3600" dirty="0"/>
              <a:t> offered by the class.</a:t>
            </a:r>
          </a:p>
          <a:p>
            <a:r>
              <a:rPr lang="en-US" sz="3600" b="1" dirty="0"/>
              <a:t>Example:</a:t>
            </a:r>
            <a:endParaRPr lang="en-US" sz="3600" dirty="0"/>
          </a:p>
          <a:p>
            <a:pPr lvl="1"/>
            <a:r>
              <a:rPr lang="en-US" sz="3600" dirty="0"/>
              <a:t>Student: register(), </a:t>
            </a:r>
            <a:r>
              <a:rPr lang="en-US" sz="3600" dirty="0" err="1"/>
              <a:t>borrowBook</a:t>
            </a:r>
            <a:r>
              <a:rPr lang="en-US" sz="3600" dirty="0"/>
              <a:t>()</a:t>
            </a:r>
          </a:p>
          <a:p>
            <a:pPr lvl="1"/>
            <a:r>
              <a:rPr lang="en-US" sz="3600" dirty="0"/>
              <a:t>Book: issue(), </a:t>
            </a:r>
            <a:r>
              <a:rPr lang="en-US" sz="3600" dirty="0" err="1"/>
              <a:t>returnBook</a:t>
            </a:r>
            <a:r>
              <a:rPr lang="en-US" sz="3600" dirty="0"/>
              <a:t>()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77372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8B1B-2A2C-1C60-97BC-1A2585C7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Methods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21CB-81D5-1891-8927-E39F9141B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Approach:</a:t>
            </a:r>
            <a:endParaRPr lang="en-US" dirty="0"/>
          </a:p>
          <a:p>
            <a:r>
              <a:rPr lang="en-US" sz="3200" dirty="0"/>
              <a:t>Analyze </a:t>
            </a:r>
            <a:r>
              <a:rPr lang="en-US" sz="3200" b="1" dirty="0"/>
              <a:t>verbs</a:t>
            </a:r>
            <a:r>
              <a:rPr lang="en-US" sz="3200" dirty="0"/>
              <a:t> in use cases or requirements.</a:t>
            </a:r>
          </a:p>
          <a:p>
            <a:pPr lvl="1"/>
            <a:r>
              <a:rPr lang="en-US" sz="3200" dirty="0"/>
              <a:t>“A student </a:t>
            </a:r>
            <a:r>
              <a:rPr lang="en-US" sz="3200" i="1" dirty="0"/>
              <a:t>borrows</a:t>
            </a:r>
            <a:r>
              <a:rPr lang="en-US" sz="3200" dirty="0"/>
              <a:t> a book.” → </a:t>
            </a:r>
            <a:r>
              <a:rPr lang="en-US" sz="3200" dirty="0" err="1"/>
              <a:t>borrowBook</a:t>
            </a:r>
            <a:r>
              <a:rPr lang="en-US" sz="3200" dirty="0"/>
              <a:t>()</a:t>
            </a:r>
          </a:p>
          <a:p>
            <a:r>
              <a:rPr lang="en-US" sz="3200" dirty="0"/>
              <a:t>Associate actions with the </a:t>
            </a:r>
            <a:r>
              <a:rPr lang="en-US" sz="3200" b="1" dirty="0"/>
              <a:t>appropriate class</a:t>
            </a:r>
            <a:r>
              <a:rPr lang="en-US" sz="3200" dirty="0"/>
              <a:t>.</a:t>
            </a:r>
          </a:p>
          <a:p>
            <a:r>
              <a:rPr lang="en-US" sz="3200" dirty="0"/>
              <a:t>Include only </a:t>
            </a:r>
            <a:r>
              <a:rPr lang="en-US" sz="3200" b="1" dirty="0"/>
              <a:t>relevant operations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6921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67753-189D-3F19-2581-976321211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Example – Library Management System</a:t>
            </a:r>
            <a:endParaRPr lang="en-NP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7BD3B2-8D0F-BD41-CBB7-8E08A9F96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79551"/>
              </p:ext>
            </p:extLst>
          </p:nvPr>
        </p:nvGraphicFramePr>
        <p:xfrm>
          <a:off x="401318" y="1924820"/>
          <a:ext cx="7894957" cy="4584316"/>
        </p:xfrm>
        <a:graphic>
          <a:graphicData uri="http://schemas.openxmlformats.org/drawingml/2006/table">
            <a:tbl>
              <a:tblPr/>
              <a:tblGrid>
                <a:gridCol w="1780309">
                  <a:extLst>
                    <a:ext uri="{9D8B030D-6E8A-4147-A177-3AD203B41FA5}">
                      <a16:colId xmlns:a16="http://schemas.microsoft.com/office/drawing/2014/main" val="997896932"/>
                    </a:ext>
                  </a:extLst>
                </a:gridCol>
                <a:gridCol w="3339018">
                  <a:extLst>
                    <a:ext uri="{9D8B030D-6E8A-4147-A177-3AD203B41FA5}">
                      <a16:colId xmlns:a16="http://schemas.microsoft.com/office/drawing/2014/main" val="964849354"/>
                    </a:ext>
                  </a:extLst>
                </a:gridCol>
                <a:gridCol w="2775630">
                  <a:extLst>
                    <a:ext uri="{9D8B030D-6E8A-4147-A177-3AD203B41FA5}">
                      <a16:colId xmlns:a16="http://schemas.microsoft.com/office/drawing/2014/main" val="2810449051"/>
                    </a:ext>
                  </a:extLst>
                </a:gridCol>
              </a:tblGrid>
              <a:tr h="75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Class</a:t>
                      </a:r>
                      <a:endParaRPr lang="en-US" sz="2400"/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Attributes</a:t>
                      </a:r>
                      <a:endParaRPr lang="en-US" sz="2400"/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Methods</a:t>
                      </a:r>
                      <a:endParaRPr lang="en-US" sz="2400"/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114975"/>
                  </a:ext>
                </a:extLst>
              </a:tr>
              <a:tr h="1275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Student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studentId, name, email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borrowBook</a:t>
                      </a:r>
                      <a:r>
                        <a:rPr lang="en-US" sz="2400" dirty="0"/>
                        <a:t>(), </a:t>
                      </a:r>
                      <a:r>
                        <a:rPr lang="en-US" sz="2400" dirty="0" err="1"/>
                        <a:t>returnBook</a:t>
                      </a:r>
                      <a:r>
                        <a:rPr lang="en-US" sz="2400" dirty="0"/>
                        <a:t>()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420684"/>
                  </a:ext>
                </a:extLst>
              </a:tr>
              <a:tr h="1275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Book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bookId, title, author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issue(), updateStatus()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708569"/>
                  </a:ext>
                </a:extLst>
              </a:tr>
              <a:tr h="1275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Librarian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librarianId</a:t>
                      </a:r>
                      <a:r>
                        <a:rPr lang="en-US" sz="2400" dirty="0"/>
                        <a:t>, name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manageBook</a:t>
                      </a:r>
                      <a:r>
                        <a:rPr lang="en-US" sz="2400" dirty="0"/>
                        <a:t>(), </a:t>
                      </a:r>
                      <a:r>
                        <a:rPr lang="en-US" sz="2400" dirty="0" err="1"/>
                        <a:t>issueBook</a:t>
                      </a:r>
                      <a:r>
                        <a:rPr lang="en-US" sz="2400" dirty="0"/>
                        <a:t>()</a:t>
                      </a:r>
                    </a:p>
                  </a:txBody>
                  <a:tcPr marL="157624" marR="157624" marT="78812" marB="788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25499"/>
                  </a:ext>
                </a:extLst>
              </a:tr>
            </a:tbl>
          </a:graphicData>
        </a:graphic>
      </p:graphicFrame>
      <p:pic>
        <p:nvPicPr>
          <p:cNvPr id="3076" name="Picture 4">
            <a:extLst>
              <a:ext uri="{FF2B5EF4-FFF2-40B4-BE49-F238E27FC236}">
                <a16:creationId xmlns:a16="http://schemas.microsoft.com/office/drawing/2014/main" id="{204287A0-02D9-AE7B-63B8-97D7BB9C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1" y="1924328"/>
            <a:ext cx="4400550" cy="433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899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5DDB-1E63-3D07-B35C-5BC58876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41738-7018-85BA-4DD8-158F16CD5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P" sz="4000" dirty="0"/>
              <a:t>✅ </a:t>
            </a:r>
            <a:r>
              <a:rPr lang="en-US" sz="4000" dirty="0"/>
              <a:t>Keep classes </a:t>
            </a:r>
            <a:r>
              <a:rPr lang="en-US" sz="4000" b="1" dirty="0"/>
              <a:t>focused</a:t>
            </a:r>
            <a:r>
              <a:rPr lang="en-US" sz="4000" dirty="0"/>
              <a:t> (Single Responsibility Principle).</a:t>
            </a:r>
            <a:br>
              <a:rPr lang="en-US" sz="4000" dirty="0"/>
            </a:br>
            <a:r>
              <a:rPr lang="en-NP" sz="4000" dirty="0"/>
              <a:t>✅ </a:t>
            </a:r>
            <a:r>
              <a:rPr lang="en-US" sz="4000" dirty="0"/>
              <a:t>Attributes should be </a:t>
            </a:r>
            <a:r>
              <a:rPr lang="en-US" sz="4000" b="1" dirty="0"/>
              <a:t>relevant and necessary</a:t>
            </a:r>
            <a:r>
              <a:rPr lang="en-US" sz="4000" dirty="0"/>
              <a:t>.</a:t>
            </a:r>
            <a:br>
              <a:rPr lang="en-US" sz="4000" dirty="0"/>
            </a:br>
            <a:r>
              <a:rPr lang="en-NP" sz="4000" dirty="0"/>
              <a:t>✅ </a:t>
            </a:r>
            <a:r>
              <a:rPr lang="en-US" sz="4000" dirty="0"/>
              <a:t>Methods should represent </a:t>
            </a:r>
            <a:r>
              <a:rPr lang="en-US" sz="4000" b="1" dirty="0"/>
              <a:t>clear system actions</a:t>
            </a:r>
            <a:r>
              <a:rPr lang="en-US" sz="4000" dirty="0"/>
              <a:t>.</a:t>
            </a:r>
            <a:br>
              <a:rPr lang="en-US" sz="4000" dirty="0"/>
            </a:br>
            <a:r>
              <a:rPr lang="en-NP" sz="4000" dirty="0"/>
              <a:t>✅ </a:t>
            </a:r>
            <a:r>
              <a:rPr lang="en-US" sz="4000" dirty="0"/>
              <a:t>Use </a:t>
            </a:r>
            <a:r>
              <a:rPr lang="en-US" sz="4000" b="1" dirty="0"/>
              <a:t>consistent naming conventions</a:t>
            </a:r>
            <a:r>
              <a:rPr lang="en-US" sz="4000" dirty="0"/>
              <a:t>.</a:t>
            </a:r>
            <a:endParaRPr lang="en-NP" sz="4000" dirty="0"/>
          </a:p>
        </p:txBody>
      </p:sp>
    </p:spTree>
    <p:extLst>
      <p:ext uri="{BB962C8B-B14F-4D97-AF65-F5344CB8AC3E}">
        <p14:creationId xmlns:p14="http://schemas.microsoft.com/office/powerpoint/2010/main" val="1669544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CE4C-4866-57F6-92B3-5488CAFB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46050"/>
            <a:ext cx="10515600" cy="1325563"/>
          </a:xfrm>
        </p:spPr>
        <p:txBody>
          <a:bodyPr/>
          <a:lstStyle/>
          <a:p>
            <a:r>
              <a:rPr lang="en-US" dirty="0"/>
              <a:t>Activity – Identify Classes from a Use Case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A8D6-138C-1485-04C5-AC93345B4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49" y="1358899"/>
            <a:ext cx="10515599" cy="512762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“A student borrows a book using their ID card and returns it after use.”</a:t>
            </a:r>
          </a:p>
          <a:p>
            <a:r>
              <a:rPr lang="en-US" b="1" dirty="0"/>
              <a:t>Your Task: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potential </a:t>
            </a:r>
            <a:r>
              <a:rPr lang="en-US" b="1" dirty="0"/>
              <a:t>classes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Define </a:t>
            </a:r>
            <a:r>
              <a:rPr lang="en-US" b="1" dirty="0"/>
              <a:t>attributes</a:t>
            </a:r>
            <a:r>
              <a:rPr lang="en-US" dirty="0"/>
              <a:t> and </a:t>
            </a:r>
            <a:r>
              <a:rPr lang="en-US" b="1" dirty="0"/>
              <a:t>methods</a:t>
            </a:r>
            <a:r>
              <a:rPr lang="en-US" dirty="0"/>
              <a:t> for each.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Draw a </a:t>
            </a:r>
            <a:r>
              <a:rPr lang="en-US" b="1" dirty="0"/>
              <a:t>simple class diagram</a:t>
            </a:r>
            <a:r>
              <a:rPr lang="en-US" dirty="0"/>
              <a:t> using </a:t>
            </a:r>
            <a:r>
              <a:rPr lang="en-US" dirty="0" err="1"/>
              <a:t>PlantUML</a:t>
            </a:r>
            <a:r>
              <a:rPr lang="en-US" dirty="0"/>
              <a:t> or UML tool.</a:t>
            </a:r>
          </a:p>
          <a:p>
            <a:r>
              <a:rPr lang="en-US" b="1" dirty="0"/>
              <a:t>Practice Exercise</a:t>
            </a:r>
            <a:br>
              <a:rPr lang="en-US" b="1" dirty="0"/>
            </a:br>
            <a:r>
              <a:rPr lang="en-US" b="1" dirty="0"/>
              <a:t>Scenario:</a:t>
            </a:r>
            <a:br>
              <a:rPr lang="en-US" dirty="0"/>
            </a:br>
            <a:r>
              <a:rPr lang="en-US" dirty="0"/>
              <a:t>In a </a:t>
            </a:r>
            <a:r>
              <a:rPr lang="en-US" i="1" dirty="0"/>
              <a:t>Restaurant Management System</a:t>
            </a:r>
            <a:r>
              <a:rPr lang="en-US" dirty="0"/>
              <a:t>, customers place orders and waiters serve them.</a:t>
            </a:r>
          </a:p>
          <a:p>
            <a:r>
              <a:rPr lang="en-NP" dirty="0"/>
              <a:t>🔹 </a:t>
            </a:r>
            <a:r>
              <a:rPr lang="en-US" dirty="0"/>
              <a:t>Identify at least 3 classes</a:t>
            </a:r>
            <a:br>
              <a:rPr lang="en-US" dirty="0"/>
            </a:br>
            <a:r>
              <a:rPr lang="en-NP" dirty="0"/>
              <a:t>🔹 </a:t>
            </a:r>
            <a:r>
              <a:rPr lang="en-US" dirty="0"/>
              <a:t>Define attributes and methods</a:t>
            </a:r>
            <a:br>
              <a:rPr lang="en-US" dirty="0"/>
            </a:br>
            <a:r>
              <a:rPr lang="en-NP" dirty="0"/>
              <a:t>🔹 </a:t>
            </a:r>
            <a:r>
              <a:rPr lang="en-US" dirty="0"/>
              <a:t>Create a simple UML class diagram</a:t>
            </a:r>
          </a:p>
          <a:p>
            <a:pPr marL="0" indent="0">
              <a:buNone/>
            </a:pPr>
            <a:endParaRPr lang="en-NP" b="1" dirty="0"/>
          </a:p>
        </p:txBody>
      </p:sp>
    </p:spTree>
    <p:extLst>
      <p:ext uri="{BB962C8B-B14F-4D97-AF65-F5344CB8AC3E}">
        <p14:creationId xmlns:p14="http://schemas.microsoft.com/office/powerpoint/2010/main" val="2701266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046D-DA69-ED01-76FD-58A6A4DC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Behavior Modeling using State Diagrams and Activity Diagrams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CE83-CB76-E333-B72C-39A9366E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Learning Objectives</a:t>
            </a:r>
          </a:p>
          <a:p>
            <a:pPr lvl="1"/>
            <a:r>
              <a:rPr lang="en-US" sz="3200" dirty="0"/>
              <a:t>By the end of this topic, you will be able to:</a:t>
            </a:r>
          </a:p>
          <a:p>
            <a:pPr lvl="1"/>
            <a:r>
              <a:rPr lang="en-US" sz="3200" dirty="0"/>
              <a:t>Understand the </a:t>
            </a:r>
            <a:r>
              <a:rPr lang="en-US" sz="3200" b="1" dirty="0"/>
              <a:t>concept of behavior modeling</a:t>
            </a:r>
            <a:r>
              <a:rPr lang="en-US" sz="3200" dirty="0"/>
              <a:t> in OOA.</a:t>
            </a:r>
          </a:p>
          <a:p>
            <a:pPr lvl="1"/>
            <a:r>
              <a:rPr lang="en-US" sz="3200" dirty="0"/>
              <a:t>Explain </a:t>
            </a:r>
            <a:r>
              <a:rPr lang="en-US" sz="3200" b="1" dirty="0"/>
              <a:t>State Diagrams</a:t>
            </a:r>
            <a:r>
              <a:rPr lang="en-US" sz="3200" dirty="0"/>
              <a:t> and </a:t>
            </a:r>
            <a:r>
              <a:rPr lang="en-US" sz="3200" b="1" dirty="0"/>
              <a:t>Activity Diagrams</a:t>
            </a:r>
            <a:r>
              <a:rPr lang="en-US" sz="3200" dirty="0"/>
              <a:t>.</a:t>
            </a:r>
          </a:p>
          <a:p>
            <a:pPr lvl="1"/>
            <a:r>
              <a:rPr lang="en-US" sz="3200" dirty="0"/>
              <a:t>Identify how objects behave over time and how </a:t>
            </a:r>
            <a:r>
              <a:rPr lang="en-US" sz="3200" b="1" dirty="0"/>
              <a:t>processes flow</a:t>
            </a:r>
            <a:r>
              <a:rPr lang="en-US" sz="3200" dirty="0"/>
              <a:t>.</a:t>
            </a:r>
          </a:p>
          <a:p>
            <a:pPr lvl="1"/>
            <a:r>
              <a:rPr lang="en-US" sz="3200" dirty="0"/>
              <a:t>Create UML diagrams to model </a:t>
            </a:r>
            <a:r>
              <a:rPr lang="en-US" sz="3200" b="1" dirty="0"/>
              <a:t>dynamic behavior</a:t>
            </a:r>
            <a:r>
              <a:rPr lang="en-US" sz="3200" dirty="0"/>
              <a:t>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42670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2AE3-D556-40CC-1001-74A45EAD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Behavior Modeling?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4130F-B6FA-8D81-FB2E-7D1EBC7E9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Describes </a:t>
            </a:r>
            <a:r>
              <a:rPr lang="en-US" sz="3600" b="1" dirty="0"/>
              <a:t>how objects act and react</a:t>
            </a:r>
            <a:r>
              <a:rPr lang="en-US" sz="3600" dirty="0"/>
              <a:t> in the system.</a:t>
            </a:r>
          </a:p>
          <a:p>
            <a:r>
              <a:rPr lang="en-US" sz="3600" dirty="0"/>
              <a:t>Focuses on the </a:t>
            </a:r>
            <a:r>
              <a:rPr lang="en-US" sz="3600" b="1" dirty="0"/>
              <a:t>dynamic aspects</a:t>
            </a:r>
            <a:r>
              <a:rPr lang="en-US" sz="3600" dirty="0"/>
              <a:t> of the system.</a:t>
            </a:r>
          </a:p>
          <a:p>
            <a:r>
              <a:rPr lang="en-US" sz="3600" dirty="0"/>
              <a:t>Helps in understanding </a:t>
            </a:r>
            <a:r>
              <a:rPr lang="en-US" sz="3600" b="1" dirty="0"/>
              <a:t>system workflows</a:t>
            </a:r>
            <a:r>
              <a:rPr lang="en-US" sz="3600" dirty="0"/>
              <a:t> and </a:t>
            </a:r>
            <a:r>
              <a:rPr lang="en-US" sz="3600" b="1" dirty="0"/>
              <a:t>object transitions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NP" sz="3600" dirty="0"/>
              <a:t>💡 </a:t>
            </a:r>
            <a:r>
              <a:rPr lang="en-US" sz="3600" i="1" dirty="0"/>
              <a:t>It complements structural models (Class diagrams) by showing system behavior.</a:t>
            </a:r>
            <a:endParaRPr lang="en-US" sz="3600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757858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AE4F-1A64-F9CC-8FCA-89A2B109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Behavioral Models</a:t>
            </a:r>
            <a:endParaRPr lang="en-NP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6F53B1-80D5-0E0E-BB47-748A5220B0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6350" y="1824304"/>
            <a:ext cx="816292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Diagrams</a:t>
            </a:r>
            <a:r>
              <a:rPr kumimoji="0" lang="en-NP" altLang="en-N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Show how an object changes states based on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Diagrams</a:t>
            </a:r>
            <a:r>
              <a:rPr kumimoji="0" lang="en-NP" altLang="en-N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Represent the workflow of operations or processes.</a:t>
            </a:r>
          </a:p>
        </p:txBody>
      </p:sp>
    </p:spTree>
    <p:extLst>
      <p:ext uri="{BB962C8B-B14F-4D97-AF65-F5344CB8AC3E}">
        <p14:creationId xmlns:p14="http://schemas.microsoft.com/office/powerpoint/2010/main" val="4183652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530F8-F82F-38E6-1FEF-F6DC90F5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State Diagram – Overview</a:t>
            </a:r>
            <a:endParaRPr lang="en-NP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ADC483-E9EA-4921-F4FF-DE576CB190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Depicts </a:t>
            </a:r>
            <a:r>
              <a:rPr kumimoji="0" lang="en-NP" altLang="en-NP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states</a:t>
            </a:r>
            <a:r>
              <a:rPr kumimoji="0" lang="en-NP" altLang="en-NP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of an object and </a:t>
            </a:r>
            <a:r>
              <a:rPr kumimoji="0" lang="en-NP" altLang="en-NP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transitions</a:t>
            </a:r>
            <a:r>
              <a:rPr kumimoji="0" lang="en-NP" altLang="en-NP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between them.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Each </a:t>
            </a:r>
            <a:r>
              <a:rPr kumimoji="0" lang="en-NP" altLang="en-NP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state</a:t>
            </a:r>
            <a:r>
              <a:rPr kumimoji="0" lang="en-NP" altLang="en-NP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represents a condition or situation of an object.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Transitions</a:t>
            </a:r>
            <a:r>
              <a:rPr kumimoji="0" lang="en-NP" altLang="en-NP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occur in response to events or conditions.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09489F-AB95-4A01-6BBB-3D9CEE43F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523519"/>
              </p:ext>
            </p:extLst>
          </p:nvPr>
        </p:nvGraphicFramePr>
        <p:xfrm>
          <a:off x="703182" y="2023599"/>
          <a:ext cx="4777382" cy="2641062"/>
        </p:xfrm>
        <a:graphic>
          <a:graphicData uri="http://schemas.openxmlformats.org/drawingml/2006/table">
            <a:tbl>
              <a:tblPr/>
              <a:tblGrid>
                <a:gridCol w="1640391">
                  <a:extLst>
                    <a:ext uri="{9D8B030D-6E8A-4147-A177-3AD203B41FA5}">
                      <a16:colId xmlns:a16="http://schemas.microsoft.com/office/drawing/2014/main" val="3071250966"/>
                    </a:ext>
                  </a:extLst>
                </a:gridCol>
                <a:gridCol w="3136991">
                  <a:extLst>
                    <a:ext uri="{9D8B030D-6E8A-4147-A177-3AD203B41FA5}">
                      <a16:colId xmlns:a16="http://schemas.microsoft.com/office/drawing/2014/main" val="1300916443"/>
                    </a:ext>
                  </a:extLst>
                </a:gridCol>
              </a:tblGrid>
              <a:tr h="464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latin typeface="Arial" panose="020B0604020202020204" pitchFamily="34" charset="0"/>
                        </a:rPr>
                        <a:t>Element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latin typeface="Arial" panose="020B0604020202020204" pitchFamily="34" charset="0"/>
                        </a:rPr>
                        <a:t>Symbol / Meaning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15340"/>
                  </a:ext>
                </a:extLst>
              </a:tr>
              <a:tr h="464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latin typeface="Arial" panose="020B0604020202020204" pitchFamily="34" charset="0"/>
                        </a:rPr>
                        <a:t>Start State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● (Filled circle)</a:t>
                      </a: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523175"/>
                  </a:ext>
                </a:extLst>
              </a:tr>
              <a:tr h="781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Rounded rectangle with state name</a:t>
                      </a: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868376"/>
                  </a:ext>
                </a:extLst>
              </a:tr>
              <a:tr h="464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latin typeface="Arial" panose="020B0604020202020204" pitchFamily="34" charset="0"/>
                        </a:rPr>
                        <a:t>Transition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Arrow between states</a:t>
                      </a: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786099"/>
                  </a:ext>
                </a:extLst>
              </a:tr>
              <a:tr h="464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latin typeface="Arial" panose="020B0604020202020204" pitchFamily="34" charset="0"/>
                        </a:rPr>
                        <a:t>End State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>
                          <a:effectLst/>
                          <a:latin typeface="Arial" panose="020B0604020202020204" pitchFamily="34" charset="0"/>
                        </a:rPr>
                        <a:t>⊙ (Circle with border)</a:t>
                      </a:r>
                    </a:p>
                  </a:txBody>
                  <a:tcPr marL="105642" marR="105642" marT="52821" marB="52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237019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0F04FD1-0D9E-31D8-1BE2-ECD314DC266D}"/>
              </a:ext>
            </a:extLst>
          </p:cNvPr>
          <p:cNvSpPr txBox="1">
            <a:spLocks/>
          </p:cNvSpPr>
          <p:nvPr/>
        </p:nvSpPr>
        <p:spPr>
          <a:xfrm>
            <a:off x="362454" y="539078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notations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508840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A diagram of a lost and available&#10;&#10;AI-generated content may be incorrect.">
            <a:extLst>
              <a:ext uri="{FF2B5EF4-FFF2-40B4-BE49-F238E27FC236}">
                <a16:creationId xmlns:a16="http://schemas.microsoft.com/office/drawing/2014/main" id="{8CB77060-7A5C-AF65-766E-7E520901C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10854" y="520749"/>
            <a:ext cx="3837779" cy="564379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5" name="Arc 615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71EF5-0019-EE61-3A40-EF5F936A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Example – Library Book State Diagram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F6CAD-C1F3-6EBA-49D2-D423D4F14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en-US" b="1" dirty="0"/>
              <a:t>Scenario:</a:t>
            </a:r>
            <a:r>
              <a:rPr lang="en-US" dirty="0"/>
              <a:t> A book moves through various states during its lifecycle.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pPr lvl="1"/>
            <a:r>
              <a:rPr lang="en-US" dirty="0"/>
              <a:t>The book starts as </a:t>
            </a:r>
            <a:r>
              <a:rPr lang="en-US" b="1" dirty="0"/>
              <a:t>Available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borrowed → becomes </a:t>
            </a:r>
            <a:r>
              <a:rPr lang="en-US" b="1" dirty="0"/>
              <a:t>Issued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After return → </a:t>
            </a:r>
            <a:r>
              <a:rPr lang="en-US" b="1" dirty="0"/>
              <a:t>Returned</a:t>
            </a:r>
            <a:r>
              <a:rPr lang="en-US" dirty="0"/>
              <a:t>, then again </a:t>
            </a:r>
            <a:r>
              <a:rPr lang="en-US" b="1" dirty="0"/>
              <a:t>Available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not returned → </a:t>
            </a:r>
            <a:r>
              <a:rPr lang="en-US" b="1" dirty="0"/>
              <a:t>Lost</a:t>
            </a:r>
            <a:r>
              <a:rPr lang="en-US" dirty="0"/>
              <a:t>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294804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B00A6-4F71-BD52-D869-B33960485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44" y="475654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dirty="0"/>
              <a:t>Activity Diagram – Overview</a:t>
            </a:r>
            <a:endParaRPr lang="en-NP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3793D-04CB-9769-20C7-37A54D059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Models </a:t>
            </a:r>
            <a:r>
              <a:rPr lang="en-US" sz="1800" b="1"/>
              <a:t>workflow</a:t>
            </a:r>
            <a:r>
              <a:rPr lang="en-US" sz="1800"/>
              <a:t> or </a:t>
            </a:r>
            <a:r>
              <a:rPr lang="en-US" sz="1800" b="1"/>
              <a:t>control flow</a:t>
            </a:r>
            <a:r>
              <a:rPr lang="en-US" sz="1800"/>
              <a:t> of actions.</a:t>
            </a:r>
          </a:p>
          <a:p>
            <a:r>
              <a:rPr lang="en-US" sz="1800"/>
              <a:t>Represents the </a:t>
            </a:r>
            <a:r>
              <a:rPr lang="en-US" sz="1800" b="1"/>
              <a:t>sequence of operations</a:t>
            </a:r>
            <a:r>
              <a:rPr lang="en-US" sz="1800"/>
              <a:t> in a process.</a:t>
            </a:r>
          </a:p>
          <a:p>
            <a:r>
              <a:rPr lang="en-US" sz="1800"/>
              <a:t>Useful for modeling </a:t>
            </a:r>
            <a:r>
              <a:rPr lang="en-US" sz="1800" b="1"/>
              <a:t>business processes</a:t>
            </a:r>
            <a:r>
              <a:rPr lang="en-US" sz="1800"/>
              <a:t> or </a:t>
            </a:r>
            <a:r>
              <a:rPr lang="en-US" sz="1800" b="1"/>
              <a:t>system activities</a:t>
            </a:r>
            <a:r>
              <a:rPr lang="en-US" sz="1800"/>
              <a:t>.</a:t>
            </a:r>
          </a:p>
          <a:p>
            <a:r>
              <a:rPr lang="en-NP" sz="1800"/>
              <a:t>💡 </a:t>
            </a:r>
            <a:r>
              <a:rPr lang="en-US" sz="1800" i="1"/>
              <a:t>Focuses on the actions and decisions that drive system flow.</a:t>
            </a:r>
            <a:endParaRPr lang="en-US" sz="1800"/>
          </a:p>
          <a:p>
            <a:endParaRPr lang="en-NP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3DC4FF-98DF-59D1-2CD0-66BBF3D5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472869"/>
              </p:ext>
            </p:extLst>
          </p:nvPr>
        </p:nvGraphicFramePr>
        <p:xfrm>
          <a:off x="5987738" y="1254589"/>
          <a:ext cx="5628018" cy="411595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4132">
                  <a:extLst>
                    <a:ext uri="{9D8B030D-6E8A-4147-A177-3AD203B41FA5}">
                      <a16:colId xmlns:a16="http://schemas.microsoft.com/office/drawing/2014/main" val="3798836778"/>
                    </a:ext>
                  </a:extLst>
                </a:gridCol>
                <a:gridCol w="3903886">
                  <a:extLst>
                    <a:ext uri="{9D8B030D-6E8A-4147-A177-3AD203B41FA5}">
                      <a16:colId xmlns:a16="http://schemas.microsoft.com/office/drawing/2014/main" val="3698126471"/>
                    </a:ext>
                  </a:extLst>
                </a:gridCol>
              </a:tblGrid>
              <a:tr h="55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Symbol</a:t>
                      </a:r>
                      <a:endParaRPr lang="en-US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Meaning</a:t>
                      </a:r>
                      <a:endParaRPr lang="en-US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972127"/>
                  </a:ext>
                </a:extLst>
              </a:tr>
              <a:tr h="55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Start (Initial node)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36670"/>
                  </a:ext>
                </a:extLst>
              </a:tr>
              <a:tr h="55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⊙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End (Final node)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7859"/>
                  </a:ext>
                </a:extLst>
              </a:tr>
              <a:tr h="55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Rounded box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Activity (Action performed)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6080"/>
                  </a:ext>
                </a:extLst>
              </a:tr>
              <a:tr h="55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Diamond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Decision/Condition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04348"/>
                  </a:ext>
                </a:extLst>
              </a:tr>
              <a:tr h="55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Arrow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Flow (Transition)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43361"/>
                  </a:ext>
                </a:extLst>
              </a:tr>
              <a:tr h="795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Bar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Synchronization (Fork/Join for parallel actions)</a:t>
                      </a:r>
                    </a:p>
                  </a:txBody>
                  <a:tcPr marL="259409" marR="134893" marT="134893" marB="134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5289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72F0ACC-6037-9BFC-4517-2106F2C9ABCA}"/>
              </a:ext>
            </a:extLst>
          </p:cNvPr>
          <p:cNvSpPr txBox="1">
            <a:spLocks/>
          </p:cNvSpPr>
          <p:nvPr/>
        </p:nvSpPr>
        <p:spPr>
          <a:xfrm>
            <a:off x="6095999" y="54228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Key elements</a:t>
            </a:r>
            <a:endParaRPr lang="en-NP" sz="3600" dirty="0"/>
          </a:p>
        </p:txBody>
      </p:sp>
    </p:spTree>
    <p:extLst>
      <p:ext uri="{BB962C8B-B14F-4D97-AF65-F5344CB8AC3E}">
        <p14:creationId xmlns:p14="http://schemas.microsoft.com/office/powerpoint/2010/main" val="1913100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A204D-CB61-DF04-3EE9-A1F4873A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Example – Book Borrowing Activity</a:t>
            </a:r>
            <a:endParaRPr lang="en-NP" sz="3600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17D4C-EE2B-2C7E-AE71-15E91DDF7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Scenario:</a:t>
            </a:r>
            <a:r>
              <a:rPr lang="en-US" sz="1800" dirty="0"/>
              <a:t> A student borrows a book from the library.</a:t>
            </a:r>
          </a:p>
          <a:p>
            <a:r>
              <a:rPr lang="en-US" sz="1800" b="1" dirty="0"/>
              <a:t>Explanation:</a:t>
            </a:r>
            <a:br>
              <a:rPr lang="en-US" sz="1800" dirty="0"/>
            </a:br>
            <a:r>
              <a:rPr lang="en-US" sz="1800" dirty="0"/>
              <a:t>The activity diagram shows the flow from card insertion to successful book issue or failure case.</a:t>
            </a:r>
            <a:endParaRPr lang="en-NP" sz="1800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FF604DA-D2E9-CFB1-4E76-808164FF3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2"/>
          <a:stretch>
            <a:fillRect/>
          </a:stretch>
        </p:blipFill>
        <p:spPr bwMode="auto">
          <a:xfrm>
            <a:off x="5987738" y="650494"/>
            <a:ext cx="5628018" cy="532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942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A165A-8688-1239-AF52-8116DD81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US" sz="4000"/>
              <a:t>Comparing the Two Diagrams</a:t>
            </a:r>
            <a:endParaRPr lang="en-NP" sz="4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F3A518-BB38-AE72-1B59-40698B738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871307"/>
              </p:ext>
            </p:extLst>
          </p:nvPr>
        </p:nvGraphicFramePr>
        <p:xfrm>
          <a:off x="991594" y="3008354"/>
          <a:ext cx="10211581" cy="3147284"/>
        </p:xfrm>
        <a:graphic>
          <a:graphicData uri="http://schemas.openxmlformats.org/drawingml/2006/table">
            <a:tbl>
              <a:tblPr/>
              <a:tblGrid>
                <a:gridCol w="2412392">
                  <a:extLst>
                    <a:ext uri="{9D8B030D-6E8A-4147-A177-3AD203B41FA5}">
                      <a16:colId xmlns:a16="http://schemas.microsoft.com/office/drawing/2014/main" val="704899070"/>
                    </a:ext>
                  </a:extLst>
                </a:gridCol>
                <a:gridCol w="3907811">
                  <a:extLst>
                    <a:ext uri="{9D8B030D-6E8A-4147-A177-3AD203B41FA5}">
                      <a16:colId xmlns:a16="http://schemas.microsoft.com/office/drawing/2014/main" val="1472013718"/>
                    </a:ext>
                  </a:extLst>
                </a:gridCol>
                <a:gridCol w="3891378">
                  <a:extLst>
                    <a:ext uri="{9D8B030D-6E8A-4147-A177-3AD203B41FA5}">
                      <a16:colId xmlns:a16="http://schemas.microsoft.com/office/drawing/2014/main" val="2925815019"/>
                    </a:ext>
                  </a:extLst>
                </a:gridCol>
              </a:tblGrid>
              <a:tr h="5206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latin typeface="Arial" panose="020B0604020202020204" pitchFamily="34" charset="0"/>
                        </a:rPr>
                        <a:t>Aspect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latin typeface="Arial" panose="020B0604020202020204" pitchFamily="34" charset="0"/>
                        </a:rPr>
                        <a:t>State Diagram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latin typeface="Arial" panose="020B0604020202020204" pitchFamily="34" charset="0"/>
                        </a:rPr>
                        <a:t>Activity Diagram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520519"/>
                  </a:ext>
                </a:extLst>
              </a:tr>
              <a:tr h="875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latin typeface="Arial" panose="020B0604020202020204" pitchFamily="34" charset="0"/>
                        </a:rPr>
                        <a:t>Focus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State changes of an object</a:t>
                      </a: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Flow of activities or processes</a:t>
                      </a: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375263"/>
                  </a:ext>
                </a:extLst>
              </a:tr>
              <a:tr h="875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latin typeface="Arial" panose="020B0604020202020204" pitchFamily="34" charset="0"/>
                        </a:rPr>
                        <a:t>Best Used For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Modeling object life cycles</a:t>
                      </a: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Modeling business logic or workflows</a:t>
                      </a: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17326"/>
                  </a:ext>
                </a:extLst>
              </a:tr>
              <a:tr h="875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Book states (Available → Issued → Returned)</a:t>
                      </a: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dirty="0">
                          <a:effectLst/>
                          <a:latin typeface="Arial" panose="020B0604020202020204" pitchFamily="34" charset="0"/>
                        </a:rPr>
                        <a:t>Borrowing a book step-by-step</a:t>
                      </a:r>
                    </a:p>
                  </a:txBody>
                  <a:tcPr marL="118319" marR="118319" marT="59159" marB="591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401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852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71968-BB06-EC81-B65F-5B6D284E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Practice Exercise</a:t>
            </a:r>
            <a:endParaRPr lang="en-NP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0D00A-80F9-437C-5C7E-6F9B0AC52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b="1"/>
              <a:t>Scenario:</a:t>
            </a:r>
            <a:r>
              <a:rPr lang="en-US" sz="2000"/>
              <a:t> Online Order Processing System</a:t>
            </a:r>
            <a:br>
              <a:rPr lang="en-US" sz="2000"/>
            </a:br>
            <a:endParaRPr lang="en-US" sz="2000"/>
          </a:p>
          <a:p>
            <a:pPr marL="0" indent="0">
              <a:buNone/>
            </a:pPr>
            <a:r>
              <a:rPr lang="en-US" sz="2000"/>
              <a:t>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Identify states for an Order object (e.g., </a:t>
            </a:r>
            <a:r>
              <a:rPr lang="en-US" sz="2000" i="1"/>
              <a:t>Placed → Confirmed → Shipped → Delivered</a:t>
            </a:r>
            <a:r>
              <a:rPr lang="en-US" sz="200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Draw a </a:t>
            </a:r>
            <a:r>
              <a:rPr lang="en-US" sz="2000" b="1"/>
              <a:t>State Diagram</a:t>
            </a:r>
            <a:r>
              <a:rPr lang="en-US" sz="20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Draw an </a:t>
            </a:r>
            <a:r>
              <a:rPr lang="en-US" sz="2000" b="1"/>
              <a:t>Activity Diagram</a:t>
            </a:r>
            <a:r>
              <a:rPr lang="en-US" sz="2000"/>
              <a:t> showing payment and shipment flow.</a:t>
            </a:r>
          </a:p>
          <a:p>
            <a:pPr marL="0" indent="0">
              <a:buNone/>
            </a:pPr>
            <a:endParaRPr lang="en-NP" sz="2000"/>
          </a:p>
        </p:txBody>
      </p:sp>
      <p:pic>
        <p:nvPicPr>
          <p:cNvPr id="10242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69CF1CDE-F26A-95A8-8968-1496BDC9E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" r="1" b="105"/>
          <a:stretch>
            <a:fillRect/>
          </a:stretch>
        </p:blipFill>
        <p:spPr bwMode="auto">
          <a:xfrm>
            <a:off x="6857797" y="-10886"/>
            <a:ext cx="5334204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964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E014-9EDA-31E7-B3AF-67B9E02E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D9348CB-7470-E96E-785C-2112378DFD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651" y="1825625"/>
            <a:ext cx="350469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22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9899</TotalTime>
  <Words>1331</Words>
  <Application>Microsoft Office PowerPoint</Application>
  <PresentationFormat>Widescreen</PresentationFormat>
  <Paragraphs>198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 Unicode MS</vt:lpstr>
      <vt:lpstr>Aptos</vt:lpstr>
      <vt:lpstr>Aptos Display</vt:lpstr>
      <vt:lpstr>Arial</vt:lpstr>
      <vt:lpstr>Calibri</vt:lpstr>
      <vt:lpstr>Office Theme</vt:lpstr>
      <vt:lpstr>Unit 3: Object oriented analysis</vt:lpstr>
      <vt:lpstr>Introduction to Object-Oriented Analysis (OOA)</vt:lpstr>
      <vt:lpstr>3.1 Domain Modeling &amp; Concept Modeling Relationships </vt:lpstr>
      <vt:lpstr>Cont..</vt:lpstr>
      <vt:lpstr>PowerPoint Presentation</vt:lpstr>
      <vt:lpstr>3.2 Identifying Classes, Attributes, and Methods</vt:lpstr>
      <vt:lpstr>What are Classes?</vt:lpstr>
      <vt:lpstr>How to Identify Classes</vt:lpstr>
      <vt:lpstr>Attributes</vt:lpstr>
      <vt:lpstr>Identifying Attributes</vt:lpstr>
      <vt:lpstr>Methods</vt:lpstr>
      <vt:lpstr>Identifying Methods</vt:lpstr>
      <vt:lpstr>Example – Library Management System</vt:lpstr>
      <vt:lpstr>Best Practices</vt:lpstr>
      <vt:lpstr>Activity – Identify Classes from a Use Case</vt:lpstr>
      <vt:lpstr>3.3 Behavior Modeling using State Diagrams and Activity Diagrams</vt:lpstr>
      <vt:lpstr>What is Behavior Modeling?</vt:lpstr>
      <vt:lpstr>Types of Behavioral Models</vt:lpstr>
      <vt:lpstr>State Diagram – Overview</vt:lpstr>
      <vt:lpstr>Example – Library Book State Diagram</vt:lpstr>
      <vt:lpstr>Activity Diagram – Overview</vt:lpstr>
      <vt:lpstr>Example – Book Borrowing Activity</vt:lpstr>
      <vt:lpstr>Comparing the Two Diagrams</vt:lpstr>
      <vt:lpstr>Practice 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 Gautam</dc:creator>
  <cp:lastModifiedBy>Lumi N</cp:lastModifiedBy>
  <cp:revision>13</cp:revision>
  <dcterms:created xsi:type="dcterms:W3CDTF">2025-11-07T00:12:20Z</dcterms:created>
  <dcterms:modified xsi:type="dcterms:W3CDTF">2025-11-25T01:19:17Z</dcterms:modified>
</cp:coreProperties>
</file>