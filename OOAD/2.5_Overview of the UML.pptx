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1" r:id="rId6"/>
    <p:sldId id="259" r:id="rId7"/>
    <p:sldId id="267" r:id="rId8"/>
    <p:sldId id="262" r:id="rId9"/>
    <p:sldId id="260" r:id="rId10"/>
    <p:sldId id="263" r:id="rId11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37"/>
    <p:restoredTop sz="94729"/>
  </p:normalViewPr>
  <p:slideViewPr>
    <p:cSldViewPr snapToGrid="0">
      <p:cViewPr varScale="1">
        <p:scale>
          <a:sx n="157" d="100"/>
          <a:sy n="157" d="100"/>
        </p:scale>
        <p:origin x="192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101B1-A1E0-562E-71A6-3D8578A5A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4BD2D-C92D-61A6-7ADC-10012FEAD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EA7BA-EC18-8974-E99C-17643115B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DB20-7515-B145-BE7F-145CD383BD9E}" type="datetimeFigureOut">
              <a:rPr lang="en-NP" smtClean="0"/>
              <a:t>04/11/2025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A77BD-A13C-8BD5-840D-D52FF988F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803C3-0567-800C-FE45-7E33D2CC4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9E5C-AEA3-BA40-8700-F5186AB66FCF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79118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4F3D-C441-7685-766A-F6FF5EA8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8EA29-3FC1-3A15-8916-9C2C5D9C9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7CC49-FA41-8492-5B6C-B6DDEEFC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DB20-7515-B145-BE7F-145CD383BD9E}" type="datetimeFigureOut">
              <a:rPr lang="en-NP" smtClean="0"/>
              <a:t>04/11/2025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953AC-99F1-5729-1318-CF5DD301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4CF12-3CB8-1AE9-1E68-38AFD37A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9E5C-AEA3-BA40-8700-F5186AB66FCF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559514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261B2-29BC-3804-2284-D6EC66D97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9E213-DB1B-6BA8-F6A0-577A0D51D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B255-1E44-8BDA-8135-ABC15A6D3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DB20-7515-B145-BE7F-145CD383BD9E}" type="datetimeFigureOut">
              <a:rPr lang="en-NP" smtClean="0"/>
              <a:t>04/11/2025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FAFA6-0446-88C7-DC7A-949EDCD5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068AE-C13A-21D4-2568-43125DA97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9E5C-AEA3-BA40-8700-F5186AB66FCF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198270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7E01A-661A-268E-8A54-48E5626EE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6F310-42A1-596A-5DF8-1FE1276DC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B45A0-FDBC-BE59-D529-65DC04DAE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5D2DA-FC84-E74F-CBE5-6999F2067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DB20-7515-B145-BE7F-145CD383BD9E}" type="datetimeFigureOut">
              <a:rPr lang="en-NP" smtClean="0"/>
              <a:t>04/11/2025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03C7A-9ED0-80B3-959D-2BAFABFE9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F34BD-B393-E409-748C-721F755B8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9E5C-AEA3-BA40-8700-F5186AB66FCF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483693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A0247-3B8E-835D-BE17-90DFE0A20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E859B-9530-49F3-FC8C-07EE141E7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F365F-98E3-A04F-C8CC-E595189E8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B6443-EE8D-2E5D-8FD9-36CBE82BF9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895019-FFB6-1D40-3E4A-FAB1F8CE78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F63A91-00E4-A236-F987-DD4AD769D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DB20-7515-B145-BE7F-145CD383BD9E}" type="datetimeFigureOut">
              <a:rPr lang="en-NP" smtClean="0"/>
              <a:t>04/11/2025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A9002A-D9A8-9799-FB16-9560F9132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EC8662-6A8E-41F7-F5AD-AAEFC512A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9E5C-AEA3-BA40-8700-F5186AB66FCF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19028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44A4F-FBAA-574E-7DFD-24BA0655E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09DA2D-E221-D36A-A1A2-00896068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DB20-7515-B145-BE7F-145CD383BD9E}" type="datetimeFigureOut">
              <a:rPr lang="en-NP" smtClean="0"/>
              <a:t>04/11/2025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860453-DF9D-F68D-4947-A8A6096C2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CE333-EFBD-EB21-599F-DCF4BF5B4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9E5C-AEA3-BA40-8700-F5186AB66FCF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999698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9117A0-9DA7-A914-B6AF-A71F6F8B1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DB20-7515-B145-BE7F-145CD383BD9E}" type="datetimeFigureOut">
              <a:rPr lang="en-NP" smtClean="0"/>
              <a:t>04/11/2025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7CD185-ACB6-3571-9D64-A5DDBD4C9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C08EE-5047-A034-73BA-B4785E4E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9E5C-AEA3-BA40-8700-F5186AB66FCF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670638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1F01-0FF0-6C35-D2FE-23B94E7B8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9546B-93BA-EBA8-9B11-B7834D9C3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08552-6744-EBA1-6CFC-21E4F4340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8904D-D07A-E517-0DC5-4741ADE1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DB20-7515-B145-BE7F-145CD383BD9E}" type="datetimeFigureOut">
              <a:rPr lang="en-NP" smtClean="0"/>
              <a:t>04/11/2025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A69CA-C3AD-ADDA-6F64-D64AD7CC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1C71F-1AAE-4B9E-9991-38A8CFDB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9E5C-AEA3-BA40-8700-F5186AB66FCF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20723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5D806-9591-723F-3F5D-5DDCA385C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E5C224-2A55-57D3-CBB4-A0F2C508B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BB247-A6CC-2890-EF53-74628B37A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830F5-B6C7-D696-681B-4252814C5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DB20-7515-B145-BE7F-145CD383BD9E}" type="datetimeFigureOut">
              <a:rPr lang="en-NP" smtClean="0"/>
              <a:t>04/11/2025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5BAB2-C0AC-2FEA-4B24-8D22B07DA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F5A13-E2B6-E5AA-EFC6-B2075EC68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9E5C-AEA3-BA40-8700-F5186AB66FCF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813850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0C09-5978-2095-4373-BE477B8FE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6E7EA-506D-CD2C-89EA-B394675AF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217E7-F80B-446A-31B1-D8AB2C476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DB20-7515-B145-BE7F-145CD383BD9E}" type="datetimeFigureOut">
              <a:rPr lang="en-NP" smtClean="0"/>
              <a:t>04/11/2025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F8177-76AE-E2BC-97AC-D825C1542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B8721-864D-7F75-7DFB-8409EB81D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9E5C-AEA3-BA40-8700-F5186AB66FCF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333668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98586F-1C37-78A9-168B-123F8C696E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16391-3AE6-BA37-A7EC-64DCEABEF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92818-9050-3AA6-8922-60255D22B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DB20-7515-B145-BE7F-145CD383BD9E}" type="datetimeFigureOut">
              <a:rPr lang="en-NP" smtClean="0"/>
              <a:t>04/11/2025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A5336-7B1B-222C-A286-7491725E2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68D9C-4FF6-C905-63AF-AD640295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9E5C-AEA3-BA40-8700-F5186AB66FCF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039737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A5BFF7-6DA3-7926-17EB-F8EE9B13C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8066E-D9E3-DEF2-EFA6-96FB8AC21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9C545-A24F-BFBD-B6FF-30A7A151A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4DB20-7515-B145-BE7F-145CD383BD9E}" type="datetimeFigureOut">
              <a:rPr lang="en-NP" smtClean="0"/>
              <a:t>04/11/2025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5C501-6196-88C1-7D51-370A8BE9C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A4BD8-7115-15B1-5171-801349F63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39E5C-AEA3-BA40-8700-F5186AB66FCF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50330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1BD-2409-AC4B-9206-5FD0BBEE1E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P" dirty="0"/>
              <a:t>2.5 Overview of UML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B3CE2-389D-DD85-435E-F242FF3E7E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345972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FCEA-5505-72E3-CEE6-5609F7149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84" y="198071"/>
            <a:ext cx="10515600" cy="1325563"/>
          </a:xfrm>
        </p:spPr>
        <p:txBody>
          <a:bodyPr/>
          <a:lstStyle/>
          <a:p>
            <a:r>
              <a:rPr lang="en-NP" dirty="0"/>
              <a:t>2.5 UML Fundamentals and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A019E-5472-8E98-1495-BE189D397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261" y="1333255"/>
            <a:ext cx="10697308" cy="497082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What is UML?</a:t>
            </a:r>
            <a:br>
              <a:rPr lang="en-US" dirty="0"/>
            </a:br>
            <a:r>
              <a:rPr lang="en-US" dirty="0"/>
              <a:t>The </a:t>
            </a:r>
            <a:r>
              <a:rPr lang="en-US" b="1" dirty="0"/>
              <a:t>Unified Modeling Language (UML)</a:t>
            </a:r>
            <a:r>
              <a:rPr lang="en-US" dirty="0"/>
              <a:t> is a standardized general-purpose modeling language used to visualize, specify, construct, and document the artifacts of a software system.</a:t>
            </a:r>
          </a:p>
          <a:p>
            <a:r>
              <a:rPr lang="en-US" b="1" dirty="0"/>
              <a:t>Why use UML?</a:t>
            </a:r>
            <a:endParaRPr lang="en-US" dirty="0"/>
          </a:p>
          <a:p>
            <a:pPr lvl="1"/>
            <a:r>
              <a:rPr lang="en-US" b="1" dirty="0"/>
              <a:t>Visual Clarity:</a:t>
            </a:r>
            <a:r>
              <a:rPr lang="en-US" dirty="0"/>
              <a:t> Creates a blueprint for complex systems.</a:t>
            </a:r>
          </a:p>
          <a:p>
            <a:pPr lvl="1"/>
            <a:r>
              <a:rPr lang="en-US" b="1" dirty="0"/>
              <a:t>Common Language:</a:t>
            </a:r>
            <a:r>
              <a:rPr lang="en-US" dirty="0"/>
              <a:t> Facilitates communication between developers, analysts, and stakeholders.</a:t>
            </a:r>
          </a:p>
          <a:p>
            <a:pPr lvl="1"/>
            <a:r>
              <a:rPr lang="en-US" b="1" dirty="0"/>
              <a:t>Reduces Ambiguity:</a:t>
            </a:r>
            <a:r>
              <a:rPr lang="en-US" dirty="0"/>
              <a:t> Provides precise syntax and semantics for diagrams.</a:t>
            </a:r>
          </a:p>
          <a:p>
            <a:r>
              <a:rPr lang="en-US" b="1" dirty="0"/>
              <a:t>Three Main Types of Diagrams:</a:t>
            </a:r>
            <a:endParaRPr lang="en-US" dirty="0"/>
          </a:p>
          <a:p>
            <a:pPr lvl="1"/>
            <a:r>
              <a:rPr lang="en-US" b="1" dirty="0"/>
              <a:t>Behavior Diagrams:</a:t>
            </a:r>
            <a:r>
              <a:rPr lang="en-US" dirty="0"/>
              <a:t> Show how the system behaves.</a:t>
            </a:r>
          </a:p>
          <a:p>
            <a:pPr lvl="1"/>
            <a:r>
              <a:rPr lang="en-US" b="1" dirty="0"/>
              <a:t>Interaction Diagrams:</a:t>
            </a:r>
            <a:r>
              <a:rPr lang="en-US" dirty="0"/>
              <a:t> A subset of behavior diagrams focusing on object interactions.</a:t>
            </a:r>
          </a:p>
          <a:p>
            <a:pPr lvl="1"/>
            <a:r>
              <a:rPr lang="en-US" b="1" dirty="0"/>
              <a:t>Structure Diagrams:</a:t>
            </a:r>
            <a:r>
              <a:rPr lang="en-US" dirty="0"/>
              <a:t> Show the static structure of the system.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271904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5DE20-7A22-D533-2F07-52D626D1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NP" sz="5000"/>
              <a:t>2.5.1 Behavior Diagram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7C6C3-3530-40AE-96B6-110A1C21F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1200" b="1"/>
              <a:t>Use Case Diagram (LMS):</a:t>
            </a:r>
            <a:endParaRPr lang="en-US" sz="1200"/>
          </a:p>
          <a:p>
            <a:pPr lvl="1"/>
            <a:r>
              <a:rPr lang="en-US" sz="1200" b="1"/>
              <a:t>Purpose:</a:t>
            </a:r>
            <a:r>
              <a:rPr lang="en-US" sz="1200"/>
              <a:t> Shows the functionality of a system from the user's perspective. It summarizes the relationships between actors and use cases.</a:t>
            </a:r>
          </a:p>
          <a:p>
            <a:pPr lvl="1"/>
            <a:r>
              <a:rPr lang="en-US" sz="1200"/>
              <a:t>Shows actors (Member, Librarian) and system interactions like </a:t>
            </a:r>
            <a:r>
              <a:rPr lang="en-US" sz="1200" i="1"/>
              <a:t>Borrow Book</a:t>
            </a:r>
            <a:r>
              <a:rPr lang="en-US" sz="1200"/>
              <a:t>, </a:t>
            </a:r>
            <a:r>
              <a:rPr lang="en-US" sz="1200" i="1"/>
              <a:t>Return Book</a:t>
            </a:r>
            <a:r>
              <a:rPr lang="en-US" sz="1200"/>
              <a:t>, </a:t>
            </a:r>
            <a:r>
              <a:rPr lang="en-US" sz="1200" i="1"/>
              <a:t>Add New Book</a:t>
            </a:r>
            <a:r>
              <a:rPr lang="en-US" sz="1200"/>
              <a:t>.</a:t>
            </a:r>
          </a:p>
          <a:p>
            <a:r>
              <a:rPr lang="en-US" sz="1200" b="1"/>
              <a:t>Notations:</a:t>
            </a:r>
            <a:endParaRPr lang="en-US" sz="1200"/>
          </a:p>
          <a:p>
            <a:pPr lvl="1"/>
            <a:r>
              <a:rPr lang="en-US" sz="1200" b="1"/>
              <a:t>System Boundary:</a:t>
            </a:r>
            <a:r>
              <a:rPr lang="en-US" sz="1200"/>
              <a:t> The rectangle.</a:t>
            </a:r>
          </a:p>
          <a:p>
            <a:pPr lvl="1"/>
            <a:r>
              <a:rPr lang="en-US" sz="1200" b="1"/>
              <a:t>Actor:</a:t>
            </a:r>
            <a:r>
              <a:rPr lang="en-US" sz="1200"/>
              <a:t> Stick figure.</a:t>
            </a:r>
          </a:p>
          <a:p>
            <a:pPr lvl="1"/>
            <a:r>
              <a:rPr lang="en-US" sz="1200" b="1"/>
              <a:t>Use Case:</a:t>
            </a:r>
            <a:r>
              <a:rPr lang="en-US" sz="1200"/>
              <a:t> Oval.</a:t>
            </a:r>
          </a:p>
          <a:p>
            <a:pPr lvl="1"/>
            <a:r>
              <a:rPr lang="en-US" sz="1200" b="1"/>
              <a:t>Association:</a:t>
            </a:r>
            <a:r>
              <a:rPr lang="en-US" sz="1200"/>
              <a:t> Solid line.</a:t>
            </a:r>
          </a:p>
          <a:p>
            <a:pPr lvl="1"/>
            <a:r>
              <a:rPr lang="en-US" sz="1200" b="1"/>
              <a:t>«include»:</a:t>
            </a:r>
            <a:r>
              <a:rPr lang="en-US" sz="1200"/>
              <a:t> Mandatory relationship. E.g., Borrow Book </a:t>
            </a:r>
            <a:r>
              <a:rPr lang="en-US" sz="1200" b="1"/>
              <a:t>includes</a:t>
            </a:r>
            <a:r>
              <a:rPr lang="en-US" sz="1200"/>
              <a:t> Validate Member.</a:t>
            </a:r>
          </a:p>
          <a:p>
            <a:pPr lvl="1"/>
            <a:r>
              <a:rPr lang="en-US" sz="1200" b="1"/>
              <a:t>«extend»:</a:t>
            </a:r>
            <a:r>
              <a:rPr lang="en-US" sz="1200"/>
              <a:t> Optional/conditional relationship. E.g., Register can </a:t>
            </a:r>
            <a:r>
              <a:rPr lang="en-US" sz="1200" b="1"/>
              <a:t>extend</a:t>
            </a:r>
            <a:r>
              <a:rPr lang="en-US" sz="1200"/>
              <a:t> Search Catalog for a Guest.</a:t>
            </a:r>
          </a:p>
          <a:p>
            <a:pPr lvl="1"/>
            <a:endParaRPr lang="en-US" sz="1200"/>
          </a:p>
          <a:p>
            <a:endParaRPr lang="en-NP" sz="120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717519A-E478-55A7-12EC-4CA28824F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504714"/>
            <a:ext cx="5458968" cy="384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919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DBD0C-4E5D-AC40-8EBF-379F42DB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P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52026D-4EAF-A568-7BA0-C4760FE014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85946"/>
            <a:ext cx="10515600" cy="323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00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AEE29-482A-558B-0DCB-ACDD3245E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1C36A-2EFC-BE42-3636-38B439599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3629"/>
          </a:xfrm>
        </p:spPr>
        <p:txBody>
          <a:bodyPr>
            <a:normAutofit/>
          </a:bodyPr>
          <a:lstStyle/>
          <a:p>
            <a:r>
              <a:rPr lang="en-US" b="1" dirty="0"/>
              <a:t>Activity Diagram (LMS):</a:t>
            </a:r>
            <a:endParaRPr lang="en-US" dirty="0"/>
          </a:p>
          <a:p>
            <a:pPr lvl="1"/>
            <a:r>
              <a:rPr lang="en-US" b="1" dirty="0"/>
              <a:t>Purpose:</a:t>
            </a:r>
            <a:r>
              <a:rPr lang="en-US" dirty="0"/>
              <a:t> Models the workflow or business process from start to finish. It shows the flow of control.</a:t>
            </a:r>
          </a:p>
          <a:p>
            <a:pPr lvl="1"/>
            <a:r>
              <a:rPr lang="en-US" dirty="0"/>
              <a:t>Displays flow for </a:t>
            </a:r>
            <a:r>
              <a:rPr lang="en-US" i="1" dirty="0"/>
              <a:t>Book Issue Process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Start → Search Book → Check Availability → Issue Book → Update Record → End.</a:t>
            </a:r>
          </a:p>
          <a:p>
            <a:r>
              <a:rPr lang="en-US" b="1" dirty="0"/>
              <a:t>Notations:</a:t>
            </a:r>
            <a:endParaRPr lang="en-US" dirty="0"/>
          </a:p>
          <a:p>
            <a:pPr lvl="1"/>
            <a:r>
              <a:rPr lang="en-US" b="1" dirty="0"/>
              <a:t>Start Node:</a:t>
            </a:r>
            <a:r>
              <a:rPr lang="en-US" dirty="0"/>
              <a:t> Solid circle.</a:t>
            </a:r>
          </a:p>
          <a:p>
            <a:pPr lvl="1"/>
            <a:r>
              <a:rPr lang="en-US" b="1" dirty="0"/>
              <a:t>Activity:</a:t>
            </a:r>
            <a:r>
              <a:rPr lang="en-US" dirty="0"/>
              <a:t> Rounded rectangle.</a:t>
            </a:r>
          </a:p>
          <a:p>
            <a:pPr lvl="1"/>
            <a:r>
              <a:rPr lang="en-US" b="1" dirty="0"/>
              <a:t>Decision Node:</a:t>
            </a:r>
            <a:r>
              <a:rPr lang="en-US" dirty="0"/>
              <a:t> Diamond.</a:t>
            </a:r>
          </a:p>
          <a:p>
            <a:pPr lvl="1"/>
            <a:r>
              <a:rPr lang="en-US" b="1" dirty="0"/>
              <a:t>Flow/Edge:</a:t>
            </a:r>
            <a:r>
              <a:rPr lang="en-US" dirty="0"/>
              <a:t> Arrow.</a:t>
            </a:r>
          </a:p>
          <a:p>
            <a:pPr lvl="1"/>
            <a:r>
              <a:rPr lang="en-US" b="1" dirty="0"/>
              <a:t>End Node:</a:t>
            </a:r>
            <a:r>
              <a:rPr lang="en-US" dirty="0"/>
              <a:t> Bull's eye.</a:t>
            </a:r>
          </a:p>
          <a:p>
            <a:pPr lvl="1"/>
            <a:endParaRPr lang="en-US" dirty="0"/>
          </a:p>
          <a:p>
            <a:endParaRPr lang="en-NP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4FF5428-DA94-F51E-3F3A-C15654524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7883" y="3648590"/>
            <a:ext cx="2871542" cy="3119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7459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7A5FB-F7DE-FB0C-F76D-E1BBBCF4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3383"/>
          </a:xfrm>
        </p:spPr>
        <p:txBody>
          <a:bodyPr>
            <a:normAutofit fontScale="90000"/>
          </a:bodyPr>
          <a:lstStyle/>
          <a:p>
            <a:r>
              <a:rPr lang="en-US" dirty="0"/>
              <a:t>2.5.2 Interaction Diagrams</a:t>
            </a:r>
            <a:br>
              <a:rPr lang="en-US" b="1" dirty="0"/>
            </a:b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EC71F-4DEA-72AE-CF1B-3981E41D5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3967"/>
          </a:xfrm>
        </p:spPr>
        <p:txBody>
          <a:bodyPr>
            <a:normAutofit/>
          </a:bodyPr>
          <a:lstStyle/>
          <a:p>
            <a:r>
              <a:rPr lang="en-US" b="1" dirty="0"/>
              <a:t>Sequence Diagram (LMS):</a:t>
            </a:r>
            <a:endParaRPr lang="en-US" dirty="0"/>
          </a:p>
          <a:p>
            <a:pPr lvl="1"/>
            <a:r>
              <a:rPr lang="en-US" b="1" dirty="0"/>
              <a:t>Purpose:</a:t>
            </a:r>
            <a:r>
              <a:rPr lang="en-US" dirty="0"/>
              <a:t> Shows how objects interact in a time-ordered sequence. It emphasizes the order of messages.</a:t>
            </a:r>
          </a:p>
          <a:p>
            <a:pPr lvl="1"/>
            <a:r>
              <a:rPr lang="en-US" dirty="0"/>
              <a:t>Actors and objects exchange messages over time.</a:t>
            </a:r>
          </a:p>
          <a:p>
            <a:pPr lvl="2"/>
            <a:r>
              <a:rPr lang="en-US" dirty="0"/>
              <a:t>Example: </a:t>
            </a:r>
            <a:r>
              <a:rPr lang="en-US" i="1" dirty="0"/>
              <a:t>Member → </a:t>
            </a:r>
            <a:r>
              <a:rPr lang="en-US" i="1" dirty="0" err="1"/>
              <a:t>SearchBook</a:t>
            </a:r>
            <a:r>
              <a:rPr lang="en-US" i="1" dirty="0"/>
              <a:t> → System → Database → Result → Issue Confirmation.</a:t>
            </a:r>
          </a:p>
          <a:p>
            <a:r>
              <a:rPr lang="en-US" b="1" dirty="0"/>
              <a:t>Notations:</a:t>
            </a:r>
            <a:endParaRPr lang="en-US" dirty="0"/>
          </a:p>
          <a:p>
            <a:pPr lvl="1"/>
            <a:r>
              <a:rPr lang="en-US" b="1" dirty="0"/>
              <a:t>Lifeline:</a:t>
            </a:r>
            <a:r>
              <a:rPr lang="en-US" dirty="0"/>
              <a:t> Vertical dashed line.</a:t>
            </a:r>
          </a:p>
          <a:p>
            <a:pPr lvl="1"/>
            <a:r>
              <a:rPr lang="en-US" b="1" dirty="0"/>
              <a:t>Activation Bar:</a:t>
            </a:r>
            <a:r>
              <a:rPr lang="en-US" dirty="0"/>
              <a:t> Rectangle on lifeline.</a:t>
            </a:r>
          </a:p>
          <a:p>
            <a:pPr lvl="1"/>
            <a:r>
              <a:rPr lang="en-US" b="1" dirty="0"/>
              <a:t>Message:</a:t>
            </a:r>
            <a:r>
              <a:rPr lang="en-US" dirty="0"/>
              <a:t> Horizontal arrow with label.</a:t>
            </a:r>
          </a:p>
          <a:p>
            <a:pPr lvl="1"/>
            <a:r>
              <a:rPr lang="en-US" b="1" dirty="0"/>
              <a:t>Return Message:</a:t>
            </a:r>
            <a:r>
              <a:rPr lang="en-US" dirty="0"/>
              <a:t> Dashed arrow.</a:t>
            </a:r>
            <a:endParaRPr lang="en-US" i="1" dirty="0"/>
          </a:p>
          <a:p>
            <a:pPr lvl="1"/>
            <a:endParaRPr lang="en-US" dirty="0"/>
          </a:p>
          <a:p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576766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7BDE3-AAE9-679C-8133-54EB624D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C203D-00BB-BD25-ED6C-C9A9CF644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P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2B520E2-0D11-278C-FE82-154B071DE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50" y="749300"/>
            <a:ext cx="6210300" cy="535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226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D4B839-AA30-3FEF-15B1-25D30F006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endParaRPr lang="en-NP" sz="5400"/>
          </a:p>
        </p:txBody>
      </p:sp>
      <p:sp>
        <p:nvSpPr>
          <p:cNvPr id="7177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B9817-2D9B-44B7-5294-F0521ECEC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1700" b="1"/>
              <a:t>Communication Diagram (LMS):</a:t>
            </a:r>
            <a:endParaRPr lang="en-US" sz="1700"/>
          </a:p>
          <a:p>
            <a:pPr lvl="1"/>
            <a:r>
              <a:rPr lang="en-US" sz="1700" b="1"/>
              <a:t>Purpose:</a:t>
            </a:r>
            <a:r>
              <a:rPr lang="en-US" sz="1700"/>
              <a:t> Shows the interactions between objects, but focuses on the </a:t>
            </a:r>
            <a:r>
              <a:rPr lang="en-US" sz="1700" i="1"/>
              <a:t>links</a:t>
            </a:r>
            <a:r>
              <a:rPr lang="en-US" sz="1700"/>
              <a:t> between them rather than the time sequence. </a:t>
            </a:r>
          </a:p>
          <a:p>
            <a:pPr lvl="1"/>
            <a:r>
              <a:rPr lang="en-US" sz="1700"/>
              <a:t>Emphasizes object relationships: </a:t>
            </a:r>
            <a:r>
              <a:rPr lang="en-US" sz="1700" i="1"/>
              <a:t>Member ↔ Librarian ↔ Inventory ↔ Database.</a:t>
            </a:r>
          </a:p>
          <a:p>
            <a:r>
              <a:rPr lang="en-US" sz="1700" b="1"/>
              <a:t>Notations:</a:t>
            </a:r>
            <a:endParaRPr lang="en-US" sz="1700"/>
          </a:p>
          <a:p>
            <a:pPr lvl="1"/>
            <a:r>
              <a:rPr lang="en-US" sz="1700" b="1"/>
              <a:t>Object:</a:t>
            </a:r>
            <a:r>
              <a:rPr lang="en-US" sz="1700"/>
              <a:t> :ObjectName</a:t>
            </a:r>
          </a:p>
          <a:p>
            <a:pPr lvl="1"/>
            <a:r>
              <a:rPr lang="en-US" sz="1700" b="1"/>
              <a:t>Link:</a:t>
            </a:r>
            <a:r>
              <a:rPr lang="en-US" sz="1700"/>
              <a:t> Solid line between objects.</a:t>
            </a:r>
          </a:p>
          <a:p>
            <a:pPr lvl="1"/>
            <a:r>
              <a:rPr lang="en-US" sz="1700" b="1"/>
              <a:t>Message:</a:t>
            </a:r>
            <a:r>
              <a:rPr lang="en-US" sz="1700"/>
              <a:t> sequenceNumber: message along the links.</a:t>
            </a:r>
          </a:p>
          <a:p>
            <a:pPr lvl="1"/>
            <a:endParaRPr lang="en-US" sz="1700" i="1"/>
          </a:p>
          <a:p>
            <a:pPr lvl="1"/>
            <a:endParaRPr lang="en-NP" sz="170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7F0A13E-8A14-54E1-C992-793506985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845899"/>
            <a:ext cx="5458968" cy="316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0768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11AF-F077-E4AD-BE3D-7A85F893B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2.5.3 Structure Diagrams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EC977-CFAC-043E-6AA8-D6BF1EC4A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P" dirty="0"/>
              <a:t>Class Diagram</a:t>
            </a:r>
          </a:p>
          <a:p>
            <a:pPr lvl="1"/>
            <a:r>
              <a:rPr lang="en-US" b="1" dirty="0"/>
              <a:t>Purpose:</a:t>
            </a:r>
            <a:r>
              <a:rPr lang="en-US" dirty="0"/>
              <a:t> Shows the static structure of the system, including classes, their attributes, operations, and relationships.</a:t>
            </a:r>
            <a:endParaRPr lang="en-NP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0A4657-A924-2431-80BB-038B77C3A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977" y="3005525"/>
            <a:ext cx="7772400" cy="371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86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6" name="Rectangle 8205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08" name="Group 8207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8209" name="Rectangle 8208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10" name="Rectangle 8209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12" name="Rectangle 8211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CEAB7C-1391-C4A4-0105-049F0944A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br>
              <a:rPr lang="en-US" sz="1900"/>
            </a:br>
            <a:r>
              <a:rPr lang="en-US" sz="1900"/>
              <a:t>2.5.3 Structure Diagram: Package &amp; Component Diagrams</a:t>
            </a:r>
            <a:br>
              <a:rPr lang="en-US" sz="1900"/>
            </a:br>
            <a:endParaRPr lang="en-NP" sz="1900"/>
          </a:p>
        </p:txBody>
      </p:sp>
      <p:sp>
        <p:nvSpPr>
          <p:cNvPr id="8214" name="Rectangle 8213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3FAC4-FE97-52D6-A0BA-2DC2B2ABD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US" sz="2000" b="1"/>
              <a:t>Package Diagram</a:t>
            </a:r>
            <a:br>
              <a:rPr lang="en-US" sz="2000"/>
            </a:br>
            <a:r>
              <a:rPr lang="en-US" sz="2000" b="1"/>
              <a:t>Purpose:</a:t>
            </a:r>
            <a:r>
              <a:rPr lang="en-US" sz="2000"/>
              <a:t> Groups related elements into higher-level units to manage complexity.</a:t>
            </a:r>
          </a:p>
          <a:p>
            <a:endParaRPr lang="en-US" sz="2000"/>
          </a:p>
          <a:p>
            <a:r>
              <a:rPr lang="en-US" sz="2000" b="1" dirty="0"/>
              <a:t>Component Diagram</a:t>
            </a:r>
            <a:br>
              <a:rPr lang="en-US" sz="2000" dirty="0"/>
            </a:br>
            <a:r>
              <a:rPr lang="en-US" sz="2000" b="1" dirty="0"/>
              <a:t>Purpose:</a:t>
            </a:r>
            <a:r>
              <a:rPr lang="en-US" sz="2000" dirty="0"/>
              <a:t> Shows the physical or logical components of a system and their dependencies.</a:t>
            </a:r>
            <a:endParaRPr lang="en-NP" sz="20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C046BA8-277E-3978-AE9F-BE3F2E00A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90973" y="774285"/>
            <a:ext cx="3100508" cy="258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827032A0-4F97-7A8C-CF18-54F3E319D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46667" y="4037214"/>
            <a:ext cx="4389120" cy="1656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136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519</Words>
  <Application>Microsoft Macintosh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2.5 Overview of UML</vt:lpstr>
      <vt:lpstr>2.5 UML Fundamentals and Notations</vt:lpstr>
      <vt:lpstr>2.5.1 Behavior Diagram</vt:lpstr>
      <vt:lpstr>PowerPoint Presentation</vt:lpstr>
      <vt:lpstr>PowerPoint Presentation</vt:lpstr>
      <vt:lpstr>2.5.2 Interaction Diagrams </vt:lpstr>
      <vt:lpstr>PowerPoint Presentation</vt:lpstr>
      <vt:lpstr>PowerPoint Presentation</vt:lpstr>
      <vt:lpstr>2.5.3 Structure Diagrams</vt:lpstr>
      <vt:lpstr> 2.5.3 Structure Diagram: Package &amp; Component Diagrams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 Gautam</dc:creator>
  <cp:lastModifiedBy>Ram  Gautam</cp:lastModifiedBy>
  <cp:revision>6</cp:revision>
  <dcterms:created xsi:type="dcterms:W3CDTF">2025-10-29T00:45:23Z</dcterms:created>
  <dcterms:modified xsi:type="dcterms:W3CDTF">2025-11-04T01:18:37Z</dcterms:modified>
</cp:coreProperties>
</file>